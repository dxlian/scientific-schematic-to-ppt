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</p:sldIdLst>
  <p:sldSz cx="11520000" cy="6480000"/>
  <p:notesSz cx="6858000" cy="9144000"/>
</p:presentation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/Relationships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theme" Target="../theme/theme1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36000" cy="36000"/>
          <a:chOff x="0" y="0"/>
          <a:chExt cx="36000" cy="36000"/>
        </a:xfrm>
      </p:grpSpPr>
      <p:grpSp>
        <p:nvGrpSpPr>
          <p:cNvPr id="2" name="SCHEM_figure"/>
          <p:cNvGrpSpPr/>
          <p:nvPr/>
        </p:nvGrpSpPr>
        <p:grpSpPr>
          <a:xfrm>
            <a:off x="165600" y="64800"/>
            <a:ext cx="11268000" cy="6360120"/>
            <a:chOff x="165600" y="64800"/>
            <a:chExt cx="11268000" cy="6360120"/>
          </a:xfrm>
        </p:grpSpPr>
        <p:sp>
          <p:nvSpPr>
            <p:cNvPr id="3" name="SCHEM_text-0001"/>
            <p:cNvSpPr txBox="1"/>
            <p:nvPr/>
          </p:nvSpPr>
          <p:spPr>
            <a:xfrm>
              <a:off x="2865600" y="64800"/>
              <a:ext cx="8568000" cy="4150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2211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Complementary passivation in tandem solar cells</a:t>
              </a:r>
              <a:endParaRPr lang="en-US" sz="2211"/>
            </a:p>
          </p:txBody>
        </p:sp>
        <p:sp>
          <p:nvSpPr>
            <p:cNvPr id="4" name="SCHEM_text-0002"/>
            <p:cNvSpPr txBox="1"/>
            <p:nvPr/>
          </p:nvSpPr>
          <p:spPr>
            <a:xfrm>
              <a:off x="4154400" y="583200"/>
              <a:ext cx="2520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Incident light</a:t>
              </a:r>
              <a:endParaRPr lang="en-US" sz="1531"/>
            </a:p>
          </p:txBody>
        </p:sp>
        <p:cxnSp>
          <p:nvCxnSpPr>
            <p:cNvPr id="5" name="SCHEM_line-0003"/>
            <p:cNvCxnSpPr/>
            <p:nvPr/>
          </p:nvCxnSpPr>
          <p:spPr>
            <a:xfrm>
              <a:off x="3938400" y="842400"/>
              <a:ext cx="1" cy="352800"/>
            </a:xfrm>
            <a:prstGeom prst="line">
              <a:avLst/>
            </a:prstGeom>
            <a:noFill/>
            <a:ln w="25200" cap="flat">
              <a:solidFill>
                <a:srgbClr val="619DC2"/>
              </a:solidFill>
              <a:tailEnd type="triangle" w="med" len="med"/>
            </a:ln>
            <a:effectLst/>
          </p:spPr>
        </p:cxnSp>
        <p:cxnSp>
          <p:nvCxnSpPr>
            <p:cNvPr id="6" name="SCHEM_line-0004"/>
            <p:cNvCxnSpPr/>
            <p:nvPr/>
          </p:nvCxnSpPr>
          <p:spPr>
            <a:xfrm>
              <a:off x="4428000" y="842400"/>
              <a:ext cx="1" cy="352800"/>
            </a:xfrm>
            <a:prstGeom prst="line">
              <a:avLst/>
            </a:prstGeom>
            <a:noFill/>
            <a:ln w="25200" cap="flat">
              <a:solidFill>
                <a:srgbClr val="619DC2"/>
              </a:solidFill>
              <a:tailEnd type="triangle" w="med" len="med"/>
            </a:ln>
            <a:effectLst/>
          </p:spPr>
        </p:cxnSp>
        <p:cxnSp>
          <p:nvCxnSpPr>
            <p:cNvPr id="7" name="SCHEM_line-0005"/>
            <p:cNvCxnSpPr/>
            <p:nvPr/>
          </p:nvCxnSpPr>
          <p:spPr>
            <a:xfrm>
              <a:off x="4917600" y="842400"/>
              <a:ext cx="1" cy="352800"/>
            </a:xfrm>
            <a:prstGeom prst="line">
              <a:avLst/>
            </a:prstGeom>
            <a:noFill/>
            <a:ln w="25200" cap="flat">
              <a:solidFill>
                <a:srgbClr val="619DC2"/>
              </a:solidFill>
              <a:tailEnd type="triangle" w="med" len="med"/>
            </a:ln>
            <a:effectLst/>
          </p:spPr>
        </p:cxnSp>
        <p:cxnSp>
          <p:nvCxnSpPr>
            <p:cNvPr id="8" name="SCHEM_line-0006"/>
            <p:cNvCxnSpPr/>
            <p:nvPr/>
          </p:nvCxnSpPr>
          <p:spPr>
            <a:xfrm>
              <a:off x="5407200" y="842400"/>
              <a:ext cx="1" cy="352800"/>
            </a:xfrm>
            <a:prstGeom prst="line">
              <a:avLst/>
            </a:prstGeom>
            <a:noFill/>
            <a:ln w="25200" cap="flat">
              <a:solidFill>
                <a:srgbClr val="619DC2"/>
              </a:solidFill>
              <a:tailEnd type="triangle" w="med" len="med"/>
            </a:ln>
            <a:effectLst/>
          </p:spPr>
        </p:cxnSp>
        <p:sp>
          <p:nvSpPr>
            <p:cNvPr id="9" name="SCHEM_text-0007"/>
            <p:cNvSpPr txBox="1"/>
            <p:nvPr/>
          </p:nvSpPr>
          <p:spPr>
            <a:xfrm>
              <a:off x="2340000" y="986400"/>
              <a:ext cx="1728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Ag fingers</a:t>
              </a:r>
              <a:endParaRPr lang="en-US" sz="1531"/>
            </a:p>
          </p:txBody>
        </p:sp>
        <p:cxnSp>
          <p:nvCxnSpPr>
            <p:cNvPr id="10" name="SCHEM_line-0008"/>
            <p:cNvCxnSpPr/>
            <p:nvPr/>
          </p:nvCxnSpPr>
          <p:spPr>
            <a:xfrm>
              <a:off x="2772000" y="1216800"/>
              <a:ext cx="115200" cy="252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  <a:tailEnd type="triangle" w="med" len="med"/>
            </a:ln>
            <a:effectLst/>
          </p:spPr>
        </p:cxnSp>
        <p:grpSp>
          <p:nvGrpSpPr>
            <p:cNvPr id="11" name="SCHEM_tandem-layer-stack"/>
            <p:cNvGrpSpPr/>
            <p:nvPr/>
          </p:nvGrpSpPr>
          <p:grpSpPr>
            <a:xfrm>
              <a:off x="2095200" y="1425600"/>
              <a:ext cx="4824000" cy="4392000"/>
              <a:chOff x="2095200" y="1425600"/>
              <a:chExt cx="4824000" cy="4392000"/>
            </a:xfrm>
          </p:grpSpPr>
          <p:sp>
            <p:nvSpPr>
              <p:cNvPr id="12" name="SCHEM_rect-0010"/>
              <p:cNvSpPr/>
              <p:nvPr/>
            </p:nvSpPr>
            <p:spPr>
              <a:xfrm>
                <a:off x="2095200" y="5421600"/>
                <a:ext cx="4687200" cy="396000"/>
              </a:xfrm>
              <a:prstGeom prst="rect">
                <a:avLst/>
              </a:prstGeom>
              <a:solidFill>
                <a:srgbClr val="B8B8B4"/>
              </a:solidFill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13" name="SCHEM_polygon-0011"/>
              <p:cNvSpPr/>
              <p:nvPr/>
            </p:nvSpPr>
            <p:spPr>
              <a:xfrm>
                <a:off x="6782400" y="5292000"/>
                <a:ext cx="136800" cy="525600"/>
              </a:xfrm>
              <a:custGeom>
                <a:avLst/>
                <a:gdLst/>
                <a:ahLst/>
                <a:cxnLst/>
                <a:rect l="0" t="0" r="r" b="b"/>
                <a:pathLst>
                  <a:path w="136800" h="525600">
                    <a:moveTo>
                      <a:pt x="0" y="129600"/>
                    </a:moveTo>
                    <a:lnTo>
                      <a:pt x="136800" y="0"/>
                    </a:lnTo>
                    <a:lnTo>
                      <a:pt x="136800" y="324000"/>
                    </a:lnTo>
                    <a:lnTo>
                      <a:pt x="0" y="525600"/>
                    </a:lnTo>
                    <a:close/>
                  </a:path>
                </a:pathLst>
              </a:custGeom>
              <a:solidFill>
                <a:srgbClr val="9E9F9A"/>
              </a:solidFill>
              <a:ln w="8640" cap="flat">
                <a:solidFill>
                  <a:srgbClr val="292929"/>
                </a:solidFill>
              </a:ln>
              <a:effectLst/>
            </p:spPr>
          </p:sp>
          <p:sp>
            <p:nvSpPr>
              <p:cNvPr id="14" name="SCHEM_polygon-0012"/>
              <p:cNvSpPr/>
              <p:nvPr/>
            </p:nvSpPr>
            <p:spPr>
              <a:xfrm>
                <a:off x="2095200" y="4406400"/>
                <a:ext cx="4687200" cy="1022400"/>
              </a:xfrm>
              <a:custGeom>
                <a:avLst/>
                <a:gdLst/>
                <a:ahLst/>
                <a:cxnLst/>
                <a:rect l="0" t="0" r="r" b="b"/>
                <a:pathLst>
                  <a:path w="4687200" h="1022400">
                    <a:moveTo>
                      <a:pt x="0" y="0"/>
                    </a:moveTo>
                    <a:lnTo>
                      <a:pt x="146475" y="136800"/>
                    </a:lnTo>
                    <a:lnTo>
                      <a:pt x="292950" y="0"/>
                    </a:lnTo>
                    <a:lnTo>
                      <a:pt x="439425" y="136800"/>
                    </a:lnTo>
                    <a:lnTo>
                      <a:pt x="585900" y="0"/>
                    </a:lnTo>
                    <a:lnTo>
                      <a:pt x="732375" y="136800"/>
                    </a:lnTo>
                    <a:lnTo>
                      <a:pt x="878850" y="0"/>
                    </a:lnTo>
                    <a:lnTo>
                      <a:pt x="1025325" y="136800"/>
                    </a:lnTo>
                    <a:lnTo>
                      <a:pt x="1171800" y="0"/>
                    </a:lnTo>
                    <a:lnTo>
                      <a:pt x="1318275" y="136800"/>
                    </a:lnTo>
                    <a:lnTo>
                      <a:pt x="1464750" y="0"/>
                    </a:lnTo>
                    <a:lnTo>
                      <a:pt x="1611225" y="136800"/>
                    </a:lnTo>
                    <a:lnTo>
                      <a:pt x="1757700" y="0"/>
                    </a:lnTo>
                    <a:lnTo>
                      <a:pt x="1904175" y="136800"/>
                    </a:lnTo>
                    <a:lnTo>
                      <a:pt x="2050650" y="0"/>
                    </a:lnTo>
                    <a:lnTo>
                      <a:pt x="2197125" y="136800"/>
                    </a:lnTo>
                    <a:lnTo>
                      <a:pt x="2343600" y="0"/>
                    </a:lnTo>
                    <a:lnTo>
                      <a:pt x="2490075" y="136800"/>
                    </a:lnTo>
                    <a:lnTo>
                      <a:pt x="2636550" y="0"/>
                    </a:lnTo>
                    <a:lnTo>
                      <a:pt x="2783025" y="136800"/>
                    </a:lnTo>
                    <a:lnTo>
                      <a:pt x="2929500" y="0"/>
                    </a:lnTo>
                    <a:lnTo>
                      <a:pt x="3075975" y="136800"/>
                    </a:lnTo>
                    <a:lnTo>
                      <a:pt x="3222450" y="0"/>
                    </a:lnTo>
                    <a:lnTo>
                      <a:pt x="3368925" y="136800"/>
                    </a:lnTo>
                    <a:lnTo>
                      <a:pt x="3515400" y="0"/>
                    </a:lnTo>
                    <a:lnTo>
                      <a:pt x="3661875" y="136800"/>
                    </a:lnTo>
                    <a:lnTo>
                      <a:pt x="3808350" y="0"/>
                    </a:lnTo>
                    <a:lnTo>
                      <a:pt x="3954825" y="136800"/>
                    </a:lnTo>
                    <a:lnTo>
                      <a:pt x="4101300" y="0"/>
                    </a:lnTo>
                    <a:lnTo>
                      <a:pt x="4247775" y="136800"/>
                    </a:lnTo>
                    <a:lnTo>
                      <a:pt x="4394250" y="0"/>
                    </a:lnTo>
                    <a:lnTo>
                      <a:pt x="4540725" y="136800"/>
                    </a:lnTo>
                    <a:lnTo>
                      <a:pt x="4687200" y="0"/>
                    </a:lnTo>
                    <a:lnTo>
                      <a:pt x="4687200" y="885600"/>
                    </a:lnTo>
                    <a:lnTo>
                      <a:pt x="4540725" y="1022400"/>
                    </a:lnTo>
                    <a:lnTo>
                      <a:pt x="4394250" y="885600"/>
                    </a:lnTo>
                    <a:lnTo>
                      <a:pt x="4247775" y="1022400"/>
                    </a:lnTo>
                    <a:lnTo>
                      <a:pt x="4101300" y="885600"/>
                    </a:lnTo>
                    <a:lnTo>
                      <a:pt x="3954825" y="1022400"/>
                    </a:lnTo>
                    <a:lnTo>
                      <a:pt x="3808350" y="885600"/>
                    </a:lnTo>
                    <a:lnTo>
                      <a:pt x="3661875" y="1022400"/>
                    </a:lnTo>
                    <a:lnTo>
                      <a:pt x="3515400" y="885600"/>
                    </a:lnTo>
                    <a:lnTo>
                      <a:pt x="3368925" y="1022400"/>
                    </a:lnTo>
                    <a:lnTo>
                      <a:pt x="3222450" y="885600"/>
                    </a:lnTo>
                    <a:lnTo>
                      <a:pt x="3075975" y="1022400"/>
                    </a:lnTo>
                    <a:lnTo>
                      <a:pt x="2929500" y="885600"/>
                    </a:lnTo>
                    <a:lnTo>
                      <a:pt x="2783025" y="1022400"/>
                    </a:lnTo>
                    <a:lnTo>
                      <a:pt x="2636550" y="885600"/>
                    </a:lnTo>
                    <a:lnTo>
                      <a:pt x="2490075" y="1022400"/>
                    </a:lnTo>
                    <a:lnTo>
                      <a:pt x="2343600" y="885600"/>
                    </a:lnTo>
                    <a:lnTo>
                      <a:pt x="2197125" y="1022400"/>
                    </a:lnTo>
                    <a:lnTo>
                      <a:pt x="2050650" y="885600"/>
                    </a:lnTo>
                    <a:lnTo>
                      <a:pt x="1904175" y="1022400"/>
                    </a:lnTo>
                    <a:lnTo>
                      <a:pt x="1757700" y="885600"/>
                    </a:lnTo>
                    <a:lnTo>
                      <a:pt x="1611225" y="1022400"/>
                    </a:lnTo>
                    <a:lnTo>
                      <a:pt x="1464750" y="885600"/>
                    </a:lnTo>
                    <a:lnTo>
                      <a:pt x="1318275" y="1022400"/>
                    </a:lnTo>
                    <a:lnTo>
                      <a:pt x="1171800" y="885600"/>
                    </a:lnTo>
                    <a:lnTo>
                      <a:pt x="1025325" y="1022400"/>
                    </a:lnTo>
                    <a:lnTo>
                      <a:pt x="878850" y="885600"/>
                    </a:lnTo>
                    <a:lnTo>
                      <a:pt x="732375" y="1022400"/>
                    </a:lnTo>
                    <a:lnTo>
                      <a:pt x="585900" y="885600"/>
                    </a:lnTo>
                    <a:lnTo>
                      <a:pt x="439425" y="1022400"/>
                    </a:lnTo>
                    <a:lnTo>
                      <a:pt x="292950" y="885600"/>
                    </a:lnTo>
                    <a:lnTo>
                      <a:pt x="146475" y="1022400"/>
                    </a:lnTo>
                    <a:lnTo>
                      <a:pt x="0" y="885600"/>
                    </a:lnTo>
                    <a:close/>
                  </a:path>
                </a:pathLst>
              </a:custGeom>
              <a:solidFill>
                <a:srgbClr val="85B3CE"/>
              </a:solidFill>
              <a:ln w="8640" cap="flat">
                <a:solidFill>
                  <a:srgbClr val="285F7D"/>
                </a:solidFill>
              </a:ln>
              <a:effectLst/>
            </p:spPr>
          </p:sp>
          <p:sp>
            <p:nvSpPr>
              <p:cNvPr id="15" name="SCHEM_polygon-0013"/>
              <p:cNvSpPr/>
              <p:nvPr/>
            </p:nvSpPr>
            <p:spPr>
              <a:xfrm>
                <a:off x="6782400" y="4298400"/>
                <a:ext cx="115200" cy="1123200"/>
              </a:xfrm>
              <a:custGeom>
                <a:avLst/>
                <a:gdLst/>
                <a:ahLst/>
                <a:cxnLst/>
                <a:rect l="0" t="0" r="r" b="b"/>
                <a:pathLst>
                  <a:path w="115200" h="1123200">
                    <a:moveTo>
                      <a:pt x="0" y="108000"/>
                    </a:moveTo>
                    <a:lnTo>
                      <a:pt x="115200" y="0"/>
                    </a:lnTo>
                    <a:lnTo>
                      <a:pt x="115200" y="993600"/>
                    </a:lnTo>
                    <a:lnTo>
                      <a:pt x="0" y="1123200"/>
                    </a:lnTo>
                    <a:close/>
                  </a:path>
                </a:pathLst>
              </a:custGeom>
              <a:solidFill>
                <a:srgbClr val="669DC0"/>
              </a:solidFill>
              <a:ln w="7200" cap="flat">
                <a:solidFill>
                  <a:srgbClr val="285F7D"/>
                </a:solidFill>
              </a:ln>
              <a:effectLst/>
            </p:spPr>
          </p:sp>
          <p:sp>
            <p:nvSpPr>
              <p:cNvPr id="16" name="SCHEM_rect-0014"/>
              <p:cNvSpPr/>
              <p:nvPr/>
            </p:nvSpPr>
            <p:spPr>
              <a:xfrm>
                <a:off x="2095200" y="4024800"/>
                <a:ext cx="4687200" cy="381600"/>
              </a:xfrm>
              <a:prstGeom prst="rect">
                <a:avLst/>
              </a:prstGeom>
              <a:solidFill>
                <a:srgbClr val="F2DEC3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7" name="SCHEM_polygon-0015"/>
              <p:cNvSpPr/>
              <p:nvPr/>
            </p:nvSpPr>
            <p:spPr>
              <a:xfrm>
                <a:off x="6782400" y="3888000"/>
                <a:ext cx="115200" cy="518400"/>
              </a:xfrm>
              <a:custGeom>
                <a:avLst/>
                <a:gdLst/>
                <a:ahLst/>
                <a:cxnLst/>
                <a:rect l="0" t="0" r="r" b="b"/>
                <a:pathLst>
                  <a:path w="115200" h="518400">
                    <a:moveTo>
                      <a:pt x="0" y="136800"/>
                    </a:moveTo>
                    <a:lnTo>
                      <a:pt x="115200" y="0"/>
                    </a:lnTo>
                    <a:lnTo>
                      <a:pt x="115200" y="410400"/>
                    </a:lnTo>
                    <a:lnTo>
                      <a:pt x="0" y="518400"/>
                    </a:lnTo>
                    <a:close/>
                  </a:path>
                </a:pathLst>
              </a:custGeom>
              <a:solidFill>
                <a:srgbClr val="D1BEA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8" name="SCHEM_polygon-0016"/>
              <p:cNvSpPr/>
              <p:nvPr/>
            </p:nvSpPr>
            <p:spPr>
              <a:xfrm>
                <a:off x="2095200" y="2721600"/>
                <a:ext cx="4687200" cy="1353600"/>
              </a:xfrm>
              <a:custGeom>
                <a:avLst/>
                <a:gdLst/>
                <a:ahLst/>
                <a:cxnLst/>
                <a:rect l="0" t="0" r="r" b="b"/>
                <a:pathLst>
                  <a:path w="4687200" h="1353600">
                    <a:moveTo>
                      <a:pt x="0" y="0"/>
                    </a:moveTo>
                    <a:lnTo>
                      <a:pt x="203791" y="86400"/>
                    </a:lnTo>
                    <a:lnTo>
                      <a:pt x="407583" y="0"/>
                    </a:lnTo>
                    <a:lnTo>
                      <a:pt x="611374" y="86400"/>
                    </a:lnTo>
                    <a:lnTo>
                      <a:pt x="815165" y="0"/>
                    </a:lnTo>
                    <a:lnTo>
                      <a:pt x="1018957" y="86400"/>
                    </a:lnTo>
                    <a:lnTo>
                      <a:pt x="1222748" y="0"/>
                    </a:lnTo>
                    <a:lnTo>
                      <a:pt x="1426539" y="86400"/>
                    </a:lnTo>
                    <a:lnTo>
                      <a:pt x="1630330" y="0"/>
                    </a:lnTo>
                    <a:lnTo>
                      <a:pt x="1834122" y="86400"/>
                    </a:lnTo>
                    <a:lnTo>
                      <a:pt x="2037913" y="0"/>
                    </a:lnTo>
                    <a:lnTo>
                      <a:pt x="2241704" y="86400"/>
                    </a:lnTo>
                    <a:lnTo>
                      <a:pt x="2445496" y="0"/>
                    </a:lnTo>
                    <a:lnTo>
                      <a:pt x="2649287" y="86400"/>
                    </a:lnTo>
                    <a:lnTo>
                      <a:pt x="2853078" y="0"/>
                    </a:lnTo>
                    <a:lnTo>
                      <a:pt x="3056870" y="86400"/>
                    </a:lnTo>
                    <a:lnTo>
                      <a:pt x="3260661" y="0"/>
                    </a:lnTo>
                    <a:lnTo>
                      <a:pt x="3464452" y="86400"/>
                    </a:lnTo>
                    <a:lnTo>
                      <a:pt x="3668243" y="0"/>
                    </a:lnTo>
                    <a:lnTo>
                      <a:pt x="3872035" y="86400"/>
                    </a:lnTo>
                    <a:lnTo>
                      <a:pt x="4075826" y="0"/>
                    </a:lnTo>
                    <a:lnTo>
                      <a:pt x="4279617" y="86400"/>
                    </a:lnTo>
                    <a:lnTo>
                      <a:pt x="4483409" y="0"/>
                    </a:lnTo>
                    <a:lnTo>
                      <a:pt x="4687200" y="0"/>
                    </a:lnTo>
                    <a:lnTo>
                      <a:pt x="4687200" y="1303200"/>
                    </a:lnTo>
                    <a:lnTo>
                      <a:pt x="4528800" y="1353600"/>
                    </a:lnTo>
                    <a:lnTo>
                      <a:pt x="4125600" y="1303200"/>
                    </a:lnTo>
                    <a:lnTo>
                      <a:pt x="3744000" y="1353600"/>
                    </a:lnTo>
                    <a:lnTo>
                      <a:pt x="3304800" y="1310400"/>
                    </a:lnTo>
                    <a:lnTo>
                      <a:pt x="2930400" y="1346400"/>
                    </a:lnTo>
                    <a:lnTo>
                      <a:pt x="2541600" y="1303200"/>
                    </a:lnTo>
                    <a:lnTo>
                      <a:pt x="2109600" y="1346400"/>
                    </a:lnTo>
                    <a:lnTo>
                      <a:pt x="1720800" y="1303200"/>
                    </a:lnTo>
                    <a:lnTo>
                      <a:pt x="1360800" y="1339200"/>
                    </a:lnTo>
                    <a:lnTo>
                      <a:pt x="1000800" y="1310400"/>
                    </a:lnTo>
                    <a:lnTo>
                      <a:pt x="648000" y="1346400"/>
                    </a:lnTo>
                    <a:lnTo>
                      <a:pt x="345600" y="1310400"/>
                    </a:lnTo>
                    <a:lnTo>
                      <a:pt x="136800" y="1353600"/>
                    </a:lnTo>
                    <a:lnTo>
                      <a:pt x="0" y="1303200"/>
                    </a:lnTo>
                    <a:close/>
                  </a:path>
                </a:pathLst>
              </a:custGeom>
              <a:solidFill>
                <a:srgbClr val="E9B5A6"/>
              </a:solidFill>
              <a:ln w="8640" cap="flat">
                <a:solidFill>
                  <a:srgbClr val="756A60"/>
                </a:solidFill>
              </a:ln>
              <a:effectLst/>
            </p:spPr>
          </p:sp>
          <p:sp>
            <p:nvSpPr>
              <p:cNvPr id="19" name="SCHEM_polygon-0017"/>
              <p:cNvSpPr/>
              <p:nvPr/>
            </p:nvSpPr>
            <p:spPr>
              <a:xfrm>
                <a:off x="6782400" y="2592000"/>
                <a:ext cx="115200" cy="1432800"/>
              </a:xfrm>
              <a:custGeom>
                <a:avLst/>
                <a:gdLst/>
                <a:ahLst/>
                <a:cxnLst/>
                <a:rect l="0" t="0" r="r" b="b"/>
                <a:pathLst>
                  <a:path w="115200" h="1432800">
                    <a:moveTo>
                      <a:pt x="0" y="129600"/>
                    </a:moveTo>
                    <a:lnTo>
                      <a:pt x="115200" y="0"/>
                    </a:lnTo>
                    <a:lnTo>
                      <a:pt x="115200" y="1296000"/>
                    </a:lnTo>
                    <a:lnTo>
                      <a:pt x="0" y="1432800"/>
                    </a:lnTo>
                    <a:close/>
                  </a:path>
                </a:pathLst>
              </a:custGeom>
              <a:solidFill>
                <a:srgbClr val="D59E90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0" name="SCHEM_polygon-0018"/>
              <p:cNvSpPr/>
              <p:nvPr/>
            </p:nvSpPr>
            <p:spPr>
              <a:xfrm>
                <a:off x="2095200" y="2340000"/>
                <a:ext cx="4687200" cy="468000"/>
              </a:xfrm>
              <a:custGeom>
                <a:avLst/>
                <a:gdLst/>
                <a:ahLst/>
                <a:cxnLst/>
                <a:rect l="0" t="0" r="r" b="b"/>
                <a:pathLst>
                  <a:path w="4687200" h="468000">
                    <a:moveTo>
                      <a:pt x="0" y="0"/>
                    </a:moveTo>
                    <a:lnTo>
                      <a:pt x="4687200" y="0"/>
                    </a:lnTo>
                    <a:lnTo>
                      <a:pt x="4687200" y="381600"/>
                    </a:lnTo>
                    <a:lnTo>
                      <a:pt x="4483409" y="381600"/>
                    </a:lnTo>
                    <a:lnTo>
                      <a:pt x="4279617" y="468000"/>
                    </a:lnTo>
                    <a:lnTo>
                      <a:pt x="4075826" y="381600"/>
                    </a:lnTo>
                    <a:lnTo>
                      <a:pt x="3872035" y="468000"/>
                    </a:lnTo>
                    <a:lnTo>
                      <a:pt x="3668243" y="381600"/>
                    </a:lnTo>
                    <a:lnTo>
                      <a:pt x="3464452" y="468000"/>
                    </a:lnTo>
                    <a:lnTo>
                      <a:pt x="3260661" y="381600"/>
                    </a:lnTo>
                    <a:lnTo>
                      <a:pt x="3056870" y="468000"/>
                    </a:lnTo>
                    <a:lnTo>
                      <a:pt x="2853078" y="381600"/>
                    </a:lnTo>
                    <a:lnTo>
                      <a:pt x="2649287" y="468000"/>
                    </a:lnTo>
                    <a:lnTo>
                      <a:pt x="2445496" y="381600"/>
                    </a:lnTo>
                    <a:lnTo>
                      <a:pt x="2241704" y="468000"/>
                    </a:lnTo>
                    <a:lnTo>
                      <a:pt x="2037913" y="381600"/>
                    </a:lnTo>
                    <a:lnTo>
                      <a:pt x="1834122" y="468000"/>
                    </a:lnTo>
                    <a:lnTo>
                      <a:pt x="1630330" y="381600"/>
                    </a:lnTo>
                    <a:lnTo>
                      <a:pt x="1426539" y="468000"/>
                    </a:lnTo>
                    <a:lnTo>
                      <a:pt x="1222748" y="381600"/>
                    </a:lnTo>
                    <a:lnTo>
                      <a:pt x="1018957" y="468000"/>
                    </a:lnTo>
                    <a:lnTo>
                      <a:pt x="815165" y="381600"/>
                    </a:lnTo>
                    <a:lnTo>
                      <a:pt x="611374" y="468000"/>
                    </a:lnTo>
                    <a:lnTo>
                      <a:pt x="407583" y="381600"/>
                    </a:lnTo>
                    <a:lnTo>
                      <a:pt x="203791" y="468000"/>
                    </a:lnTo>
                    <a:lnTo>
                      <a:pt x="0" y="381600"/>
                    </a:lnTo>
                    <a:close/>
                  </a:path>
                </a:pathLst>
              </a:custGeom>
              <a:solidFill>
                <a:srgbClr val="C5D6AD"/>
              </a:solidFill>
              <a:ln w="7920" cap="flat">
                <a:solidFill>
                  <a:srgbClr val="758660"/>
                </a:solidFill>
              </a:ln>
              <a:effectLst/>
            </p:spPr>
          </p:sp>
          <p:sp>
            <p:nvSpPr>
              <p:cNvPr id="21" name="SCHEM_polygon-0019"/>
              <p:cNvSpPr/>
              <p:nvPr/>
            </p:nvSpPr>
            <p:spPr>
              <a:xfrm>
                <a:off x="6782400" y="2224800"/>
                <a:ext cx="115200" cy="496800"/>
              </a:xfrm>
              <a:custGeom>
                <a:avLst/>
                <a:gdLst/>
                <a:ahLst/>
                <a:cxnLst/>
                <a:rect l="0" t="0" r="r" b="b"/>
                <a:pathLst>
                  <a:path w="115200" h="496800">
                    <a:moveTo>
                      <a:pt x="0" y="115200"/>
                    </a:moveTo>
                    <a:lnTo>
                      <a:pt x="115200" y="0"/>
                    </a:lnTo>
                    <a:lnTo>
                      <a:pt x="115200" y="367200"/>
                    </a:lnTo>
                    <a:lnTo>
                      <a:pt x="0" y="496800"/>
                    </a:lnTo>
                    <a:close/>
                  </a:path>
                </a:pathLst>
              </a:custGeom>
              <a:solidFill>
                <a:srgbClr val="9DAF8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2" name="SCHEM_rect-0020"/>
              <p:cNvSpPr/>
              <p:nvPr/>
            </p:nvSpPr>
            <p:spPr>
              <a:xfrm>
                <a:off x="2095200" y="2030400"/>
                <a:ext cx="4687200" cy="309600"/>
              </a:xfrm>
              <a:prstGeom prst="rect">
                <a:avLst/>
              </a:prstGeom>
              <a:solidFill>
                <a:srgbClr val="D8D8D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3" name="SCHEM_polygon-0021"/>
              <p:cNvSpPr/>
              <p:nvPr/>
            </p:nvSpPr>
            <p:spPr>
              <a:xfrm>
                <a:off x="6782400" y="1915200"/>
                <a:ext cx="115200" cy="424800"/>
              </a:xfrm>
              <a:custGeom>
                <a:avLst/>
                <a:gdLst/>
                <a:ahLst/>
                <a:cxnLst/>
                <a:rect l="0" t="0" r="r" b="b"/>
                <a:pathLst>
                  <a:path w="115200" h="424800">
                    <a:moveTo>
                      <a:pt x="0" y="115200"/>
                    </a:moveTo>
                    <a:lnTo>
                      <a:pt x="115200" y="0"/>
                    </a:lnTo>
                    <a:lnTo>
                      <a:pt x="115200" y="309600"/>
                    </a:lnTo>
                    <a:lnTo>
                      <a:pt x="0" y="424800"/>
                    </a:lnTo>
                    <a:close/>
                  </a:path>
                </a:pathLst>
              </a:custGeom>
              <a:solidFill>
                <a:srgbClr val="B6B7AF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4" name="SCHEM_rect-0022"/>
              <p:cNvSpPr/>
              <p:nvPr/>
            </p:nvSpPr>
            <p:spPr>
              <a:xfrm>
                <a:off x="2095200" y="1720800"/>
                <a:ext cx="4687200" cy="309600"/>
              </a:xfrm>
              <a:prstGeom prst="rect">
                <a:avLst/>
              </a:prstGeom>
              <a:solidFill>
                <a:srgbClr val="B2D3E6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5" name="SCHEM_polygon-0023"/>
              <p:cNvSpPr/>
              <p:nvPr/>
            </p:nvSpPr>
            <p:spPr>
              <a:xfrm>
                <a:off x="2095200" y="1605600"/>
                <a:ext cx="4802400" cy="115200"/>
              </a:xfrm>
              <a:custGeom>
                <a:avLst/>
                <a:gdLst/>
                <a:ahLst/>
                <a:cxnLst/>
                <a:rect l="0" t="0" r="r" b="b"/>
                <a:pathLst>
                  <a:path w="4802400" h="115200">
                    <a:moveTo>
                      <a:pt x="0" y="115200"/>
                    </a:moveTo>
                    <a:lnTo>
                      <a:pt x="115200" y="0"/>
                    </a:lnTo>
                    <a:lnTo>
                      <a:pt x="4802400" y="0"/>
                    </a:lnTo>
                    <a:lnTo>
                      <a:pt x="4687200" y="115200"/>
                    </a:lnTo>
                    <a:close/>
                  </a:path>
                </a:pathLst>
              </a:custGeom>
              <a:solidFill>
                <a:srgbClr val="C7DFEB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6" name="SCHEM_polygon-0024"/>
              <p:cNvSpPr/>
              <p:nvPr/>
            </p:nvSpPr>
            <p:spPr>
              <a:xfrm>
                <a:off x="6782400" y="1605600"/>
                <a:ext cx="115200" cy="424800"/>
              </a:xfrm>
              <a:custGeom>
                <a:avLst/>
                <a:gdLst/>
                <a:ahLst/>
                <a:cxnLst/>
                <a:rect l="0" t="0" r="r" b="b"/>
                <a:pathLst>
                  <a:path w="115200" h="424800">
                    <a:moveTo>
                      <a:pt x="0" y="115200"/>
                    </a:moveTo>
                    <a:lnTo>
                      <a:pt x="115200" y="0"/>
                    </a:lnTo>
                    <a:lnTo>
                      <a:pt x="115200" y="309600"/>
                    </a:lnTo>
                    <a:lnTo>
                      <a:pt x="0" y="424800"/>
                    </a:lnTo>
                    <a:close/>
                  </a:path>
                </a:pathLst>
              </a:custGeom>
              <a:solidFill>
                <a:srgbClr val="96B9CD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7" name="SCHEM_rect-0025"/>
              <p:cNvSpPr/>
              <p:nvPr/>
            </p:nvSpPr>
            <p:spPr>
              <a:xfrm>
                <a:off x="2599200" y="1476000"/>
                <a:ext cx="489600" cy="244800"/>
              </a:xfrm>
              <a:prstGeom prst="rect">
                <a:avLst/>
              </a:prstGeom>
              <a:solidFill>
                <a:srgbClr val="B7B8B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8" name="SCHEM_polygon-0026"/>
              <p:cNvSpPr/>
              <p:nvPr/>
            </p:nvSpPr>
            <p:spPr>
              <a:xfrm>
                <a:off x="2599200" y="1425600"/>
                <a:ext cx="547200" cy="50400"/>
              </a:xfrm>
              <a:custGeom>
                <a:avLst/>
                <a:gdLst/>
                <a:ahLst/>
                <a:cxnLst/>
                <a:rect l="0" t="0" r="r" b="b"/>
                <a:pathLst>
                  <a:path w="547200" h="50400">
                    <a:moveTo>
                      <a:pt x="0" y="50400"/>
                    </a:moveTo>
                    <a:lnTo>
                      <a:pt x="57600" y="0"/>
                    </a:lnTo>
                    <a:lnTo>
                      <a:pt x="547200" y="0"/>
                    </a:lnTo>
                    <a:lnTo>
                      <a:pt x="489600" y="50400"/>
                    </a:lnTo>
                    <a:close/>
                  </a:path>
                </a:pathLst>
              </a:custGeom>
              <a:solidFill>
                <a:srgbClr val="D5D6D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29" name="SCHEM_polygon-0027"/>
              <p:cNvSpPr/>
              <p:nvPr/>
            </p:nvSpPr>
            <p:spPr>
              <a:xfrm>
                <a:off x="3088800" y="1425600"/>
                <a:ext cx="57600" cy="295200"/>
              </a:xfrm>
              <a:custGeom>
                <a:avLst/>
                <a:gdLst/>
                <a:ahLst/>
                <a:cxnLst/>
                <a:rect l="0" t="0" r="r" b="b"/>
                <a:pathLst>
                  <a:path w="57600" h="295200">
                    <a:moveTo>
                      <a:pt x="0" y="50400"/>
                    </a:moveTo>
                    <a:lnTo>
                      <a:pt x="57600" y="0"/>
                    </a:lnTo>
                    <a:lnTo>
                      <a:pt x="57600" y="244800"/>
                    </a:lnTo>
                    <a:lnTo>
                      <a:pt x="0" y="295200"/>
                    </a:lnTo>
                    <a:close/>
                  </a:path>
                </a:pathLst>
              </a:custGeom>
              <a:solidFill>
                <a:srgbClr val="939590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0" name="SCHEM_rect-0028"/>
              <p:cNvSpPr/>
              <p:nvPr/>
            </p:nvSpPr>
            <p:spPr>
              <a:xfrm>
                <a:off x="3780000" y="1476000"/>
                <a:ext cx="280800" cy="244800"/>
              </a:xfrm>
              <a:prstGeom prst="rect">
                <a:avLst/>
              </a:prstGeom>
              <a:solidFill>
                <a:srgbClr val="B7B8B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1" name="SCHEM_polygon-0029"/>
              <p:cNvSpPr/>
              <p:nvPr/>
            </p:nvSpPr>
            <p:spPr>
              <a:xfrm>
                <a:off x="3780000" y="1425600"/>
                <a:ext cx="338400" cy="50400"/>
              </a:xfrm>
              <a:custGeom>
                <a:avLst/>
                <a:gdLst/>
                <a:ahLst/>
                <a:cxnLst/>
                <a:rect l="0" t="0" r="r" b="b"/>
                <a:pathLst>
                  <a:path w="338400" h="50400">
                    <a:moveTo>
                      <a:pt x="0" y="50400"/>
                    </a:moveTo>
                    <a:lnTo>
                      <a:pt x="57600" y="0"/>
                    </a:lnTo>
                    <a:lnTo>
                      <a:pt x="338400" y="0"/>
                    </a:lnTo>
                    <a:lnTo>
                      <a:pt x="280800" y="50400"/>
                    </a:lnTo>
                    <a:close/>
                  </a:path>
                </a:pathLst>
              </a:custGeom>
              <a:solidFill>
                <a:srgbClr val="D5D6D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2" name="SCHEM_polygon-0030"/>
              <p:cNvSpPr/>
              <p:nvPr/>
            </p:nvSpPr>
            <p:spPr>
              <a:xfrm>
                <a:off x="4060800" y="1425600"/>
                <a:ext cx="57600" cy="295200"/>
              </a:xfrm>
              <a:custGeom>
                <a:avLst/>
                <a:gdLst/>
                <a:ahLst/>
                <a:cxnLst/>
                <a:rect l="0" t="0" r="r" b="b"/>
                <a:pathLst>
                  <a:path w="57600" h="295200">
                    <a:moveTo>
                      <a:pt x="0" y="50400"/>
                    </a:moveTo>
                    <a:lnTo>
                      <a:pt x="57600" y="0"/>
                    </a:lnTo>
                    <a:lnTo>
                      <a:pt x="57600" y="244800"/>
                    </a:lnTo>
                    <a:lnTo>
                      <a:pt x="0" y="295200"/>
                    </a:lnTo>
                    <a:close/>
                  </a:path>
                </a:pathLst>
              </a:custGeom>
              <a:solidFill>
                <a:srgbClr val="939590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3" name="SCHEM_rect-0031"/>
              <p:cNvSpPr/>
              <p:nvPr/>
            </p:nvSpPr>
            <p:spPr>
              <a:xfrm>
                <a:off x="4816800" y="1476000"/>
                <a:ext cx="280800" cy="244800"/>
              </a:xfrm>
              <a:prstGeom prst="rect">
                <a:avLst/>
              </a:prstGeom>
              <a:solidFill>
                <a:srgbClr val="B7B8B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4" name="SCHEM_polygon-0032"/>
              <p:cNvSpPr/>
              <p:nvPr/>
            </p:nvSpPr>
            <p:spPr>
              <a:xfrm>
                <a:off x="4816800" y="1425600"/>
                <a:ext cx="338400" cy="50400"/>
              </a:xfrm>
              <a:custGeom>
                <a:avLst/>
                <a:gdLst/>
                <a:ahLst/>
                <a:cxnLst/>
                <a:rect l="0" t="0" r="r" b="b"/>
                <a:pathLst>
                  <a:path w="338400" h="50400">
                    <a:moveTo>
                      <a:pt x="0" y="50400"/>
                    </a:moveTo>
                    <a:lnTo>
                      <a:pt x="57600" y="0"/>
                    </a:lnTo>
                    <a:lnTo>
                      <a:pt x="338400" y="0"/>
                    </a:lnTo>
                    <a:lnTo>
                      <a:pt x="280800" y="50400"/>
                    </a:lnTo>
                    <a:close/>
                  </a:path>
                </a:pathLst>
              </a:custGeom>
              <a:solidFill>
                <a:srgbClr val="D5D6D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5" name="SCHEM_polygon-0033"/>
              <p:cNvSpPr/>
              <p:nvPr/>
            </p:nvSpPr>
            <p:spPr>
              <a:xfrm>
                <a:off x="5097600" y="1425600"/>
                <a:ext cx="57600" cy="295200"/>
              </a:xfrm>
              <a:custGeom>
                <a:avLst/>
                <a:gdLst/>
                <a:ahLst/>
                <a:cxnLst/>
                <a:rect l="0" t="0" r="r" b="b"/>
                <a:pathLst>
                  <a:path w="57600" h="295200">
                    <a:moveTo>
                      <a:pt x="0" y="50400"/>
                    </a:moveTo>
                    <a:lnTo>
                      <a:pt x="57600" y="0"/>
                    </a:lnTo>
                    <a:lnTo>
                      <a:pt x="57600" y="244800"/>
                    </a:lnTo>
                    <a:lnTo>
                      <a:pt x="0" y="295200"/>
                    </a:lnTo>
                    <a:close/>
                  </a:path>
                </a:pathLst>
              </a:custGeom>
              <a:solidFill>
                <a:srgbClr val="939590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6" name="SCHEM_rect-0034"/>
              <p:cNvSpPr/>
              <p:nvPr/>
            </p:nvSpPr>
            <p:spPr>
              <a:xfrm>
                <a:off x="5824800" y="1476000"/>
                <a:ext cx="504000" cy="244800"/>
              </a:xfrm>
              <a:prstGeom prst="rect">
                <a:avLst/>
              </a:prstGeom>
              <a:solidFill>
                <a:srgbClr val="B7B8B5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7" name="SCHEM_polygon-0035"/>
              <p:cNvSpPr/>
              <p:nvPr/>
            </p:nvSpPr>
            <p:spPr>
              <a:xfrm>
                <a:off x="5824800" y="1425600"/>
                <a:ext cx="561600" cy="50400"/>
              </a:xfrm>
              <a:custGeom>
                <a:avLst/>
                <a:gdLst/>
                <a:ahLst/>
                <a:cxnLst/>
                <a:rect l="0" t="0" r="r" b="b"/>
                <a:pathLst>
                  <a:path w="561600" h="50400">
                    <a:moveTo>
                      <a:pt x="0" y="50400"/>
                    </a:moveTo>
                    <a:lnTo>
                      <a:pt x="57600" y="0"/>
                    </a:lnTo>
                    <a:lnTo>
                      <a:pt x="561600" y="0"/>
                    </a:lnTo>
                    <a:lnTo>
                      <a:pt x="504000" y="50400"/>
                    </a:lnTo>
                    <a:close/>
                  </a:path>
                </a:pathLst>
              </a:custGeom>
              <a:solidFill>
                <a:srgbClr val="D5D6D2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8" name="SCHEM_polygon-0036"/>
              <p:cNvSpPr/>
              <p:nvPr/>
            </p:nvSpPr>
            <p:spPr>
              <a:xfrm>
                <a:off x="6328800" y="1425600"/>
                <a:ext cx="57600" cy="295200"/>
              </a:xfrm>
              <a:custGeom>
                <a:avLst/>
                <a:gdLst/>
                <a:ahLst/>
                <a:cxnLst/>
                <a:rect l="0" t="0" r="r" b="b"/>
                <a:pathLst>
                  <a:path w="57600" h="295200">
                    <a:moveTo>
                      <a:pt x="0" y="50400"/>
                    </a:moveTo>
                    <a:lnTo>
                      <a:pt x="57600" y="0"/>
                    </a:lnTo>
                    <a:lnTo>
                      <a:pt x="57600" y="244800"/>
                    </a:lnTo>
                    <a:lnTo>
                      <a:pt x="0" y="295200"/>
                    </a:lnTo>
                    <a:close/>
                  </a:path>
                </a:pathLst>
              </a:custGeom>
              <a:solidFill>
                <a:srgbClr val="939590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39" name="SCHEM_polygon-0037"/>
              <p:cNvSpPr/>
              <p:nvPr/>
            </p:nvSpPr>
            <p:spPr>
              <a:xfrm>
                <a:off x="2361600" y="3055246"/>
                <a:ext cx="144000" cy="124708"/>
              </a:xfrm>
              <a:custGeom>
                <a:avLst/>
                <a:gdLst/>
                <a:ahLst/>
                <a:cxnLst/>
                <a:rect l="0" t="0" r="r" b="b"/>
                <a:pathLst>
                  <a:path w="144000" h="124708">
                    <a:moveTo>
                      <a:pt x="144000" y="62354"/>
                    </a:moveTo>
                    <a:lnTo>
                      <a:pt x="85718" y="70274"/>
                    </a:lnTo>
                    <a:lnTo>
                      <a:pt x="108000" y="124708"/>
                    </a:lnTo>
                    <a:lnTo>
                      <a:pt x="72000" y="78194"/>
                    </a:lnTo>
                    <a:lnTo>
                      <a:pt x="36000" y="124708"/>
                    </a:lnTo>
                    <a:lnTo>
                      <a:pt x="58282" y="70274"/>
                    </a:lnTo>
                    <a:lnTo>
                      <a:pt x="0" y="62354"/>
                    </a:lnTo>
                    <a:lnTo>
                      <a:pt x="58282" y="54434"/>
                    </a:lnTo>
                    <a:lnTo>
                      <a:pt x="36000" y="0"/>
                    </a:lnTo>
                    <a:lnTo>
                      <a:pt x="72000" y="46514"/>
                    </a:lnTo>
                    <a:lnTo>
                      <a:pt x="108000" y="0"/>
                    </a:lnTo>
                    <a:lnTo>
                      <a:pt x="85718" y="54434"/>
                    </a:lnTo>
                    <a:close/>
                  </a:path>
                </a:pathLst>
              </a:custGeom>
              <a:solidFill>
                <a:srgbClr val="CE8179"/>
              </a:solidFill>
              <a:ln w="9360" cap="flat">
                <a:noFill/>
              </a:ln>
              <a:effectLst/>
            </p:spPr>
          </p:sp>
          <p:sp>
            <p:nvSpPr>
              <p:cNvPr id="40" name="SCHEM_polygon-0038"/>
              <p:cNvSpPr/>
              <p:nvPr/>
            </p:nvSpPr>
            <p:spPr>
              <a:xfrm>
                <a:off x="2556000" y="3451246"/>
                <a:ext cx="144000" cy="124708"/>
              </a:xfrm>
              <a:custGeom>
                <a:avLst/>
                <a:gdLst/>
                <a:ahLst/>
                <a:cxnLst/>
                <a:rect l="0" t="0" r="r" b="b"/>
                <a:pathLst>
                  <a:path w="144000" h="124708">
                    <a:moveTo>
                      <a:pt x="144000" y="62354"/>
                    </a:moveTo>
                    <a:lnTo>
                      <a:pt x="85718" y="70274"/>
                    </a:lnTo>
                    <a:lnTo>
                      <a:pt x="108000" y="124708"/>
                    </a:lnTo>
                    <a:lnTo>
                      <a:pt x="72000" y="78194"/>
                    </a:lnTo>
                    <a:lnTo>
                      <a:pt x="36000" y="124708"/>
                    </a:lnTo>
                    <a:lnTo>
                      <a:pt x="58282" y="70274"/>
                    </a:lnTo>
                    <a:lnTo>
                      <a:pt x="0" y="62354"/>
                    </a:lnTo>
                    <a:lnTo>
                      <a:pt x="58282" y="54434"/>
                    </a:lnTo>
                    <a:lnTo>
                      <a:pt x="36000" y="0"/>
                    </a:lnTo>
                    <a:lnTo>
                      <a:pt x="72000" y="46514"/>
                    </a:lnTo>
                    <a:lnTo>
                      <a:pt x="108000" y="0"/>
                    </a:lnTo>
                    <a:lnTo>
                      <a:pt x="85718" y="54434"/>
                    </a:lnTo>
                    <a:close/>
                  </a:path>
                </a:pathLst>
              </a:custGeom>
              <a:solidFill>
                <a:srgbClr val="CE8179"/>
              </a:solidFill>
              <a:ln w="9360" cap="flat">
                <a:noFill/>
              </a:ln>
              <a:effectLst/>
            </p:spPr>
          </p:sp>
          <p:sp>
            <p:nvSpPr>
              <p:cNvPr id="41" name="SCHEM_polygon-0039"/>
              <p:cNvSpPr/>
              <p:nvPr/>
            </p:nvSpPr>
            <p:spPr>
              <a:xfrm>
                <a:off x="3319200" y="3285646"/>
                <a:ext cx="144000" cy="124708"/>
              </a:xfrm>
              <a:custGeom>
                <a:avLst/>
                <a:gdLst/>
                <a:ahLst/>
                <a:cxnLst/>
                <a:rect l="0" t="0" r="r" b="b"/>
                <a:pathLst>
                  <a:path w="144000" h="124708">
                    <a:moveTo>
                      <a:pt x="144000" y="62354"/>
                    </a:moveTo>
                    <a:lnTo>
                      <a:pt x="85718" y="70274"/>
                    </a:lnTo>
                    <a:lnTo>
                      <a:pt x="108000" y="124708"/>
                    </a:lnTo>
                    <a:lnTo>
                      <a:pt x="72000" y="78194"/>
                    </a:lnTo>
                    <a:lnTo>
                      <a:pt x="36000" y="124708"/>
                    </a:lnTo>
                    <a:lnTo>
                      <a:pt x="58282" y="70274"/>
                    </a:lnTo>
                    <a:lnTo>
                      <a:pt x="0" y="62354"/>
                    </a:lnTo>
                    <a:lnTo>
                      <a:pt x="58282" y="54434"/>
                    </a:lnTo>
                    <a:lnTo>
                      <a:pt x="36000" y="0"/>
                    </a:lnTo>
                    <a:lnTo>
                      <a:pt x="72000" y="46514"/>
                    </a:lnTo>
                    <a:lnTo>
                      <a:pt x="108000" y="0"/>
                    </a:lnTo>
                    <a:lnTo>
                      <a:pt x="85718" y="54434"/>
                    </a:lnTo>
                    <a:close/>
                  </a:path>
                </a:pathLst>
              </a:custGeom>
              <a:solidFill>
                <a:srgbClr val="CE8179"/>
              </a:solidFill>
              <a:ln w="9360" cap="flat">
                <a:noFill/>
              </a:ln>
              <a:effectLst/>
            </p:spPr>
          </p:sp>
          <p:sp>
            <p:nvSpPr>
              <p:cNvPr id="42" name="SCHEM_polygon-0040"/>
              <p:cNvSpPr/>
              <p:nvPr/>
            </p:nvSpPr>
            <p:spPr>
              <a:xfrm>
                <a:off x="4867200" y="3091246"/>
                <a:ext cx="144000" cy="124708"/>
              </a:xfrm>
              <a:custGeom>
                <a:avLst/>
                <a:gdLst/>
                <a:ahLst/>
                <a:cxnLst/>
                <a:rect l="0" t="0" r="r" b="b"/>
                <a:pathLst>
                  <a:path w="144000" h="124708">
                    <a:moveTo>
                      <a:pt x="144000" y="62354"/>
                    </a:moveTo>
                    <a:lnTo>
                      <a:pt x="85718" y="70274"/>
                    </a:lnTo>
                    <a:lnTo>
                      <a:pt x="108000" y="124708"/>
                    </a:lnTo>
                    <a:lnTo>
                      <a:pt x="72000" y="78194"/>
                    </a:lnTo>
                    <a:lnTo>
                      <a:pt x="36000" y="124708"/>
                    </a:lnTo>
                    <a:lnTo>
                      <a:pt x="58282" y="70274"/>
                    </a:lnTo>
                    <a:lnTo>
                      <a:pt x="0" y="62354"/>
                    </a:lnTo>
                    <a:lnTo>
                      <a:pt x="58282" y="54434"/>
                    </a:lnTo>
                    <a:lnTo>
                      <a:pt x="36000" y="0"/>
                    </a:lnTo>
                    <a:lnTo>
                      <a:pt x="72000" y="46514"/>
                    </a:lnTo>
                    <a:lnTo>
                      <a:pt x="108000" y="0"/>
                    </a:lnTo>
                    <a:lnTo>
                      <a:pt x="85718" y="54434"/>
                    </a:lnTo>
                    <a:close/>
                  </a:path>
                </a:pathLst>
              </a:custGeom>
              <a:solidFill>
                <a:srgbClr val="CE8179"/>
              </a:solidFill>
              <a:ln w="9360" cap="flat">
                <a:noFill/>
              </a:ln>
              <a:effectLst/>
            </p:spPr>
          </p:sp>
          <p:sp>
            <p:nvSpPr>
              <p:cNvPr id="43" name="SCHEM_polygon-0041"/>
              <p:cNvSpPr/>
              <p:nvPr/>
            </p:nvSpPr>
            <p:spPr>
              <a:xfrm>
                <a:off x="5630400" y="3652846"/>
                <a:ext cx="144000" cy="124708"/>
              </a:xfrm>
              <a:custGeom>
                <a:avLst/>
                <a:gdLst/>
                <a:ahLst/>
                <a:cxnLst/>
                <a:rect l="0" t="0" r="r" b="b"/>
                <a:pathLst>
                  <a:path w="144000" h="124708">
                    <a:moveTo>
                      <a:pt x="144000" y="62354"/>
                    </a:moveTo>
                    <a:lnTo>
                      <a:pt x="85718" y="70274"/>
                    </a:lnTo>
                    <a:lnTo>
                      <a:pt x="108000" y="124708"/>
                    </a:lnTo>
                    <a:lnTo>
                      <a:pt x="72000" y="78194"/>
                    </a:lnTo>
                    <a:lnTo>
                      <a:pt x="36000" y="124708"/>
                    </a:lnTo>
                    <a:lnTo>
                      <a:pt x="58282" y="70274"/>
                    </a:lnTo>
                    <a:lnTo>
                      <a:pt x="0" y="62354"/>
                    </a:lnTo>
                    <a:lnTo>
                      <a:pt x="58282" y="54434"/>
                    </a:lnTo>
                    <a:lnTo>
                      <a:pt x="36000" y="0"/>
                    </a:lnTo>
                    <a:lnTo>
                      <a:pt x="72000" y="46514"/>
                    </a:lnTo>
                    <a:lnTo>
                      <a:pt x="108000" y="0"/>
                    </a:lnTo>
                    <a:lnTo>
                      <a:pt x="85718" y="54434"/>
                    </a:lnTo>
                    <a:close/>
                  </a:path>
                </a:pathLst>
              </a:custGeom>
              <a:solidFill>
                <a:srgbClr val="CE8179"/>
              </a:solidFill>
              <a:ln w="9360" cap="flat">
                <a:noFill/>
              </a:ln>
              <a:effectLst/>
            </p:spPr>
          </p:sp>
          <p:sp>
            <p:nvSpPr>
              <p:cNvPr id="44" name="SCHEM_polygon-0042"/>
              <p:cNvSpPr/>
              <p:nvPr/>
            </p:nvSpPr>
            <p:spPr>
              <a:xfrm>
                <a:off x="6019200" y="3393646"/>
                <a:ext cx="144000" cy="124708"/>
              </a:xfrm>
              <a:custGeom>
                <a:avLst/>
                <a:gdLst/>
                <a:ahLst/>
                <a:cxnLst/>
                <a:rect l="0" t="0" r="r" b="b"/>
                <a:pathLst>
                  <a:path w="144000" h="124708">
                    <a:moveTo>
                      <a:pt x="144000" y="62354"/>
                    </a:moveTo>
                    <a:lnTo>
                      <a:pt x="85718" y="70274"/>
                    </a:lnTo>
                    <a:lnTo>
                      <a:pt x="108000" y="124708"/>
                    </a:lnTo>
                    <a:lnTo>
                      <a:pt x="72000" y="78194"/>
                    </a:lnTo>
                    <a:lnTo>
                      <a:pt x="36000" y="124708"/>
                    </a:lnTo>
                    <a:lnTo>
                      <a:pt x="58282" y="70274"/>
                    </a:lnTo>
                    <a:lnTo>
                      <a:pt x="0" y="62354"/>
                    </a:lnTo>
                    <a:lnTo>
                      <a:pt x="58282" y="54434"/>
                    </a:lnTo>
                    <a:lnTo>
                      <a:pt x="36000" y="0"/>
                    </a:lnTo>
                    <a:lnTo>
                      <a:pt x="72000" y="46514"/>
                    </a:lnTo>
                    <a:lnTo>
                      <a:pt x="108000" y="0"/>
                    </a:lnTo>
                    <a:lnTo>
                      <a:pt x="85718" y="54434"/>
                    </a:lnTo>
                    <a:close/>
                  </a:path>
                </a:pathLst>
              </a:custGeom>
              <a:solidFill>
                <a:srgbClr val="CE8179"/>
              </a:solidFill>
              <a:ln w="9360" cap="flat">
                <a:noFill/>
              </a:ln>
              <a:effectLst/>
            </p:spPr>
          </p:sp>
          <p:sp>
            <p:nvSpPr>
              <p:cNvPr id="45" name="SCHEM_ellipse-0043"/>
              <p:cNvSpPr/>
              <p:nvPr/>
            </p:nvSpPr>
            <p:spPr>
              <a:xfrm>
                <a:off x="2995200" y="3067200"/>
                <a:ext cx="57600" cy="57600"/>
              </a:xfrm>
              <a:prstGeom prst="ellipse">
                <a:avLst/>
              </a:prstGeom>
              <a:solidFill>
                <a:srgbClr val="A3A7A1"/>
              </a:solidFill>
              <a:ln w="7200" cap="flat">
                <a:solidFill>
                  <a:srgbClr val="5E625F"/>
                </a:solidFill>
              </a:ln>
              <a:effectLst/>
            </p:spPr>
          </p:sp>
          <p:sp>
            <p:nvSpPr>
              <p:cNvPr id="46" name="SCHEM_ellipse-0044"/>
              <p:cNvSpPr/>
              <p:nvPr/>
            </p:nvSpPr>
            <p:spPr>
              <a:xfrm>
                <a:off x="4176000" y="3096000"/>
                <a:ext cx="57600" cy="57600"/>
              </a:xfrm>
              <a:prstGeom prst="ellipse">
                <a:avLst/>
              </a:prstGeom>
              <a:solidFill>
                <a:srgbClr val="A3A7A1"/>
              </a:solidFill>
              <a:ln w="7200" cap="flat">
                <a:solidFill>
                  <a:srgbClr val="5E625F"/>
                </a:solidFill>
              </a:ln>
              <a:effectLst/>
            </p:spPr>
          </p:sp>
          <p:sp>
            <p:nvSpPr>
              <p:cNvPr id="47" name="SCHEM_ellipse-0045"/>
              <p:cNvSpPr/>
              <p:nvPr/>
            </p:nvSpPr>
            <p:spPr>
              <a:xfrm>
                <a:off x="5508000" y="3031200"/>
                <a:ext cx="57600" cy="57600"/>
              </a:xfrm>
              <a:prstGeom prst="ellipse">
                <a:avLst/>
              </a:prstGeom>
              <a:solidFill>
                <a:srgbClr val="A3A7A1"/>
              </a:solidFill>
              <a:ln w="7200" cap="flat">
                <a:solidFill>
                  <a:srgbClr val="5E625F"/>
                </a:solidFill>
              </a:ln>
              <a:effectLst/>
            </p:spPr>
          </p:sp>
          <p:sp>
            <p:nvSpPr>
              <p:cNvPr id="48" name="SCHEM_ellipse-0046"/>
              <p:cNvSpPr/>
              <p:nvPr/>
            </p:nvSpPr>
            <p:spPr>
              <a:xfrm>
                <a:off x="6379200" y="3585600"/>
                <a:ext cx="57600" cy="57600"/>
              </a:xfrm>
              <a:prstGeom prst="ellipse">
                <a:avLst/>
              </a:prstGeom>
              <a:solidFill>
                <a:srgbClr val="A3A7A1"/>
              </a:solidFill>
              <a:ln w="7200" cap="flat">
                <a:solidFill>
                  <a:srgbClr val="5E625F"/>
                </a:solidFill>
              </a:ln>
              <a:effectLst/>
            </p:spPr>
          </p:sp>
          <p:sp>
            <p:nvSpPr>
              <p:cNvPr id="49" name="SCHEM_ellipse-0047"/>
              <p:cNvSpPr/>
              <p:nvPr/>
            </p:nvSpPr>
            <p:spPr>
              <a:xfrm>
                <a:off x="3110400" y="3772800"/>
                <a:ext cx="57600" cy="57600"/>
              </a:xfrm>
              <a:prstGeom prst="ellipse">
                <a:avLst/>
              </a:prstGeom>
              <a:solidFill>
                <a:srgbClr val="A3A7A1"/>
              </a:solidFill>
              <a:ln w="7200" cap="flat">
                <a:solidFill>
                  <a:srgbClr val="5E625F"/>
                </a:solidFill>
              </a:ln>
              <a:effectLst/>
            </p:spPr>
          </p:sp>
          <p:sp>
            <p:nvSpPr>
              <p:cNvPr id="50" name="SCHEM_ellipse-0048"/>
              <p:cNvSpPr/>
              <p:nvPr/>
            </p:nvSpPr>
            <p:spPr>
              <a:xfrm>
                <a:off x="4140000" y="3765600"/>
                <a:ext cx="57600" cy="57600"/>
              </a:xfrm>
              <a:prstGeom prst="ellipse">
                <a:avLst/>
              </a:prstGeom>
              <a:solidFill>
                <a:srgbClr val="A3A7A1"/>
              </a:solidFill>
              <a:ln w="7200" cap="flat">
                <a:solidFill>
                  <a:srgbClr val="5E625F"/>
                </a:solidFill>
              </a:ln>
              <a:effectLst/>
            </p:spPr>
          </p:sp>
          <p:sp>
            <p:nvSpPr>
              <p:cNvPr id="51" name="SCHEM_ellipse-0049"/>
              <p:cNvSpPr/>
              <p:nvPr/>
            </p:nvSpPr>
            <p:spPr>
              <a:xfrm>
                <a:off x="2491200" y="3765600"/>
                <a:ext cx="57600" cy="57600"/>
              </a:xfrm>
              <a:prstGeom prst="ellipse">
                <a:avLst/>
              </a:prstGeom>
              <a:solidFill>
                <a:srgbClr val="A3A7A1"/>
              </a:solidFill>
              <a:ln w="7200" cap="flat">
                <a:solidFill>
                  <a:srgbClr val="5E625F"/>
                </a:solidFill>
              </a:ln>
              <a:effectLst/>
            </p:spPr>
          </p:sp>
          <p:sp>
            <p:nvSpPr>
              <p:cNvPr id="52" name="SCHEM_ellipse-0050"/>
              <p:cNvSpPr/>
              <p:nvPr/>
            </p:nvSpPr>
            <p:spPr>
              <a:xfrm>
                <a:off x="6163200" y="3909600"/>
                <a:ext cx="57600" cy="57600"/>
              </a:xfrm>
              <a:prstGeom prst="ellipse">
                <a:avLst/>
              </a:prstGeom>
              <a:solidFill>
                <a:srgbClr val="A3A7A1"/>
              </a:solidFill>
              <a:ln w="7200" cap="flat">
                <a:solidFill>
                  <a:srgbClr val="5E625F"/>
                </a:solidFill>
              </a:ln>
              <a:effectLst/>
            </p:spPr>
          </p:sp>
        </p:grpSp>
        <p:sp>
          <p:nvSpPr>
            <p:cNvPr id="53" name="SCHEM_text-0051"/>
            <p:cNvSpPr txBox="1"/>
            <p:nvPr/>
          </p:nvSpPr>
          <p:spPr>
            <a:xfrm>
              <a:off x="4327200" y="1778400"/>
              <a:ext cx="1224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ITO</a:t>
              </a:r>
              <a:endParaRPr lang="en-US" sz="1531"/>
            </a:p>
          </p:txBody>
        </p:sp>
        <p:sp>
          <p:nvSpPr>
            <p:cNvPr id="54" name="SCHEM_text-0052"/>
            <p:cNvSpPr txBox="1"/>
            <p:nvPr/>
          </p:nvSpPr>
          <p:spPr>
            <a:xfrm>
              <a:off x="4291200" y="2095200"/>
              <a:ext cx="1296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SnOₓ</a:t>
              </a:r>
              <a:endParaRPr lang="en-US" sz="1474"/>
            </a:p>
          </p:txBody>
        </p:sp>
        <p:sp>
          <p:nvSpPr>
            <p:cNvPr id="55" name="SCHEM_text-0053"/>
            <p:cNvSpPr txBox="1"/>
            <p:nvPr/>
          </p:nvSpPr>
          <p:spPr>
            <a:xfrm>
              <a:off x="4305600" y="2433600"/>
              <a:ext cx="1224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C₆₀</a:t>
              </a:r>
              <a:endParaRPr lang="en-US" sz="1474"/>
            </a:p>
          </p:txBody>
        </p:sp>
        <p:sp>
          <p:nvSpPr>
            <p:cNvPr id="56" name="SCHEM_text-0054"/>
            <p:cNvSpPr txBox="1"/>
            <p:nvPr/>
          </p:nvSpPr>
          <p:spPr>
            <a:xfrm>
              <a:off x="3816000" y="3355200"/>
              <a:ext cx="2880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Perovskite absorber</a:t>
              </a:r>
              <a:endParaRPr lang="en-US" sz="1531"/>
            </a:p>
          </p:txBody>
        </p:sp>
        <p:sp>
          <p:nvSpPr>
            <p:cNvPr id="57" name="SCHEM_text-0055"/>
            <p:cNvSpPr txBox="1"/>
            <p:nvPr/>
          </p:nvSpPr>
          <p:spPr>
            <a:xfrm>
              <a:off x="3470400" y="4140000"/>
              <a:ext cx="3204000" cy="2692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Recombination / hole contact</a:t>
              </a:r>
              <a:endParaRPr lang="en-US" sz="1361"/>
            </a:p>
          </p:txBody>
        </p:sp>
        <p:sp>
          <p:nvSpPr>
            <p:cNvPr id="58" name="SCHEM_text-0056"/>
            <p:cNvSpPr txBox="1"/>
            <p:nvPr/>
          </p:nvSpPr>
          <p:spPr>
            <a:xfrm>
              <a:off x="3211200" y="4831200"/>
              <a:ext cx="3528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Silicon heterojunction bottom cell</a:t>
              </a:r>
              <a:endParaRPr lang="en-US" sz="1531"/>
            </a:p>
          </p:txBody>
        </p:sp>
        <p:sp>
          <p:nvSpPr>
            <p:cNvPr id="59" name="SCHEM_text-0057"/>
            <p:cNvSpPr txBox="1"/>
            <p:nvPr/>
          </p:nvSpPr>
          <p:spPr>
            <a:xfrm>
              <a:off x="3924000" y="5558400"/>
              <a:ext cx="2160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Rear contact</a:t>
              </a:r>
              <a:endParaRPr lang="en-US" sz="1474"/>
            </a:p>
          </p:txBody>
        </p:sp>
        <p:sp>
          <p:nvSpPr>
            <p:cNvPr id="60" name="SCHEM_path-0058"/>
            <p:cNvSpPr/>
            <p:nvPr/>
          </p:nvSpPr>
          <p:spPr>
            <a:xfrm>
              <a:off x="1238400" y="1173600"/>
              <a:ext cx="187200" cy="1389600"/>
            </a:xfrm>
            <a:custGeom>
              <a:avLst/>
              <a:gdLst/>
              <a:ahLst/>
              <a:cxnLst/>
              <a:rect l="0" t="0" r="r" b="b"/>
              <a:pathLst>
                <a:path w="187200" h="1389600">
                  <a:moveTo>
                    <a:pt x="187200" y="0"/>
                  </a:moveTo>
                  <a:cubicBezTo>
                    <a:pt x="86400" y="0"/>
                    <a:pt x="86400" y="7200"/>
                    <a:pt x="86400" y="93600"/>
                  </a:cubicBezTo>
                  <a:lnTo>
                    <a:pt x="86400" y="604800"/>
                  </a:lnTo>
                  <a:cubicBezTo>
                    <a:pt x="86400" y="684000"/>
                    <a:pt x="57600" y="698400"/>
                    <a:pt x="0" y="698400"/>
                  </a:cubicBezTo>
                  <a:cubicBezTo>
                    <a:pt x="57600" y="698400"/>
                    <a:pt x="86400" y="712800"/>
                    <a:pt x="86400" y="792000"/>
                  </a:cubicBezTo>
                  <a:lnTo>
                    <a:pt x="86400" y="1310400"/>
                  </a:lnTo>
                  <a:cubicBezTo>
                    <a:pt x="86400" y="1389600"/>
                    <a:pt x="86400" y="1389600"/>
                    <a:pt x="187200" y="1389600"/>
                  </a:cubicBezTo>
                </a:path>
              </a:pathLst>
            </a:custGeom>
            <a:noFill/>
            <a:ln w="12240" cap="flat">
              <a:solidFill>
                <a:srgbClr val="292929"/>
              </a:solidFill>
            </a:ln>
            <a:effectLst/>
          </p:spPr>
        </p:sp>
        <p:sp>
          <p:nvSpPr>
            <p:cNvPr id="61" name="SCHEM_text-0059"/>
            <p:cNvSpPr txBox="1"/>
            <p:nvPr/>
          </p:nvSpPr>
          <p:spPr>
            <a:xfrm>
              <a:off x="252000" y="1627200"/>
              <a:ext cx="1044000" cy="765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Large-area</a:t>
              </a:r>
              <a:endParaRPr lang="en-US" sz="1417"/>
            </a:p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processing</a:t>
              </a:r>
              <a:endParaRPr lang="en-US" sz="1417"/>
            </a:p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route</a:t>
              </a:r>
              <a:endParaRPr lang="en-US" sz="1417"/>
            </a:p>
          </p:txBody>
        </p:sp>
        <p:sp>
          <p:nvSpPr>
            <p:cNvPr id="62" name="SCHEM_text-0060"/>
            <p:cNvSpPr txBox="1"/>
            <p:nvPr/>
          </p:nvSpPr>
          <p:spPr>
            <a:xfrm>
              <a:off x="223200" y="2757600"/>
              <a:ext cx="1872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PCl: post-treatment</a:t>
              </a:r>
              <a:endParaRPr lang="en-US" sz="1417"/>
            </a:p>
          </p:txBody>
        </p:sp>
        <p:cxnSp>
          <p:nvCxnSpPr>
            <p:cNvPr id="63" name="SCHEM_line-0061"/>
            <p:cNvCxnSpPr/>
            <p:nvPr/>
          </p:nvCxnSpPr>
          <p:spPr>
            <a:xfrm flipV="1">
              <a:off x="1735200" y="2800800"/>
              <a:ext cx="633600" cy="360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64" name="SCHEM_ellipse-0062"/>
            <p:cNvSpPr/>
            <p:nvPr/>
          </p:nvSpPr>
          <p:spPr>
            <a:xfrm>
              <a:off x="2347200" y="27792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65" name="SCHEM_text-0063"/>
            <p:cNvSpPr txBox="1"/>
            <p:nvPr/>
          </p:nvSpPr>
          <p:spPr>
            <a:xfrm>
              <a:off x="165600" y="3391200"/>
              <a:ext cx="2016000" cy="27900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1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pFBPA: ink additive</a:t>
              </a:r>
              <a:endParaRPr lang="en-US" sz="1417"/>
            </a:p>
          </p:txBody>
        </p:sp>
        <p:cxnSp>
          <p:nvCxnSpPr>
            <p:cNvPr id="66" name="SCHEM_line-0064"/>
            <p:cNvCxnSpPr/>
            <p:nvPr/>
          </p:nvCxnSpPr>
          <p:spPr>
            <a:xfrm>
              <a:off x="1735200" y="3470400"/>
              <a:ext cx="640800" cy="1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67" name="SCHEM_ellipse-0065"/>
            <p:cNvSpPr/>
            <p:nvPr/>
          </p:nvSpPr>
          <p:spPr>
            <a:xfrm>
              <a:off x="2354400" y="34488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68" name="SCHEM_rect-0066"/>
            <p:cNvSpPr/>
            <p:nvPr/>
          </p:nvSpPr>
          <p:spPr>
            <a:xfrm>
              <a:off x="5983200" y="2606400"/>
              <a:ext cx="561600" cy="424800"/>
            </a:xfrm>
            <a:prstGeom prst="rect">
              <a:avLst/>
            </a:prstGeom>
            <a:noFill/>
            <a:ln w="10080" cap="flat">
              <a:solidFill>
                <a:srgbClr val="292929"/>
              </a:solidFill>
              <a:prstDash val="dash"/>
            </a:ln>
            <a:effectLst/>
          </p:spPr>
        </p:sp>
        <p:cxnSp>
          <p:nvCxnSpPr>
            <p:cNvPr id="69" name="SCHEM_line-0067"/>
            <p:cNvCxnSpPr/>
            <p:nvPr/>
          </p:nvCxnSpPr>
          <p:spPr>
            <a:xfrm flipV="1">
              <a:off x="6544800" y="1548000"/>
              <a:ext cx="957600" cy="1058400"/>
            </a:xfrm>
            <a:prstGeom prst="line">
              <a:avLst/>
            </a:prstGeom>
            <a:noFill/>
            <a:ln w="10800" cap="flat">
              <a:solidFill>
                <a:srgbClr val="292929"/>
              </a:solidFill>
              <a:prstDash val="dash"/>
            </a:ln>
            <a:effectLst/>
          </p:spPr>
        </p:cxnSp>
        <p:cxnSp>
          <p:nvCxnSpPr>
            <p:cNvPr id="70" name="SCHEM_line-0068"/>
            <p:cNvCxnSpPr/>
            <p:nvPr/>
          </p:nvCxnSpPr>
          <p:spPr>
            <a:xfrm>
              <a:off x="6544800" y="3031200"/>
              <a:ext cx="957600" cy="1800000"/>
            </a:xfrm>
            <a:prstGeom prst="line">
              <a:avLst/>
            </a:prstGeom>
            <a:noFill/>
            <a:ln w="10800" cap="flat">
              <a:solidFill>
                <a:srgbClr val="292929"/>
              </a:solidFill>
              <a:prstDash val="dash"/>
            </a:ln>
            <a:effectLst/>
          </p:spPr>
        </p:cxnSp>
        <p:sp>
          <p:nvSpPr>
            <p:cNvPr id="71" name="SCHEM_text-0069"/>
            <p:cNvSpPr txBox="1"/>
            <p:nvPr/>
          </p:nvSpPr>
          <p:spPr>
            <a:xfrm>
              <a:off x="8049600" y="1216800"/>
              <a:ext cx="3333600" cy="3178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644" b="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Conceptual contact region</a:t>
              </a:r>
              <a:endParaRPr lang="en-US" sz="1644"/>
            </a:p>
          </p:txBody>
        </p:sp>
        <p:grpSp>
          <p:nvGrpSpPr>
            <p:cNvPr id="72" name="SCHEM_contact-interface"/>
            <p:cNvGrpSpPr/>
            <p:nvPr/>
          </p:nvGrpSpPr>
          <p:grpSpPr>
            <a:xfrm>
              <a:off x="7502400" y="1548000"/>
              <a:ext cx="3859200" cy="3283200"/>
              <a:chOff x="7502400" y="1548000"/>
              <a:chExt cx="3859200" cy="3283200"/>
            </a:xfrm>
          </p:grpSpPr>
          <p:sp>
            <p:nvSpPr>
              <p:cNvPr id="73" name="SCHEM_polygon-0071"/>
              <p:cNvSpPr/>
              <p:nvPr/>
            </p:nvSpPr>
            <p:spPr>
              <a:xfrm>
                <a:off x="7502400" y="1548000"/>
                <a:ext cx="3859200" cy="1483200"/>
              </a:xfrm>
              <a:custGeom>
                <a:avLst/>
                <a:gdLst/>
                <a:ahLst/>
                <a:cxnLst/>
                <a:rect l="0" t="0" r="r" b="b"/>
                <a:pathLst>
                  <a:path w="3859200" h="1483200">
                    <a:moveTo>
                      <a:pt x="0" y="0"/>
                    </a:moveTo>
                    <a:lnTo>
                      <a:pt x="3859200" y="0"/>
                    </a:lnTo>
                    <a:lnTo>
                      <a:pt x="3859200" y="1353600"/>
                    </a:lnTo>
                    <a:lnTo>
                      <a:pt x="3691409" y="1353600"/>
                    </a:lnTo>
                    <a:lnTo>
                      <a:pt x="3523617" y="1483200"/>
                    </a:lnTo>
                    <a:lnTo>
                      <a:pt x="3355826" y="1353600"/>
                    </a:lnTo>
                    <a:lnTo>
                      <a:pt x="3188035" y="1483200"/>
                    </a:lnTo>
                    <a:lnTo>
                      <a:pt x="3020243" y="1353600"/>
                    </a:lnTo>
                    <a:lnTo>
                      <a:pt x="2852452" y="1483200"/>
                    </a:lnTo>
                    <a:lnTo>
                      <a:pt x="2684661" y="1353600"/>
                    </a:lnTo>
                    <a:lnTo>
                      <a:pt x="2516870" y="1483200"/>
                    </a:lnTo>
                    <a:lnTo>
                      <a:pt x="2349078" y="1353600"/>
                    </a:lnTo>
                    <a:lnTo>
                      <a:pt x="2181287" y="1483200"/>
                    </a:lnTo>
                    <a:lnTo>
                      <a:pt x="2013496" y="1353600"/>
                    </a:lnTo>
                    <a:lnTo>
                      <a:pt x="1845704" y="1483200"/>
                    </a:lnTo>
                    <a:lnTo>
                      <a:pt x="1677913" y="1353600"/>
                    </a:lnTo>
                    <a:lnTo>
                      <a:pt x="1510122" y="1483200"/>
                    </a:lnTo>
                    <a:lnTo>
                      <a:pt x="1342330" y="1353600"/>
                    </a:lnTo>
                    <a:lnTo>
                      <a:pt x="1174539" y="1483200"/>
                    </a:lnTo>
                    <a:lnTo>
                      <a:pt x="1006748" y="1353600"/>
                    </a:lnTo>
                    <a:lnTo>
                      <a:pt x="838957" y="1483200"/>
                    </a:lnTo>
                    <a:lnTo>
                      <a:pt x="671165" y="1353600"/>
                    </a:lnTo>
                    <a:lnTo>
                      <a:pt x="503374" y="1483200"/>
                    </a:lnTo>
                    <a:lnTo>
                      <a:pt x="335583" y="1353600"/>
                    </a:lnTo>
                    <a:lnTo>
                      <a:pt x="167791" y="1483200"/>
                    </a:lnTo>
                    <a:lnTo>
                      <a:pt x="0" y="1353600"/>
                    </a:lnTo>
                    <a:close/>
                  </a:path>
                </a:pathLst>
              </a:custGeom>
              <a:solidFill>
                <a:srgbClr val="D2E0BE"/>
              </a:solidFill>
              <a:ln w="9360" cap="flat">
                <a:noFill/>
              </a:ln>
              <a:effectLst/>
            </p:spPr>
          </p:sp>
          <p:sp>
            <p:nvSpPr>
              <p:cNvPr id="74" name="SCHEM_polygon-0072"/>
              <p:cNvSpPr/>
              <p:nvPr/>
            </p:nvSpPr>
            <p:spPr>
              <a:xfrm>
                <a:off x="7502400" y="2901600"/>
                <a:ext cx="3859200" cy="1929600"/>
              </a:xfrm>
              <a:custGeom>
                <a:avLst/>
                <a:gdLst/>
                <a:ahLst/>
                <a:cxnLst/>
                <a:rect l="0" t="0" r="r" b="b"/>
                <a:pathLst>
                  <a:path w="3859200" h="1929600">
                    <a:moveTo>
                      <a:pt x="0" y="0"/>
                    </a:moveTo>
                    <a:lnTo>
                      <a:pt x="167791" y="129600"/>
                    </a:lnTo>
                    <a:lnTo>
                      <a:pt x="335583" y="0"/>
                    </a:lnTo>
                    <a:lnTo>
                      <a:pt x="503374" y="129600"/>
                    </a:lnTo>
                    <a:lnTo>
                      <a:pt x="671165" y="0"/>
                    </a:lnTo>
                    <a:lnTo>
                      <a:pt x="838957" y="129600"/>
                    </a:lnTo>
                    <a:lnTo>
                      <a:pt x="1006748" y="0"/>
                    </a:lnTo>
                    <a:lnTo>
                      <a:pt x="1174539" y="129600"/>
                    </a:lnTo>
                    <a:lnTo>
                      <a:pt x="1342330" y="0"/>
                    </a:lnTo>
                    <a:lnTo>
                      <a:pt x="1510122" y="129600"/>
                    </a:lnTo>
                    <a:lnTo>
                      <a:pt x="1677913" y="0"/>
                    </a:lnTo>
                    <a:lnTo>
                      <a:pt x="1845704" y="129600"/>
                    </a:lnTo>
                    <a:lnTo>
                      <a:pt x="2013496" y="0"/>
                    </a:lnTo>
                    <a:lnTo>
                      <a:pt x="2181287" y="129600"/>
                    </a:lnTo>
                    <a:lnTo>
                      <a:pt x="2349078" y="0"/>
                    </a:lnTo>
                    <a:lnTo>
                      <a:pt x="2516870" y="129600"/>
                    </a:lnTo>
                    <a:lnTo>
                      <a:pt x="2684661" y="0"/>
                    </a:lnTo>
                    <a:lnTo>
                      <a:pt x="2852452" y="129600"/>
                    </a:lnTo>
                    <a:lnTo>
                      <a:pt x="3020243" y="0"/>
                    </a:lnTo>
                    <a:lnTo>
                      <a:pt x="3188035" y="129600"/>
                    </a:lnTo>
                    <a:lnTo>
                      <a:pt x="3355826" y="0"/>
                    </a:lnTo>
                    <a:lnTo>
                      <a:pt x="3523617" y="129600"/>
                    </a:lnTo>
                    <a:lnTo>
                      <a:pt x="3691409" y="0"/>
                    </a:lnTo>
                    <a:lnTo>
                      <a:pt x="3859200" y="0"/>
                    </a:lnTo>
                    <a:lnTo>
                      <a:pt x="3859200" y="1929600"/>
                    </a:lnTo>
                    <a:lnTo>
                      <a:pt x="0" y="1929600"/>
                    </a:lnTo>
                    <a:close/>
                  </a:path>
                </a:pathLst>
              </a:custGeom>
              <a:solidFill>
                <a:srgbClr val="E9B8AC"/>
              </a:solidFill>
              <a:ln w="9360" cap="flat">
                <a:noFill/>
              </a:ln>
              <a:effectLst/>
            </p:spPr>
          </p:sp>
          <p:sp>
            <p:nvSpPr>
              <p:cNvPr id="75" name="SCHEM_path-0073"/>
              <p:cNvSpPr/>
              <p:nvPr/>
            </p:nvSpPr>
            <p:spPr>
              <a:xfrm>
                <a:off x="7502400" y="2901600"/>
                <a:ext cx="3859200" cy="129600"/>
              </a:xfrm>
              <a:custGeom>
                <a:avLst/>
                <a:gdLst/>
                <a:ahLst/>
                <a:cxnLst/>
                <a:rect l="0" t="0" r="r" b="b"/>
                <a:pathLst>
                  <a:path w="3859200" h="129600">
                    <a:moveTo>
                      <a:pt x="0" y="0"/>
                    </a:moveTo>
                    <a:lnTo>
                      <a:pt x="167791" y="129600"/>
                    </a:lnTo>
                    <a:lnTo>
                      <a:pt x="335583" y="0"/>
                    </a:lnTo>
                    <a:lnTo>
                      <a:pt x="503374" y="129600"/>
                    </a:lnTo>
                    <a:lnTo>
                      <a:pt x="671165" y="0"/>
                    </a:lnTo>
                    <a:lnTo>
                      <a:pt x="838957" y="129600"/>
                    </a:lnTo>
                    <a:lnTo>
                      <a:pt x="1006748" y="0"/>
                    </a:lnTo>
                    <a:lnTo>
                      <a:pt x="1174539" y="129600"/>
                    </a:lnTo>
                    <a:lnTo>
                      <a:pt x="1342330" y="0"/>
                    </a:lnTo>
                    <a:lnTo>
                      <a:pt x="1510122" y="129600"/>
                    </a:lnTo>
                    <a:lnTo>
                      <a:pt x="1677913" y="0"/>
                    </a:lnTo>
                    <a:lnTo>
                      <a:pt x="1845704" y="129600"/>
                    </a:lnTo>
                    <a:lnTo>
                      <a:pt x="2013496" y="0"/>
                    </a:lnTo>
                    <a:lnTo>
                      <a:pt x="2181287" y="129600"/>
                    </a:lnTo>
                    <a:lnTo>
                      <a:pt x="2349078" y="0"/>
                    </a:lnTo>
                    <a:lnTo>
                      <a:pt x="2516870" y="129600"/>
                    </a:lnTo>
                    <a:lnTo>
                      <a:pt x="2684661" y="0"/>
                    </a:lnTo>
                    <a:lnTo>
                      <a:pt x="2852452" y="129600"/>
                    </a:lnTo>
                    <a:lnTo>
                      <a:pt x="3020243" y="0"/>
                    </a:lnTo>
                    <a:lnTo>
                      <a:pt x="3188035" y="129600"/>
                    </a:lnTo>
                    <a:lnTo>
                      <a:pt x="3355826" y="0"/>
                    </a:lnTo>
                    <a:lnTo>
                      <a:pt x="3523617" y="129600"/>
                    </a:lnTo>
                    <a:lnTo>
                      <a:pt x="3691409" y="0"/>
                    </a:lnTo>
                    <a:lnTo>
                      <a:pt x="3859200" y="0"/>
                    </a:lnTo>
                  </a:path>
                </a:pathLst>
              </a:custGeom>
              <a:noFill/>
              <a:ln w="9360" cap="flat">
                <a:solidFill>
                  <a:srgbClr val="292929"/>
                </a:solidFill>
              </a:ln>
              <a:effectLst/>
            </p:spPr>
          </p:sp>
          <p:sp>
            <p:nvSpPr>
              <p:cNvPr id="76" name="SCHEM_rect-0074"/>
              <p:cNvSpPr/>
              <p:nvPr/>
            </p:nvSpPr>
            <p:spPr>
              <a:xfrm>
                <a:off x="7502400" y="1548000"/>
                <a:ext cx="3859200" cy="3283200"/>
              </a:xfrm>
              <a:prstGeom prst="rect">
                <a:avLst/>
              </a:prstGeom>
              <a:noFill/>
              <a:ln w="10080" cap="flat">
                <a:solidFill>
                  <a:srgbClr val="292929"/>
                </a:solidFill>
                <a:prstDash val="dash"/>
              </a:ln>
              <a:effectLst/>
            </p:spPr>
          </p:sp>
          <p:cxnSp>
            <p:nvCxnSpPr>
              <p:cNvPr id="77" name="SCHEM_line-0075"/>
              <p:cNvCxnSpPr/>
              <p:nvPr/>
            </p:nvCxnSpPr>
            <p:spPr>
              <a:xfrm flipV="1">
                <a:off x="7869600" y="2822400"/>
                <a:ext cx="1" cy="158400"/>
              </a:xfrm>
              <a:prstGeom prst="line">
                <a:avLst/>
              </a:prstGeom>
              <a:noFill/>
              <a:ln w="14400" cap="flat">
                <a:solidFill>
                  <a:srgbClr val="4E6540"/>
                </a:solidFill>
              </a:ln>
              <a:effectLst/>
            </p:spPr>
          </p:cxnSp>
          <p:sp>
            <p:nvSpPr>
              <p:cNvPr id="78" name="SCHEM_ellipse-0076"/>
              <p:cNvSpPr/>
              <p:nvPr/>
            </p:nvSpPr>
            <p:spPr>
              <a:xfrm>
                <a:off x="7819200" y="2757600"/>
                <a:ext cx="100800" cy="100800"/>
              </a:xfrm>
              <a:prstGeom prst="ellipse">
                <a:avLst/>
              </a:prstGeom>
              <a:solidFill>
                <a:srgbClr val="B8CA9C"/>
              </a:solidFill>
              <a:ln w="9360" cap="flat">
                <a:solidFill>
                  <a:srgbClr val="4E6540"/>
                </a:solidFill>
              </a:ln>
              <a:effectLst/>
            </p:spPr>
          </p:sp>
          <p:cxnSp>
            <p:nvCxnSpPr>
              <p:cNvPr id="79" name="SCHEM_line-0077"/>
              <p:cNvCxnSpPr/>
              <p:nvPr/>
            </p:nvCxnSpPr>
            <p:spPr>
              <a:xfrm flipV="1">
                <a:off x="8740800" y="2822400"/>
                <a:ext cx="1" cy="158400"/>
              </a:xfrm>
              <a:prstGeom prst="line">
                <a:avLst/>
              </a:prstGeom>
              <a:noFill/>
              <a:ln w="14400" cap="flat">
                <a:solidFill>
                  <a:srgbClr val="4E6540"/>
                </a:solidFill>
              </a:ln>
              <a:effectLst/>
            </p:spPr>
          </p:cxnSp>
          <p:sp>
            <p:nvSpPr>
              <p:cNvPr id="80" name="SCHEM_ellipse-0078"/>
              <p:cNvSpPr/>
              <p:nvPr/>
            </p:nvSpPr>
            <p:spPr>
              <a:xfrm>
                <a:off x="8690400" y="2757600"/>
                <a:ext cx="100800" cy="100800"/>
              </a:xfrm>
              <a:prstGeom prst="ellipse">
                <a:avLst/>
              </a:prstGeom>
              <a:solidFill>
                <a:srgbClr val="B8CA9C"/>
              </a:solidFill>
              <a:ln w="9360" cap="flat">
                <a:solidFill>
                  <a:srgbClr val="4E6540"/>
                </a:solidFill>
              </a:ln>
              <a:effectLst/>
            </p:spPr>
          </p:sp>
          <p:cxnSp>
            <p:nvCxnSpPr>
              <p:cNvPr id="81" name="SCHEM_line-0079"/>
              <p:cNvCxnSpPr/>
              <p:nvPr/>
            </p:nvCxnSpPr>
            <p:spPr>
              <a:xfrm flipV="1">
                <a:off x="9684000" y="2822400"/>
                <a:ext cx="1" cy="158400"/>
              </a:xfrm>
              <a:prstGeom prst="line">
                <a:avLst/>
              </a:prstGeom>
              <a:noFill/>
              <a:ln w="14400" cap="flat">
                <a:solidFill>
                  <a:srgbClr val="4E6540"/>
                </a:solidFill>
              </a:ln>
              <a:effectLst/>
            </p:spPr>
          </p:cxnSp>
          <p:sp>
            <p:nvSpPr>
              <p:cNvPr id="82" name="SCHEM_ellipse-0080"/>
              <p:cNvSpPr/>
              <p:nvPr/>
            </p:nvSpPr>
            <p:spPr>
              <a:xfrm>
                <a:off x="9633600" y="2757600"/>
                <a:ext cx="100800" cy="100800"/>
              </a:xfrm>
              <a:prstGeom prst="ellipse">
                <a:avLst/>
              </a:prstGeom>
              <a:solidFill>
                <a:srgbClr val="B8CA9C"/>
              </a:solidFill>
              <a:ln w="9360" cap="flat">
                <a:solidFill>
                  <a:srgbClr val="4E6540"/>
                </a:solidFill>
              </a:ln>
              <a:effectLst/>
            </p:spPr>
          </p:sp>
          <p:cxnSp>
            <p:nvCxnSpPr>
              <p:cNvPr id="83" name="SCHEM_line-0081"/>
              <p:cNvCxnSpPr/>
              <p:nvPr/>
            </p:nvCxnSpPr>
            <p:spPr>
              <a:xfrm flipV="1">
                <a:off x="9892800" y="2822400"/>
                <a:ext cx="1" cy="158400"/>
              </a:xfrm>
              <a:prstGeom prst="line">
                <a:avLst/>
              </a:prstGeom>
              <a:noFill/>
              <a:ln w="14400" cap="flat">
                <a:solidFill>
                  <a:srgbClr val="4E6540"/>
                </a:solidFill>
              </a:ln>
              <a:effectLst/>
            </p:spPr>
          </p:cxnSp>
          <p:sp>
            <p:nvSpPr>
              <p:cNvPr id="84" name="SCHEM_ellipse-0082"/>
              <p:cNvSpPr/>
              <p:nvPr/>
            </p:nvSpPr>
            <p:spPr>
              <a:xfrm>
                <a:off x="9842400" y="2757600"/>
                <a:ext cx="100800" cy="100800"/>
              </a:xfrm>
              <a:prstGeom prst="ellipse">
                <a:avLst/>
              </a:prstGeom>
              <a:solidFill>
                <a:srgbClr val="B8CA9C"/>
              </a:solidFill>
              <a:ln w="9360" cap="flat">
                <a:solidFill>
                  <a:srgbClr val="4E6540"/>
                </a:solidFill>
              </a:ln>
              <a:effectLst/>
            </p:spPr>
          </p:sp>
          <p:cxnSp>
            <p:nvCxnSpPr>
              <p:cNvPr id="85" name="SCHEM_line-0083"/>
              <p:cNvCxnSpPr/>
              <p:nvPr/>
            </p:nvCxnSpPr>
            <p:spPr>
              <a:xfrm flipV="1">
                <a:off x="10634400" y="2822400"/>
                <a:ext cx="1" cy="158400"/>
              </a:xfrm>
              <a:prstGeom prst="line">
                <a:avLst/>
              </a:prstGeom>
              <a:noFill/>
              <a:ln w="14400" cap="flat">
                <a:solidFill>
                  <a:srgbClr val="4E6540"/>
                </a:solidFill>
              </a:ln>
              <a:effectLst/>
            </p:spPr>
          </p:cxnSp>
          <p:sp>
            <p:nvSpPr>
              <p:cNvPr id="86" name="SCHEM_ellipse-0084"/>
              <p:cNvSpPr/>
              <p:nvPr/>
            </p:nvSpPr>
            <p:spPr>
              <a:xfrm>
                <a:off x="10584000" y="2757600"/>
                <a:ext cx="100800" cy="100800"/>
              </a:xfrm>
              <a:prstGeom prst="ellipse">
                <a:avLst/>
              </a:prstGeom>
              <a:solidFill>
                <a:srgbClr val="B8CA9C"/>
              </a:solidFill>
              <a:ln w="9360" cap="flat">
                <a:solidFill>
                  <a:srgbClr val="4E6540"/>
                </a:solidFill>
              </a:ln>
              <a:effectLst/>
            </p:spPr>
          </p:sp>
          <p:cxnSp>
            <p:nvCxnSpPr>
              <p:cNvPr id="87" name="SCHEM_line-0085"/>
              <p:cNvCxnSpPr/>
              <p:nvPr/>
            </p:nvCxnSpPr>
            <p:spPr>
              <a:xfrm flipV="1">
                <a:off x="8172000" y="2887200"/>
                <a:ext cx="1" cy="108000"/>
              </a:xfrm>
              <a:prstGeom prst="line">
                <a:avLst/>
              </a:prstGeom>
              <a:noFill/>
              <a:ln w="1152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88" name="SCHEM_line-0086"/>
              <p:cNvCxnSpPr/>
              <p:nvPr/>
            </p:nvCxnSpPr>
            <p:spPr>
              <a:xfrm flipV="1">
                <a:off x="9144000" y="2887200"/>
                <a:ext cx="1" cy="108000"/>
              </a:xfrm>
              <a:prstGeom prst="line">
                <a:avLst/>
              </a:prstGeom>
              <a:noFill/>
              <a:ln w="11520" cap="flat">
                <a:solidFill>
                  <a:srgbClr val="292929"/>
                </a:solidFill>
              </a:ln>
              <a:effectLst/>
            </p:spPr>
          </p:cxnSp>
          <p:cxnSp>
            <p:nvCxnSpPr>
              <p:cNvPr id="89" name="SCHEM_line-0087"/>
              <p:cNvCxnSpPr/>
              <p:nvPr/>
            </p:nvCxnSpPr>
            <p:spPr>
              <a:xfrm flipV="1">
                <a:off x="11088000" y="2887200"/>
                <a:ext cx="1" cy="108000"/>
              </a:xfrm>
              <a:prstGeom prst="line">
                <a:avLst/>
              </a:prstGeom>
              <a:noFill/>
              <a:ln w="11520" cap="flat">
                <a:solidFill>
                  <a:srgbClr val="292929"/>
                </a:solidFill>
              </a:ln>
              <a:effectLst/>
            </p:spPr>
          </p:cxnSp>
          <p:sp>
            <p:nvSpPr>
              <p:cNvPr id="90" name="SCHEM_path-0088"/>
              <p:cNvSpPr/>
              <p:nvPr/>
            </p:nvSpPr>
            <p:spPr>
              <a:xfrm>
                <a:off x="7819200" y="3002400"/>
                <a:ext cx="136800" cy="410400"/>
              </a:xfrm>
              <a:custGeom>
                <a:avLst/>
                <a:gdLst/>
                <a:ahLst/>
                <a:cxnLst/>
                <a:rect l="0" t="0" r="r" b="b"/>
                <a:pathLst>
                  <a:path w="136800" h="410400">
                    <a:moveTo>
                      <a:pt x="50400" y="0"/>
                    </a:moveTo>
                    <a:cubicBezTo>
                      <a:pt x="136800" y="86400"/>
                      <a:pt x="0" y="151200"/>
                      <a:pt x="50400" y="230400"/>
                    </a:cubicBezTo>
                    <a:cubicBezTo>
                      <a:pt x="129600" y="288000"/>
                      <a:pt x="7200" y="338400"/>
                      <a:pt x="50400" y="410400"/>
                    </a:cubicBezTo>
                  </a:path>
                </a:pathLst>
              </a:custGeom>
              <a:noFill/>
              <a:ln w="14400" cap="flat">
                <a:solidFill>
                  <a:srgbClr val="4485A9"/>
                </a:solidFill>
              </a:ln>
              <a:effectLst/>
            </p:spPr>
          </p:sp>
          <p:sp>
            <p:nvSpPr>
              <p:cNvPr id="91" name="SCHEM_ellipse-0089"/>
              <p:cNvSpPr/>
              <p:nvPr/>
            </p:nvSpPr>
            <p:spPr>
              <a:xfrm>
                <a:off x="7819200" y="3405600"/>
                <a:ext cx="100800" cy="100800"/>
              </a:xfrm>
              <a:prstGeom prst="ellipse">
                <a:avLst/>
              </a:prstGeom>
              <a:solidFill>
                <a:srgbClr val="D7968B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2" name="SCHEM_path-0090"/>
              <p:cNvSpPr/>
              <p:nvPr/>
            </p:nvSpPr>
            <p:spPr>
              <a:xfrm>
                <a:off x="8452800" y="3002400"/>
                <a:ext cx="136800" cy="410400"/>
              </a:xfrm>
              <a:custGeom>
                <a:avLst/>
                <a:gdLst/>
                <a:ahLst/>
                <a:cxnLst/>
                <a:rect l="0" t="0" r="r" b="b"/>
                <a:pathLst>
                  <a:path w="136800" h="410400">
                    <a:moveTo>
                      <a:pt x="50400" y="0"/>
                    </a:moveTo>
                    <a:cubicBezTo>
                      <a:pt x="136800" y="86400"/>
                      <a:pt x="0" y="151200"/>
                      <a:pt x="50400" y="230400"/>
                    </a:cubicBezTo>
                    <a:cubicBezTo>
                      <a:pt x="129600" y="288000"/>
                      <a:pt x="7200" y="338400"/>
                      <a:pt x="50400" y="410400"/>
                    </a:cubicBezTo>
                  </a:path>
                </a:pathLst>
              </a:custGeom>
              <a:noFill/>
              <a:ln w="14400" cap="flat">
                <a:solidFill>
                  <a:srgbClr val="4485A9"/>
                </a:solidFill>
              </a:ln>
              <a:effectLst/>
            </p:spPr>
          </p:sp>
          <p:sp>
            <p:nvSpPr>
              <p:cNvPr id="93" name="SCHEM_ellipse-0091"/>
              <p:cNvSpPr/>
              <p:nvPr/>
            </p:nvSpPr>
            <p:spPr>
              <a:xfrm>
                <a:off x="8452800" y="3405600"/>
                <a:ext cx="100800" cy="100800"/>
              </a:xfrm>
              <a:prstGeom prst="ellipse">
                <a:avLst/>
              </a:prstGeom>
              <a:solidFill>
                <a:srgbClr val="D7968B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4" name="SCHEM_path-0092"/>
              <p:cNvSpPr/>
              <p:nvPr/>
            </p:nvSpPr>
            <p:spPr>
              <a:xfrm>
                <a:off x="9345600" y="3002400"/>
                <a:ext cx="136800" cy="410400"/>
              </a:xfrm>
              <a:custGeom>
                <a:avLst/>
                <a:gdLst/>
                <a:ahLst/>
                <a:cxnLst/>
                <a:rect l="0" t="0" r="r" b="b"/>
                <a:pathLst>
                  <a:path w="136800" h="410400">
                    <a:moveTo>
                      <a:pt x="50400" y="0"/>
                    </a:moveTo>
                    <a:cubicBezTo>
                      <a:pt x="136800" y="86400"/>
                      <a:pt x="0" y="151200"/>
                      <a:pt x="50400" y="230400"/>
                    </a:cubicBezTo>
                    <a:cubicBezTo>
                      <a:pt x="129600" y="288000"/>
                      <a:pt x="7200" y="338400"/>
                      <a:pt x="50400" y="410400"/>
                    </a:cubicBezTo>
                  </a:path>
                </a:pathLst>
              </a:custGeom>
              <a:noFill/>
              <a:ln w="14400" cap="flat">
                <a:solidFill>
                  <a:srgbClr val="4485A9"/>
                </a:solidFill>
              </a:ln>
              <a:effectLst/>
            </p:spPr>
          </p:sp>
          <p:sp>
            <p:nvSpPr>
              <p:cNvPr id="95" name="SCHEM_ellipse-0093"/>
              <p:cNvSpPr/>
              <p:nvPr/>
            </p:nvSpPr>
            <p:spPr>
              <a:xfrm>
                <a:off x="9345600" y="3405600"/>
                <a:ext cx="100800" cy="100800"/>
              </a:xfrm>
              <a:prstGeom prst="ellipse">
                <a:avLst/>
              </a:prstGeom>
              <a:solidFill>
                <a:srgbClr val="D7968B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96" name="SCHEM_path-0094"/>
              <p:cNvSpPr/>
              <p:nvPr/>
            </p:nvSpPr>
            <p:spPr>
              <a:xfrm>
                <a:off x="10108800" y="3002400"/>
                <a:ext cx="136800" cy="410400"/>
              </a:xfrm>
              <a:custGeom>
                <a:avLst/>
                <a:gdLst/>
                <a:ahLst/>
                <a:cxnLst/>
                <a:rect l="0" t="0" r="r" b="b"/>
                <a:pathLst>
                  <a:path w="136800" h="410400">
                    <a:moveTo>
                      <a:pt x="50400" y="0"/>
                    </a:moveTo>
                    <a:cubicBezTo>
                      <a:pt x="136800" y="86400"/>
                      <a:pt x="0" y="151200"/>
                      <a:pt x="50400" y="230400"/>
                    </a:cubicBezTo>
                    <a:cubicBezTo>
                      <a:pt x="129600" y="288000"/>
                      <a:pt x="7200" y="338400"/>
                      <a:pt x="50400" y="410400"/>
                    </a:cubicBezTo>
                  </a:path>
                </a:pathLst>
              </a:custGeom>
              <a:noFill/>
              <a:ln w="14400" cap="flat">
                <a:solidFill>
                  <a:srgbClr val="4485A9"/>
                </a:solidFill>
              </a:ln>
              <a:effectLst/>
            </p:spPr>
          </p:sp>
          <p:sp>
            <p:nvSpPr>
              <p:cNvPr id="97" name="SCHEM_ellipse-0095"/>
              <p:cNvSpPr/>
              <p:nvPr/>
            </p:nvSpPr>
            <p:spPr>
              <a:xfrm>
                <a:off x="10108800" y="3405600"/>
                <a:ext cx="100800" cy="100800"/>
              </a:xfrm>
              <a:prstGeom prst="ellipse">
                <a:avLst/>
              </a:prstGeom>
              <a:solidFill>
                <a:srgbClr val="D7968B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cxnSp>
            <p:nvCxnSpPr>
              <p:cNvPr id="98" name="SCHEM_line-0096"/>
              <p:cNvCxnSpPr/>
              <p:nvPr/>
            </p:nvCxnSpPr>
            <p:spPr>
              <a:xfrm flipV="1">
                <a:off x="9295200" y="2066400"/>
                <a:ext cx="1" cy="1000800"/>
              </a:xfrm>
              <a:prstGeom prst="line">
                <a:avLst/>
              </a:prstGeom>
              <a:noFill/>
              <a:ln w="57600" cap="flat">
                <a:solidFill>
                  <a:srgbClr val="6CAAC7"/>
                </a:solidFill>
                <a:tailEnd type="triangle" w="med" len="med"/>
              </a:ln>
              <a:effectLst/>
            </p:spPr>
          </p:cxnSp>
          <p:sp>
            <p:nvSpPr>
              <p:cNvPr id="99" name="SCHEM_polygon-0097"/>
              <p:cNvSpPr/>
              <p:nvPr/>
            </p:nvSpPr>
            <p:spPr>
              <a:xfrm>
                <a:off x="8078400" y="4201975"/>
                <a:ext cx="172800" cy="149649"/>
              </a:xfrm>
              <a:custGeom>
                <a:avLst/>
                <a:gdLst/>
                <a:ahLst/>
                <a:cxnLst/>
                <a:rect l="0" t="0" r="r" b="b"/>
                <a:pathLst>
                  <a:path w="172800" h="149649">
                    <a:moveTo>
                      <a:pt x="172800" y="74825"/>
                    </a:moveTo>
                    <a:lnTo>
                      <a:pt x="102861" y="84329"/>
                    </a:lnTo>
                    <a:lnTo>
                      <a:pt x="129600" y="149649"/>
                    </a:lnTo>
                    <a:lnTo>
                      <a:pt x="86400" y="93833"/>
                    </a:lnTo>
                    <a:lnTo>
                      <a:pt x="43200" y="149649"/>
                    </a:lnTo>
                    <a:lnTo>
                      <a:pt x="69939" y="84329"/>
                    </a:lnTo>
                    <a:lnTo>
                      <a:pt x="0" y="74825"/>
                    </a:lnTo>
                    <a:lnTo>
                      <a:pt x="69939" y="65321"/>
                    </a:lnTo>
                    <a:lnTo>
                      <a:pt x="43200" y="0"/>
                    </a:lnTo>
                    <a:lnTo>
                      <a:pt x="86400" y="55817"/>
                    </a:lnTo>
                    <a:lnTo>
                      <a:pt x="129600" y="0"/>
                    </a:lnTo>
                    <a:lnTo>
                      <a:pt x="102861" y="65321"/>
                    </a:lnTo>
                    <a:close/>
                  </a:path>
                </a:pathLst>
              </a:custGeom>
              <a:solidFill>
                <a:srgbClr val="CE8179"/>
              </a:solidFill>
              <a:ln w="9360" cap="flat">
                <a:noFill/>
              </a:ln>
              <a:effectLst/>
            </p:spPr>
          </p:sp>
          <p:cxnSp>
            <p:nvCxnSpPr>
              <p:cNvPr id="100" name="SCHEM_line-0098"/>
              <p:cNvCxnSpPr/>
              <p:nvPr/>
            </p:nvCxnSpPr>
            <p:spPr>
              <a:xfrm>
                <a:off x="8092800" y="4176000"/>
                <a:ext cx="144000" cy="194400"/>
              </a:xfrm>
              <a:prstGeom prst="line">
                <a:avLst/>
              </a:prstGeom>
              <a:noFill/>
              <a:ln w="10080" cap="flat">
                <a:solidFill>
                  <a:srgbClr val="6D6C67"/>
                </a:solidFill>
              </a:ln>
              <a:effectLst/>
            </p:spPr>
          </p:cxnSp>
          <p:cxnSp>
            <p:nvCxnSpPr>
              <p:cNvPr id="101" name="SCHEM_line-0099"/>
              <p:cNvCxnSpPr/>
              <p:nvPr/>
            </p:nvCxnSpPr>
            <p:spPr>
              <a:xfrm flipH="1">
                <a:off x="8092800" y="4190400"/>
                <a:ext cx="136800" cy="172800"/>
              </a:xfrm>
              <a:prstGeom prst="line">
                <a:avLst/>
              </a:prstGeom>
              <a:noFill/>
              <a:ln w="10080" cap="flat">
                <a:solidFill>
                  <a:srgbClr val="6D6C67"/>
                </a:solidFill>
              </a:ln>
              <a:effectLst/>
            </p:spPr>
          </p:cxnSp>
          <p:sp>
            <p:nvSpPr>
              <p:cNvPr id="102" name="SCHEM_polygon-0100"/>
              <p:cNvSpPr/>
              <p:nvPr/>
            </p:nvSpPr>
            <p:spPr>
              <a:xfrm>
                <a:off x="10368000" y="4201975"/>
                <a:ext cx="172800" cy="149649"/>
              </a:xfrm>
              <a:custGeom>
                <a:avLst/>
                <a:gdLst/>
                <a:ahLst/>
                <a:cxnLst/>
                <a:rect l="0" t="0" r="r" b="b"/>
                <a:pathLst>
                  <a:path w="172800" h="149649">
                    <a:moveTo>
                      <a:pt x="172800" y="74825"/>
                    </a:moveTo>
                    <a:lnTo>
                      <a:pt x="102861" y="84329"/>
                    </a:lnTo>
                    <a:lnTo>
                      <a:pt x="129600" y="149649"/>
                    </a:lnTo>
                    <a:lnTo>
                      <a:pt x="86400" y="93833"/>
                    </a:lnTo>
                    <a:lnTo>
                      <a:pt x="43200" y="149649"/>
                    </a:lnTo>
                    <a:lnTo>
                      <a:pt x="69939" y="84329"/>
                    </a:lnTo>
                    <a:lnTo>
                      <a:pt x="0" y="74825"/>
                    </a:lnTo>
                    <a:lnTo>
                      <a:pt x="69939" y="65321"/>
                    </a:lnTo>
                    <a:lnTo>
                      <a:pt x="43200" y="0"/>
                    </a:lnTo>
                    <a:lnTo>
                      <a:pt x="86400" y="55817"/>
                    </a:lnTo>
                    <a:lnTo>
                      <a:pt x="129600" y="0"/>
                    </a:lnTo>
                    <a:lnTo>
                      <a:pt x="102861" y="65321"/>
                    </a:lnTo>
                    <a:close/>
                  </a:path>
                </a:pathLst>
              </a:custGeom>
              <a:solidFill>
                <a:srgbClr val="CE8179"/>
              </a:solidFill>
              <a:ln w="9360" cap="flat">
                <a:noFill/>
              </a:ln>
              <a:effectLst/>
            </p:spPr>
          </p:sp>
          <p:cxnSp>
            <p:nvCxnSpPr>
              <p:cNvPr id="103" name="SCHEM_line-0101"/>
              <p:cNvCxnSpPr/>
              <p:nvPr/>
            </p:nvCxnSpPr>
            <p:spPr>
              <a:xfrm>
                <a:off x="10382400" y="4176000"/>
                <a:ext cx="144000" cy="194400"/>
              </a:xfrm>
              <a:prstGeom prst="line">
                <a:avLst/>
              </a:prstGeom>
              <a:noFill/>
              <a:ln w="10080" cap="flat">
                <a:solidFill>
                  <a:srgbClr val="6D6C67"/>
                </a:solidFill>
              </a:ln>
              <a:effectLst/>
            </p:spPr>
          </p:cxnSp>
          <p:cxnSp>
            <p:nvCxnSpPr>
              <p:cNvPr id="104" name="SCHEM_line-0102"/>
              <p:cNvCxnSpPr/>
              <p:nvPr/>
            </p:nvCxnSpPr>
            <p:spPr>
              <a:xfrm flipH="1">
                <a:off x="10382400" y="4190400"/>
                <a:ext cx="136800" cy="172800"/>
              </a:xfrm>
              <a:prstGeom prst="line">
                <a:avLst/>
              </a:prstGeom>
              <a:noFill/>
              <a:ln w="10080" cap="flat">
                <a:solidFill>
                  <a:srgbClr val="6D6C67"/>
                </a:solidFill>
              </a:ln>
              <a:effectLst/>
            </p:spPr>
          </p:cxnSp>
          <p:sp>
            <p:nvSpPr>
              <p:cNvPr id="105" name="SCHEM_ellipse-0103"/>
              <p:cNvSpPr/>
              <p:nvPr/>
            </p:nvSpPr>
            <p:spPr>
              <a:xfrm>
                <a:off x="7869600" y="4327200"/>
                <a:ext cx="79200" cy="79200"/>
              </a:xfrm>
              <a:prstGeom prst="ellipse">
                <a:avLst/>
              </a:prstGeom>
              <a:solidFill>
                <a:srgbClr val="9DA7A7"/>
              </a:solidFill>
              <a:ln w="7200" cap="flat">
                <a:solidFill>
                  <a:srgbClr val="292929"/>
                </a:solidFill>
              </a:ln>
              <a:effectLst/>
            </p:spPr>
          </p:sp>
          <p:sp>
            <p:nvSpPr>
              <p:cNvPr id="106" name="SCHEM_ellipse-0104"/>
              <p:cNvSpPr/>
              <p:nvPr/>
            </p:nvSpPr>
            <p:spPr>
              <a:xfrm>
                <a:off x="10627200" y="4363200"/>
                <a:ext cx="79200" cy="79200"/>
              </a:xfrm>
              <a:prstGeom prst="ellipse">
                <a:avLst/>
              </a:prstGeom>
              <a:solidFill>
                <a:srgbClr val="9DA7A7"/>
              </a:solidFill>
              <a:ln w="7200" cap="flat">
                <a:solidFill>
                  <a:srgbClr val="292929"/>
                </a:solidFill>
              </a:ln>
              <a:effectLst/>
            </p:spPr>
          </p:sp>
        </p:grpSp>
        <p:sp>
          <p:nvSpPr>
            <p:cNvPr id="107" name="SCHEM_text-0105"/>
            <p:cNvSpPr txBox="1"/>
            <p:nvPr/>
          </p:nvSpPr>
          <p:spPr>
            <a:xfrm>
              <a:off x="8056800" y="2088000"/>
              <a:ext cx="936000" cy="29844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53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C₆₀</a:t>
              </a:r>
              <a:endParaRPr lang="en-US" sz="1531"/>
            </a:p>
          </p:txBody>
        </p:sp>
        <p:sp>
          <p:nvSpPr>
            <p:cNvPr id="108" name="SCHEM_text-0106"/>
            <p:cNvSpPr txBox="1"/>
            <p:nvPr/>
          </p:nvSpPr>
          <p:spPr>
            <a:xfrm>
              <a:off x="9547200" y="1936800"/>
              <a:ext cx="1656000" cy="5025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Electron</a:t>
              </a:r>
              <a:endParaRPr lang="en-US" sz="1361"/>
            </a:p>
            <a:p>
              <a:pPr algn="l">
                <a:buNone/>
              </a:pPr>
              <a:r>
                <a:rPr lang="en-US" sz="136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extraction</a:t>
              </a:r>
              <a:endParaRPr lang="en-US" sz="1361"/>
            </a:p>
          </p:txBody>
        </p:sp>
        <p:sp>
          <p:nvSpPr>
            <p:cNvPr id="109" name="SCHEM_rect-0107"/>
            <p:cNvSpPr/>
            <p:nvPr/>
          </p:nvSpPr>
          <p:spPr>
            <a:xfrm>
              <a:off x="10404000" y="2304000"/>
              <a:ext cx="885600" cy="453600"/>
            </a:xfrm>
            <a:prstGeom prst="rect">
              <a:avLst/>
            </a:prstGeom>
            <a:solidFill>
              <a:srgbClr val="D9E4C8"/>
            </a:solidFill>
            <a:ln w="5760" cap="flat">
              <a:solidFill>
                <a:srgbClr val="83956E"/>
              </a:solidFill>
            </a:ln>
            <a:effectLst/>
          </p:spPr>
        </p:sp>
        <p:sp>
          <p:nvSpPr>
            <p:cNvPr id="110" name="SCHEM_text-0108"/>
            <p:cNvSpPr txBox="1"/>
            <p:nvPr/>
          </p:nvSpPr>
          <p:spPr>
            <a:xfrm>
              <a:off x="10490400" y="2354400"/>
              <a:ext cx="7920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Surface</a:t>
              </a:r>
              <a:endParaRPr lang="en-US" sz="1247"/>
            </a:p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passivation</a:t>
              </a:r>
              <a:endParaRPr lang="en-US" sz="1247"/>
            </a:p>
          </p:txBody>
        </p:sp>
        <p:cxnSp>
          <p:nvCxnSpPr>
            <p:cNvPr id="111" name="SCHEM_line-0109"/>
            <p:cNvCxnSpPr/>
            <p:nvPr/>
          </p:nvCxnSpPr>
          <p:spPr>
            <a:xfrm flipH="1">
              <a:off x="9892800" y="2548800"/>
              <a:ext cx="504000" cy="3672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  <a:tailEnd type="triangle" w="med" len="med"/>
            </a:ln>
            <a:effectLst/>
          </p:spPr>
        </p:cxnSp>
        <p:sp>
          <p:nvSpPr>
            <p:cNvPr id="112" name="SCHEM_rect-0110"/>
            <p:cNvSpPr/>
            <p:nvPr/>
          </p:nvSpPr>
          <p:spPr>
            <a:xfrm>
              <a:off x="10440000" y="3276000"/>
              <a:ext cx="849600" cy="453600"/>
            </a:xfrm>
            <a:prstGeom prst="rect">
              <a:avLst/>
            </a:prstGeom>
            <a:solidFill>
              <a:srgbClr val="EFC6BB"/>
            </a:solidFill>
            <a:ln w="5760" cap="flat">
              <a:solidFill>
                <a:srgbClr val="A78277"/>
              </a:solidFill>
            </a:ln>
            <a:effectLst/>
          </p:spPr>
        </p:sp>
        <p:sp>
          <p:nvSpPr>
            <p:cNvPr id="113" name="SCHEM_text-0111"/>
            <p:cNvSpPr txBox="1"/>
            <p:nvPr/>
          </p:nvSpPr>
          <p:spPr>
            <a:xfrm>
              <a:off x="10504800" y="3326400"/>
              <a:ext cx="770400" cy="46368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Interface</a:t>
              </a:r>
              <a:endParaRPr lang="en-US" sz="1247"/>
            </a:p>
            <a:p>
              <a:pPr algn="l">
                <a:buNone/>
              </a:pPr>
              <a:r>
                <a:rPr lang="en-US" sz="124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passivation</a:t>
              </a:r>
              <a:endParaRPr lang="en-US" sz="1247"/>
            </a:p>
          </p:txBody>
        </p:sp>
        <p:cxnSp>
          <p:nvCxnSpPr>
            <p:cNvPr id="114" name="SCHEM_line-0112"/>
            <p:cNvCxnSpPr/>
            <p:nvPr/>
          </p:nvCxnSpPr>
          <p:spPr>
            <a:xfrm flipH="1" flipV="1">
              <a:off x="10166400" y="3247200"/>
              <a:ext cx="273600" cy="201600"/>
            </a:xfrm>
            <a:prstGeom prst="line">
              <a:avLst/>
            </a:prstGeom>
            <a:noFill/>
            <a:ln w="12960" cap="flat">
              <a:solidFill>
                <a:srgbClr val="292929"/>
              </a:solidFill>
            </a:ln>
            <a:effectLst/>
          </p:spPr>
        </p:cxnSp>
        <p:sp>
          <p:nvSpPr>
            <p:cNvPr id="115" name="SCHEM_ellipse-0113"/>
            <p:cNvSpPr/>
            <p:nvPr/>
          </p:nvSpPr>
          <p:spPr>
            <a:xfrm>
              <a:off x="10144800" y="3225600"/>
              <a:ext cx="43200" cy="43200"/>
            </a:xfrm>
            <a:prstGeom prst="ellipse">
              <a:avLst/>
            </a:prstGeom>
            <a:solidFill>
              <a:srgbClr val="292929"/>
            </a:solidFill>
            <a:ln w="9360" cap="flat">
              <a:noFill/>
            </a:ln>
            <a:effectLst/>
          </p:spPr>
        </p:sp>
        <p:sp>
          <p:nvSpPr>
            <p:cNvPr id="116" name="SCHEM_text-0114"/>
            <p:cNvSpPr txBox="1"/>
            <p:nvPr/>
          </p:nvSpPr>
          <p:spPr>
            <a:xfrm>
              <a:off x="8618400" y="3751200"/>
              <a:ext cx="2448000" cy="2887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474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Perovskite absorber</a:t>
              </a:r>
              <a:endParaRPr lang="en-US" sz="1474"/>
            </a:p>
          </p:txBody>
        </p:sp>
        <p:sp>
          <p:nvSpPr>
            <p:cNvPr id="117" name="SCHEM_text-0115"/>
            <p:cNvSpPr txBox="1"/>
            <p:nvPr/>
          </p:nvSpPr>
          <p:spPr>
            <a:xfrm>
              <a:off x="8640000" y="4140000"/>
              <a:ext cx="1670400" cy="40536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ctr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Reduced interfacial</a:t>
              </a:r>
              <a:endParaRPr lang="en-US" sz="1077"/>
            </a:p>
            <a:p>
              <a:pPr algn="ctr">
                <a:buNone/>
              </a:pPr>
              <a:r>
                <a:rPr lang="en-US" sz="1077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recombination</a:t>
              </a:r>
              <a:endParaRPr lang="en-US" sz="1077"/>
            </a:p>
          </p:txBody>
        </p:sp>
        <p:sp>
          <p:nvSpPr>
            <p:cNvPr id="118" name="SCHEM_path-0116"/>
            <p:cNvSpPr/>
            <p:nvPr/>
          </p:nvSpPr>
          <p:spPr>
            <a:xfrm>
              <a:off x="8294400" y="4384800"/>
              <a:ext cx="352800" cy="208800"/>
            </a:xfrm>
            <a:custGeom>
              <a:avLst/>
              <a:gdLst/>
              <a:ahLst/>
              <a:cxnLst/>
              <a:rect l="0" t="0" r="r" b="b"/>
              <a:pathLst>
                <a:path w="352800" h="208800">
                  <a:moveTo>
                    <a:pt x="0" y="0"/>
                  </a:moveTo>
                  <a:cubicBezTo>
                    <a:pt x="79200" y="79200"/>
                    <a:pt x="216000" y="172800"/>
                    <a:pt x="352800" y="208800"/>
                  </a:cubicBezTo>
                </a:path>
              </a:pathLst>
            </a:custGeom>
            <a:noFill/>
            <a:ln w="10080" cap="flat">
              <a:solidFill>
                <a:srgbClr val="292929"/>
              </a:solidFill>
              <a:prstDash val="dash"/>
            </a:ln>
            <a:effectLst/>
          </p:spPr>
        </p:sp>
        <p:cxnSp>
          <p:nvCxnSpPr>
            <p:cNvPr id="119" name="SCHEM_line-0117"/>
            <p:cNvCxnSpPr/>
            <p:nvPr/>
          </p:nvCxnSpPr>
          <p:spPr>
            <a:xfrm>
              <a:off x="8589600" y="4564800"/>
              <a:ext cx="57600" cy="28800"/>
            </a:xfrm>
            <a:prstGeom prst="line">
              <a:avLst/>
            </a:prstGeom>
            <a:noFill/>
            <a:ln w="12240" cap="flat">
              <a:solidFill>
                <a:srgbClr val="292929"/>
              </a:solidFill>
              <a:tailEnd type="triangle" w="med" len="med"/>
            </a:ln>
            <a:effectLst/>
          </p:spPr>
        </p:cxnSp>
        <p:sp>
          <p:nvSpPr>
            <p:cNvPr id="120" name="SCHEM_path-0118"/>
            <p:cNvSpPr/>
            <p:nvPr/>
          </p:nvSpPr>
          <p:spPr>
            <a:xfrm>
              <a:off x="10036800" y="4392000"/>
              <a:ext cx="338400" cy="201600"/>
            </a:xfrm>
            <a:custGeom>
              <a:avLst/>
              <a:gdLst/>
              <a:ahLst/>
              <a:cxnLst/>
              <a:rect l="0" t="0" r="r" b="b"/>
              <a:pathLst>
                <a:path w="338400" h="201600">
                  <a:moveTo>
                    <a:pt x="338400" y="0"/>
                  </a:moveTo>
                  <a:cubicBezTo>
                    <a:pt x="244800" y="79200"/>
                    <a:pt x="108000" y="165600"/>
                    <a:pt x="0" y="201600"/>
                  </a:cubicBezTo>
                </a:path>
              </a:pathLst>
            </a:custGeom>
            <a:noFill/>
            <a:ln w="10080" cap="flat">
              <a:solidFill>
                <a:srgbClr val="292929"/>
              </a:solidFill>
              <a:prstDash val="dash"/>
            </a:ln>
            <a:effectLst/>
          </p:spPr>
        </p:sp>
        <p:cxnSp>
          <p:nvCxnSpPr>
            <p:cNvPr id="121" name="SCHEM_line-0119"/>
            <p:cNvCxnSpPr/>
            <p:nvPr/>
          </p:nvCxnSpPr>
          <p:spPr>
            <a:xfrm flipH="1">
              <a:off x="10036800" y="4564800"/>
              <a:ext cx="57600" cy="28800"/>
            </a:xfrm>
            <a:prstGeom prst="line">
              <a:avLst/>
            </a:prstGeom>
            <a:noFill/>
            <a:ln w="12240" cap="flat">
              <a:solidFill>
                <a:srgbClr val="292929"/>
              </a:solidFill>
              <a:tailEnd type="triangle" w="med" len="med"/>
            </a:ln>
            <a:effectLst/>
          </p:spPr>
        </p:cxnSp>
        <p:sp>
          <p:nvSpPr>
            <p:cNvPr id="122" name="SCHEM_text-0120"/>
            <p:cNvSpPr txBox="1"/>
            <p:nvPr/>
          </p:nvSpPr>
          <p:spPr>
            <a:xfrm>
              <a:off x="2800800" y="6184800"/>
              <a:ext cx="8632800" cy="240120"/>
            </a:xfrm>
            <a:prstGeom prst="rect">
              <a:avLst/>
            </a:prstGeom>
            <a:noFill/>
            <a:ln w="8255" cap="flat">
              <a:noFill/>
            </a:ln>
            <a:effectLst/>
          </p:spPr>
          <p:txBody>
            <a:bodyPr wrap="square" lIns="0" rIns="0" tIns="0" bIns="0" anchor="t">
              <a:noAutofit/>
            </a:bodyPr>
            <a:lstStyle/>
            <a:p>
              <a:pPr algn="l">
                <a:buNone/>
              </a:pPr>
              <a:r>
                <a:rPr lang="en-US" sz="1191">
                  <a:solidFill>
                    <a:srgbClr val="292929"/>
                  </a:solidFill>
                  <a:latin typeface="Times New Roman"/>
                  <a:ea typeface="Times New Roman"/>
                  <a:cs typeface="Times New Roman"/>
                </a:rPr>
                <a:t>Nature Communications (2025) | doi:10.1038/s41467-025-63673-y | Conceptual; not to scale.</a:t>
              </a:r>
              <a:endParaRPr lang="en-US" sz="1191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cientific">
  <a:themeElements>
    <a:clrScheme name="Scientific">
      <a:dk1>
        <a:srgbClr val="202020"/>
      </a:dk1>
      <a:lt1>
        <a:srgbClr val="FFFFFF"/>
      </a:lt1>
      <a:dk2>
        <a:srgbClr val="505050"/>
      </a:dk2>
      <a:lt2>
        <a:srgbClr val="EEEEEE"/>
      </a:lt2>
      <a:accent1>
        <a:srgbClr val="159DDD"/>
      </a:accent1>
      <a:accent2>
        <a:srgbClr val="E04746"/>
      </a:accent2>
      <a:accent3>
        <a:srgbClr val="AAB568"/>
      </a:accent3>
      <a:accent4>
        <a:srgbClr val="DDE5C8"/>
      </a:accent4>
      <a:accent5>
        <a:srgbClr val="999999"/>
      </a:accent5>
      <a:accent6>
        <a:srgbClr val="777777"/>
      </a:accent6>
      <a:hlink>
        <a:srgbClr val="0563C1"/>
      </a:hlink>
      <a:folHlink>
        <a:srgbClr val="954F72"/>
      </a:folHlink>
    </a:clrScheme>
    <a:fontScheme name="Scientific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Scientif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