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72000" y="100800"/>
            <a:ext cx="11433600" cy="6367320"/>
            <a:chOff x="72000" y="100800"/>
            <a:chExt cx="11433600" cy="636732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94400" y="100800"/>
              <a:ext cx="8496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Sequential snap-back in viscoelastic kirigami</a:t>
              </a:r>
              <a:endParaRPr lang="en-US" sz="2211"/>
            </a:p>
          </p:txBody>
        </p:sp>
        <p:grpSp>
          <p:nvGrpSpPr>
            <p:cNvPr id="4" name="SCHEM_slotted-sheet"/>
            <p:cNvGrpSpPr/>
            <p:nvPr/>
          </p:nvGrpSpPr>
          <p:grpSpPr>
            <a:xfrm>
              <a:off x="208800" y="813600"/>
              <a:ext cx="4312800" cy="1087200"/>
              <a:chOff x="208800" y="813600"/>
              <a:chExt cx="4312800" cy="1087200"/>
            </a:xfrm>
          </p:grpSpPr>
          <p:sp>
            <p:nvSpPr>
              <p:cNvPr id="5" name="SCHEM_polygon-0003"/>
              <p:cNvSpPr/>
              <p:nvPr/>
            </p:nvSpPr>
            <p:spPr>
              <a:xfrm>
                <a:off x="669600" y="813600"/>
                <a:ext cx="3420000" cy="1087200"/>
              </a:xfrm>
              <a:custGeom>
                <a:avLst/>
                <a:gdLst/>
                <a:ahLst/>
                <a:cxnLst/>
                <a:rect l="0" t="0" r="r" b="b"/>
                <a:pathLst>
                  <a:path w="3420000" h="1087200">
                    <a:moveTo>
                      <a:pt x="288000" y="0"/>
                    </a:moveTo>
                    <a:lnTo>
                      <a:pt x="3117600" y="0"/>
                    </a:lnTo>
                    <a:lnTo>
                      <a:pt x="3420000" y="1087200"/>
                    </a:lnTo>
                    <a:lnTo>
                      <a:pt x="0" y="1087200"/>
                    </a:lnTo>
                    <a:close/>
                  </a:path>
                </a:pathLst>
              </a:custGeom>
              <a:solidFill>
                <a:srgbClr val="E2E2DE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polygon-0004"/>
              <p:cNvSpPr/>
              <p:nvPr/>
            </p:nvSpPr>
            <p:spPr>
              <a:xfrm>
                <a:off x="9720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7" name="SCHEM_line-0005"/>
              <p:cNvCxnSpPr/>
              <p:nvPr/>
            </p:nvCxnSpPr>
            <p:spPr>
              <a:xfrm>
                <a:off x="9936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8" name="SCHEM_polygon-0006"/>
              <p:cNvSpPr/>
              <p:nvPr/>
            </p:nvSpPr>
            <p:spPr>
              <a:xfrm>
                <a:off x="17496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" name="SCHEM_line-0007"/>
              <p:cNvCxnSpPr/>
              <p:nvPr/>
            </p:nvCxnSpPr>
            <p:spPr>
              <a:xfrm>
                <a:off x="17712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0" name="SCHEM_polygon-0008"/>
              <p:cNvSpPr/>
              <p:nvPr/>
            </p:nvSpPr>
            <p:spPr>
              <a:xfrm>
                <a:off x="25272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1" name="SCHEM_line-0009"/>
              <p:cNvCxnSpPr/>
              <p:nvPr/>
            </p:nvCxnSpPr>
            <p:spPr>
              <a:xfrm>
                <a:off x="25488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2" name="SCHEM_polygon-0010"/>
              <p:cNvSpPr/>
              <p:nvPr/>
            </p:nvSpPr>
            <p:spPr>
              <a:xfrm>
                <a:off x="33048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" name="SCHEM_line-0011"/>
              <p:cNvCxnSpPr/>
              <p:nvPr/>
            </p:nvCxnSpPr>
            <p:spPr>
              <a:xfrm>
                <a:off x="33264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4" name="SCHEM_polygon-0012"/>
              <p:cNvSpPr/>
              <p:nvPr/>
            </p:nvSpPr>
            <p:spPr>
              <a:xfrm>
                <a:off x="9372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" name="SCHEM_line-0013"/>
              <p:cNvCxnSpPr/>
              <p:nvPr/>
            </p:nvCxnSpPr>
            <p:spPr>
              <a:xfrm>
                <a:off x="9588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6" name="SCHEM_polygon-0014"/>
              <p:cNvSpPr/>
              <p:nvPr/>
            </p:nvSpPr>
            <p:spPr>
              <a:xfrm>
                <a:off x="17196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7" name="SCHEM_line-0015"/>
              <p:cNvCxnSpPr/>
              <p:nvPr/>
            </p:nvCxnSpPr>
            <p:spPr>
              <a:xfrm>
                <a:off x="17412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8" name="SCHEM_polygon-0016"/>
              <p:cNvSpPr/>
              <p:nvPr/>
            </p:nvSpPr>
            <p:spPr>
              <a:xfrm>
                <a:off x="25020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9" name="SCHEM_line-0017"/>
              <p:cNvCxnSpPr/>
              <p:nvPr/>
            </p:nvCxnSpPr>
            <p:spPr>
              <a:xfrm>
                <a:off x="25236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0" name="SCHEM_polygon-0018"/>
              <p:cNvSpPr/>
              <p:nvPr/>
            </p:nvSpPr>
            <p:spPr>
              <a:xfrm>
                <a:off x="32844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1" name="SCHEM_line-0019"/>
              <p:cNvCxnSpPr/>
              <p:nvPr/>
            </p:nvCxnSpPr>
            <p:spPr>
              <a:xfrm>
                <a:off x="33060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2" name="SCHEM_polygon-0020"/>
              <p:cNvSpPr/>
              <p:nvPr/>
            </p:nvSpPr>
            <p:spPr>
              <a:xfrm>
                <a:off x="9024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3" name="SCHEM_line-0021"/>
              <p:cNvCxnSpPr/>
              <p:nvPr/>
            </p:nvCxnSpPr>
            <p:spPr>
              <a:xfrm>
                <a:off x="9240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4" name="SCHEM_polygon-0022"/>
              <p:cNvSpPr/>
              <p:nvPr/>
            </p:nvSpPr>
            <p:spPr>
              <a:xfrm>
                <a:off x="16896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5" name="SCHEM_line-0023"/>
              <p:cNvCxnSpPr/>
              <p:nvPr/>
            </p:nvCxnSpPr>
            <p:spPr>
              <a:xfrm>
                <a:off x="17112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6" name="SCHEM_polygon-0024"/>
              <p:cNvSpPr/>
              <p:nvPr/>
            </p:nvSpPr>
            <p:spPr>
              <a:xfrm>
                <a:off x="24768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7" name="SCHEM_line-0025"/>
              <p:cNvCxnSpPr/>
              <p:nvPr/>
            </p:nvCxnSpPr>
            <p:spPr>
              <a:xfrm>
                <a:off x="24984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8" name="SCHEM_polygon-0026"/>
              <p:cNvSpPr/>
              <p:nvPr/>
            </p:nvSpPr>
            <p:spPr>
              <a:xfrm>
                <a:off x="32640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9" name="SCHEM_line-0027"/>
              <p:cNvCxnSpPr/>
              <p:nvPr/>
            </p:nvCxnSpPr>
            <p:spPr>
              <a:xfrm>
                <a:off x="32856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0" name="SCHEM_polygon-0028"/>
              <p:cNvSpPr/>
              <p:nvPr/>
            </p:nvSpPr>
            <p:spPr>
              <a:xfrm>
                <a:off x="867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1" name="SCHEM_line-0029"/>
              <p:cNvCxnSpPr/>
              <p:nvPr/>
            </p:nvCxnSpPr>
            <p:spPr>
              <a:xfrm>
                <a:off x="889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2" name="SCHEM_polygon-0030"/>
              <p:cNvSpPr/>
              <p:nvPr/>
            </p:nvSpPr>
            <p:spPr>
              <a:xfrm>
                <a:off x="1659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" name="SCHEM_line-0031"/>
              <p:cNvCxnSpPr/>
              <p:nvPr/>
            </p:nvCxnSpPr>
            <p:spPr>
              <a:xfrm>
                <a:off x="1681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4" name="SCHEM_polygon-0032"/>
              <p:cNvSpPr/>
              <p:nvPr/>
            </p:nvSpPr>
            <p:spPr>
              <a:xfrm>
                <a:off x="2451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5" name="SCHEM_line-0033"/>
              <p:cNvCxnSpPr/>
              <p:nvPr/>
            </p:nvCxnSpPr>
            <p:spPr>
              <a:xfrm>
                <a:off x="2473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6" name="SCHEM_polygon-0034"/>
              <p:cNvSpPr/>
              <p:nvPr/>
            </p:nvSpPr>
            <p:spPr>
              <a:xfrm>
                <a:off x="3243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7" name="SCHEM_line-0035"/>
              <p:cNvCxnSpPr/>
              <p:nvPr/>
            </p:nvCxnSpPr>
            <p:spPr>
              <a:xfrm>
                <a:off x="3265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8" name="SCHEM_polygon-0036"/>
              <p:cNvSpPr/>
              <p:nvPr/>
            </p:nvSpPr>
            <p:spPr>
              <a:xfrm>
                <a:off x="8328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9" name="SCHEM_line-0037"/>
              <p:cNvCxnSpPr/>
              <p:nvPr/>
            </p:nvCxnSpPr>
            <p:spPr>
              <a:xfrm>
                <a:off x="8544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0" name="SCHEM_polygon-0038"/>
              <p:cNvSpPr/>
              <p:nvPr/>
            </p:nvSpPr>
            <p:spPr>
              <a:xfrm>
                <a:off x="16296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1" name="SCHEM_line-0039"/>
              <p:cNvCxnSpPr/>
              <p:nvPr/>
            </p:nvCxnSpPr>
            <p:spPr>
              <a:xfrm>
                <a:off x="16512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2" name="SCHEM_polygon-0040"/>
              <p:cNvSpPr/>
              <p:nvPr/>
            </p:nvSpPr>
            <p:spPr>
              <a:xfrm>
                <a:off x="24264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3" name="SCHEM_line-0041"/>
              <p:cNvCxnSpPr/>
              <p:nvPr/>
            </p:nvCxnSpPr>
            <p:spPr>
              <a:xfrm>
                <a:off x="24480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4" name="SCHEM_polygon-0042"/>
              <p:cNvSpPr/>
              <p:nvPr/>
            </p:nvSpPr>
            <p:spPr>
              <a:xfrm>
                <a:off x="32232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5" name="SCHEM_line-0043"/>
              <p:cNvCxnSpPr/>
              <p:nvPr/>
            </p:nvCxnSpPr>
            <p:spPr>
              <a:xfrm>
                <a:off x="32448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6" name="SCHEM_polygon-0044"/>
              <p:cNvSpPr/>
              <p:nvPr/>
            </p:nvSpPr>
            <p:spPr>
              <a:xfrm>
                <a:off x="7980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7" name="SCHEM_line-0045"/>
              <p:cNvCxnSpPr/>
              <p:nvPr/>
            </p:nvCxnSpPr>
            <p:spPr>
              <a:xfrm>
                <a:off x="8196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8" name="SCHEM_polygon-0046"/>
              <p:cNvSpPr/>
              <p:nvPr/>
            </p:nvSpPr>
            <p:spPr>
              <a:xfrm>
                <a:off x="15996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9" name="SCHEM_line-0047"/>
              <p:cNvCxnSpPr/>
              <p:nvPr/>
            </p:nvCxnSpPr>
            <p:spPr>
              <a:xfrm>
                <a:off x="16212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0" name="SCHEM_polygon-0048"/>
              <p:cNvSpPr/>
              <p:nvPr/>
            </p:nvSpPr>
            <p:spPr>
              <a:xfrm>
                <a:off x="24012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1" name="SCHEM_line-0049"/>
              <p:cNvCxnSpPr/>
              <p:nvPr/>
            </p:nvCxnSpPr>
            <p:spPr>
              <a:xfrm>
                <a:off x="24228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2" name="SCHEM_polygon-0050"/>
              <p:cNvSpPr/>
              <p:nvPr/>
            </p:nvSpPr>
            <p:spPr>
              <a:xfrm>
                <a:off x="32028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3" name="SCHEM_line-0051"/>
              <p:cNvCxnSpPr/>
              <p:nvPr/>
            </p:nvCxnSpPr>
            <p:spPr>
              <a:xfrm>
                <a:off x="32244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4" name="SCHEM_polygon-0052"/>
              <p:cNvSpPr/>
              <p:nvPr/>
            </p:nvSpPr>
            <p:spPr>
              <a:xfrm>
                <a:off x="7632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5" name="SCHEM_line-0053"/>
              <p:cNvCxnSpPr/>
              <p:nvPr/>
            </p:nvCxnSpPr>
            <p:spPr>
              <a:xfrm>
                <a:off x="7848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6" name="SCHEM_polygon-0054"/>
              <p:cNvSpPr/>
              <p:nvPr/>
            </p:nvSpPr>
            <p:spPr>
              <a:xfrm>
                <a:off x="15696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7" name="SCHEM_line-0055"/>
              <p:cNvCxnSpPr/>
              <p:nvPr/>
            </p:nvCxnSpPr>
            <p:spPr>
              <a:xfrm>
                <a:off x="15912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8" name="SCHEM_polygon-0056"/>
              <p:cNvSpPr/>
              <p:nvPr/>
            </p:nvSpPr>
            <p:spPr>
              <a:xfrm>
                <a:off x="23760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9" name="SCHEM_line-0057"/>
              <p:cNvCxnSpPr/>
              <p:nvPr/>
            </p:nvCxnSpPr>
            <p:spPr>
              <a:xfrm>
                <a:off x="23976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60" name="SCHEM_polygon-0058"/>
              <p:cNvSpPr/>
              <p:nvPr/>
            </p:nvSpPr>
            <p:spPr>
              <a:xfrm>
                <a:off x="31824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1" name="SCHEM_line-0059"/>
              <p:cNvCxnSpPr/>
              <p:nvPr/>
            </p:nvCxnSpPr>
            <p:spPr>
              <a:xfrm>
                <a:off x="32040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62" name="SCHEM_polygon-0060"/>
              <p:cNvSpPr/>
              <p:nvPr/>
            </p:nvSpPr>
            <p:spPr>
              <a:xfrm>
                <a:off x="208800" y="1008000"/>
                <a:ext cx="504000" cy="2592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259200">
                    <a:moveTo>
                      <a:pt x="0" y="122400"/>
                    </a:moveTo>
                    <a:lnTo>
                      <a:pt x="172800" y="0"/>
                    </a:lnTo>
                    <a:lnTo>
                      <a:pt x="172800" y="64800"/>
                    </a:lnTo>
                    <a:lnTo>
                      <a:pt x="504000" y="64800"/>
                    </a:lnTo>
                    <a:lnTo>
                      <a:pt x="504000" y="194400"/>
                    </a:lnTo>
                    <a:lnTo>
                      <a:pt x="172800" y="194400"/>
                    </a:lnTo>
                    <a:lnTo>
                      <a:pt x="172800" y="259200"/>
                    </a:lnTo>
                    <a:close/>
                  </a:path>
                </a:pathLst>
              </a:custGeom>
              <a:solidFill>
                <a:srgbClr val="EAC4BF"/>
              </a:solidFill>
              <a:ln w="10080" cap="flat">
                <a:solidFill>
                  <a:srgbClr val="B66F6C"/>
                </a:solidFill>
              </a:ln>
              <a:effectLst/>
            </p:spPr>
          </p:sp>
          <p:sp>
            <p:nvSpPr>
              <p:cNvPr id="63" name="SCHEM_polygon-0061"/>
              <p:cNvSpPr/>
              <p:nvPr/>
            </p:nvSpPr>
            <p:spPr>
              <a:xfrm>
                <a:off x="4032000" y="1008000"/>
                <a:ext cx="4896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489600" h="266400">
                    <a:moveTo>
                      <a:pt x="0" y="64800"/>
                    </a:moveTo>
                    <a:lnTo>
                      <a:pt x="309600" y="64800"/>
                    </a:lnTo>
                    <a:lnTo>
                      <a:pt x="309600" y="0"/>
                    </a:lnTo>
                    <a:lnTo>
                      <a:pt x="489600" y="129600"/>
                    </a:lnTo>
                    <a:lnTo>
                      <a:pt x="309600" y="266400"/>
                    </a:lnTo>
                    <a:lnTo>
                      <a:pt x="309600" y="194400"/>
                    </a:lnTo>
                    <a:lnTo>
                      <a:pt x="0" y="194400"/>
                    </a:lnTo>
                    <a:close/>
                  </a:path>
                </a:pathLst>
              </a:custGeom>
              <a:solidFill>
                <a:srgbClr val="EAC4BF"/>
              </a:solidFill>
              <a:ln w="10080" cap="flat">
                <a:solidFill>
                  <a:srgbClr val="B66F6C"/>
                </a:solidFill>
              </a:ln>
              <a:effectLst/>
            </p:spPr>
          </p:sp>
        </p:grpSp>
        <p:sp>
          <p:nvSpPr>
            <p:cNvPr id="64" name="SCHEM_text-0062"/>
            <p:cNvSpPr txBox="1"/>
            <p:nvPr/>
          </p:nvSpPr>
          <p:spPr>
            <a:xfrm>
              <a:off x="151200" y="1353600"/>
              <a:ext cx="756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Rapid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stretch</a:t>
              </a:r>
              <a:endParaRPr lang="en-US" sz="1474"/>
            </a:p>
          </p:txBody>
        </p:sp>
        <p:sp>
          <p:nvSpPr>
            <p:cNvPr id="65" name="SCHEM_text-0063"/>
            <p:cNvSpPr txBox="1"/>
            <p:nvPr/>
          </p:nvSpPr>
          <p:spPr>
            <a:xfrm>
              <a:off x="4147200" y="1353600"/>
              <a:ext cx="79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Rapid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stretch</a:t>
              </a:r>
              <a:endParaRPr lang="en-US" sz="1474"/>
            </a:p>
          </p:txBody>
        </p:sp>
        <p:sp>
          <p:nvSpPr>
            <p:cNvPr id="66" name="SCHEM_text-0064"/>
            <p:cNvSpPr txBox="1"/>
            <p:nvPr/>
          </p:nvSpPr>
          <p:spPr>
            <a:xfrm>
              <a:off x="756000" y="1994400"/>
              <a:ext cx="432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Viscoelastic kirigami (Agilus / TangoPlus)</a:t>
              </a:r>
              <a:endParaRPr lang="en-US" sz="1474"/>
            </a:p>
          </p:txBody>
        </p:sp>
        <p:sp>
          <p:nvSpPr>
            <p:cNvPr id="67" name="SCHEM_text-0065"/>
            <p:cNvSpPr txBox="1"/>
            <p:nvPr/>
          </p:nvSpPr>
          <p:spPr>
            <a:xfrm>
              <a:off x="5342400" y="640800"/>
              <a:ext cx="4680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81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Conceptual mode profiles</a:t>
              </a:r>
              <a:endParaRPr lang="en-US" sz="1814"/>
            </a:p>
          </p:txBody>
        </p:sp>
        <p:grpSp>
          <p:nvGrpSpPr>
            <p:cNvPr id="68" name="SCHEM_mode-profiles"/>
            <p:cNvGrpSpPr/>
            <p:nvPr/>
          </p:nvGrpSpPr>
          <p:grpSpPr>
            <a:xfrm>
              <a:off x="5306400" y="972000"/>
              <a:ext cx="2944800" cy="792000"/>
              <a:chOff x="5306400" y="972000"/>
              <a:chExt cx="2944800" cy="792000"/>
            </a:xfrm>
          </p:grpSpPr>
          <p:sp>
            <p:nvSpPr>
              <p:cNvPr id="69" name="SCHEM_path-0067"/>
              <p:cNvSpPr/>
              <p:nvPr/>
            </p:nvSpPr>
            <p:spPr>
              <a:xfrm>
                <a:off x="5306400" y="993600"/>
                <a:ext cx="11448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144800" h="324000">
                    <a:moveTo>
                      <a:pt x="0" y="324000"/>
                    </a:moveTo>
                    <a:cubicBezTo>
                      <a:pt x="410400" y="0"/>
                      <a:pt x="763200" y="0"/>
                      <a:pt x="1144800" y="324000"/>
                    </a:cubicBezTo>
                  </a:path>
                </a:pathLst>
              </a:custGeom>
              <a:noFill/>
              <a:ln w="43200" cap="flat">
                <a:solidFill>
                  <a:srgbClr val="4599C1"/>
                </a:solidFill>
              </a:ln>
              <a:effectLst/>
            </p:spPr>
          </p:sp>
          <p:sp>
            <p:nvSpPr>
              <p:cNvPr id="70" name="SCHEM_path-0068"/>
              <p:cNvSpPr/>
              <p:nvPr/>
            </p:nvSpPr>
            <p:spPr>
              <a:xfrm>
                <a:off x="5306400" y="1224000"/>
                <a:ext cx="11448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144800" h="324000">
                    <a:moveTo>
                      <a:pt x="0" y="324000"/>
                    </a:moveTo>
                    <a:cubicBezTo>
                      <a:pt x="410400" y="0"/>
                      <a:pt x="763200" y="0"/>
                      <a:pt x="1144800" y="324000"/>
                    </a:cubicBezTo>
                  </a:path>
                </a:pathLst>
              </a:custGeom>
              <a:noFill/>
              <a:ln w="43200" cap="flat">
                <a:solidFill>
                  <a:srgbClr val="4599C1"/>
                </a:solidFill>
              </a:ln>
              <a:effectLst/>
            </p:spPr>
          </p:sp>
          <p:sp>
            <p:nvSpPr>
              <p:cNvPr id="71" name="SCHEM_path-0069"/>
              <p:cNvSpPr/>
              <p:nvPr/>
            </p:nvSpPr>
            <p:spPr>
              <a:xfrm>
                <a:off x="7164000" y="972000"/>
                <a:ext cx="1087200" cy="338400"/>
              </a:xfrm>
              <a:custGeom>
                <a:avLst/>
                <a:gdLst/>
                <a:ahLst/>
                <a:cxnLst/>
                <a:rect l="0" t="0" r="r" b="b"/>
                <a:pathLst>
                  <a:path w="1087200" h="338400">
                    <a:moveTo>
                      <a:pt x="0" y="324000"/>
                    </a:moveTo>
                    <a:cubicBezTo>
                      <a:pt x="396000" y="0"/>
                      <a:pt x="698400" y="14400"/>
                      <a:pt x="1087200" y="338400"/>
                    </a:cubicBezTo>
                  </a:path>
                </a:pathLst>
              </a:custGeom>
              <a:noFill/>
              <a:ln w="43200" cap="flat">
                <a:solidFill>
                  <a:srgbClr val="89A775"/>
                </a:solidFill>
              </a:ln>
              <a:effectLst/>
            </p:spPr>
          </p:sp>
          <p:sp>
            <p:nvSpPr>
              <p:cNvPr id="72" name="SCHEM_path-0070"/>
              <p:cNvSpPr/>
              <p:nvPr/>
            </p:nvSpPr>
            <p:spPr>
              <a:xfrm>
                <a:off x="7164000" y="1440000"/>
                <a:ext cx="10872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087200" h="324000">
                    <a:moveTo>
                      <a:pt x="0" y="0"/>
                    </a:moveTo>
                    <a:cubicBezTo>
                      <a:pt x="396000" y="324000"/>
                      <a:pt x="698400" y="309600"/>
                      <a:pt x="1087200" y="7200"/>
                    </a:cubicBezTo>
                  </a:path>
                </a:pathLst>
              </a:custGeom>
              <a:noFill/>
              <a:ln w="43200" cap="flat">
                <a:solidFill>
                  <a:srgbClr val="89A775"/>
                </a:solidFill>
              </a:ln>
              <a:effectLst/>
            </p:spPr>
          </p:sp>
        </p:grpSp>
        <p:sp>
          <p:nvSpPr>
            <p:cNvPr id="73" name="SCHEM_text-0071"/>
            <p:cNvSpPr txBox="1"/>
            <p:nvPr/>
          </p:nvSpPr>
          <p:spPr>
            <a:xfrm>
              <a:off x="5234400" y="1792800"/>
              <a:ext cx="1656000" cy="580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Anti-symmetric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</a:t>
              </a:r>
              <a:endParaRPr lang="en-US" sz="1587"/>
            </a:p>
          </p:txBody>
        </p:sp>
        <p:sp>
          <p:nvSpPr>
            <p:cNvPr id="74" name="SCHEM_text-0072"/>
            <p:cNvSpPr txBox="1"/>
            <p:nvPr/>
          </p:nvSpPr>
          <p:spPr>
            <a:xfrm>
              <a:off x="7228800" y="1792800"/>
              <a:ext cx="1368000" cy="580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Symmetric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</a:t>
              </a:r>
              <a:endParaRPr lang="en-US" sz="1587"/>
            </a:p>
          </p:txBody>
        </p:sp>
        <p:sp>
          <p:nvSpPr>
            <p:cNvPr id="75" name="SCHEM_text-0073"/>
            <p:cNvSpPr txBox="1"/>
            <p:nvPr/>
          </p:nvSpPr>
          <p:spPr>
            <a:xfrm>
              <a:off x="316800" y="2577600"/>
              <a:ext cx="4680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81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Schematic state progression</a:t>
              </a:r>
              <a:endParaRPr lang="en-US" sz="1814"/>
            </a:p>
          </p:txBody>
        </p:sp>
        <p:sp>
          <p:nvSpPr>
            <p:cNvPr id="76" name="SCHEM_text-0074"/>
            <p:cNvSpPr txBox="1"/>
            <p:nvPr/>
          </p:nvSpPr>
          <p:spPr>
            <a:xfrm>
              <a:off x="3643200" y="2822400"/>
              <a:ext cx="331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Propagation direction</a:t>
              </a:r>
              <a:endParaRPr lang="en-US" sz="1531"/>
            </a:p>
          </p:txBody>
        </p:sp>
        <p:cxnSp>
          <p:nvCxnSpPr>
            <p:cNvPr id="77" name="SCHEM_line-0075"/>
            <p:cNvCxnSpPr/>
            <p:nvPr/>
          </p:nvCxnSpPr>
          <p:spPr>
            <a:xfrm>
              <a:off x="1958400" y="3074400"/>
              <a:ext cx="4593600" cy="1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78" name="SCHEM_text-0076"/>
            <p:cNvSpPr txBox="1"/>
            <p:nvPr/>
          </p:nvSpPr>
          <p:spPr>
            <a:xfrm>
              <a:off x="2872800" y="3247200"/>
              <a:ext cx="259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Diffusive kink</a:t>
              </a:r>
              <a:endParaRPr lang="en-US" sz="1531"/>
            </a:p>
          </p:txBody>
        </p:sp>
        <p:cxnSp>
          <p:nvCxnSpPr>
            <p:cNvPr id="79" name="SCHEM_line-0077"/>
            <p:cNvCxnSpPr/>
            <p:nvPr/>
          </p:nvCxnSpPr>
          <p:spPr>
            <a:xfrm flipH="1">
              <a:off x="2635200" y="3348000"/>
              <a:ext cx="187200" cy="18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0" name="SCHEM_ellipse-0078"/>
            <p:cNvSpPr/>
            <p:nvPr/>
          </p:nvSpPr>
          <p:spPr>
            <a:xfrm>
              <a:off x="2613600" y="351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81" name="SCHEM_state-strips"/>
            <p:cNvGrpSpPr/>
            <p:nvPr/>
          </p:nvGrpSpPr>
          <p:grpSpPr>
            <a:xfrm>
              <a:off x="1310400" y="3528000"/>
              <a:ext cx="5299200" cy="2260800"/>
              <a:chOff x="1310400" y="3528000"/>
              <a:chExt cx="5299200" cy="2260800"/>
            </a:xfrm>
          </p:grpSpPr>
          <p:sp>
            <p:nvSpPr>
              <p:cNvPr id="82" name="SCHEM_rect-0080"/>
              <p:cNvSpPr/>
              <p:nvPr/>
            </p:nvSpPr>
            <p:spPr>
              <a:xfrm>
                <a:off x="1310400" y="35280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rect-0081"/>
              <p:cNvSpPr/>
              <p:nvPr/>
            </p:nvSpPr>
            <p:spPr>
              <a:xfrm>
                <a:off x="1972800" y="35280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4" name="SCHEM_rect-0082"/>
              <p:cNvSpPr/>
              <p:nvPr/>
            </p:nvSpPr>
            <p:spPr>
              <a:xfrm>
                <a:off x="26352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5" name="SCHEM_rect-0083"/>
              <p:cNvSpPr/>
              <p:nvPr/>
            </p:nvSpPr>
            <p:spPr>
              <a:xfrm>
                <a:off x="32976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rect-0084"/>
              <p:cNvSpPr/>
              <p:nvPr/>
            </p:nvSpPr>
            <p:spPr>
              <a:xfrm>
                <a:off x="39600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7" name="SCHEM_rect-0085"/>
              <p:cNvSpPr/>
              <p:nvPr/>
            </p:nvSpPr>
            <p:spPr>
              <a:xfrm>
                <a:off x="46224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8" name="SCHEM_rect-0086"/>
              <p:cNvSpPr/>
              <p:nvPr/>
            </p:nvSpPr>
            <p:spPr>
              <a:xfrm>
                <a:off x="52848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9" name="SCHEM_rect-0087"/>
              <p:cNvSpPr/>
              <p:nvPr/>
            </p:nvSpPr>
            <p:spPr>
              <a:xfrm>
                <a:off x="59472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0" name="SCHEM_rect-0088"/>
              <p:cNvSpPr/>
              <p:nvPr/>
            </p:nvSpPr>
            <p:spPr>
              <a:xfrm>
                <a:off x="2584800" y="35280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1" name="SCHEM_rect-0089"/>
              <p:cNvSpPr/>
              <p:nvPr/>
            </p:nvSpPr>
            <p:spPr>
              <a:xfrm>
                <a:off x="13104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rect-0090"/>
              <p:cNvSpPr/>
              <p:nvPr/>
            </p:nvSpPr>
            <p:spPr>
              <a:xfrm>
                <a:off x="19728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3" name="SCHEM_rect-0091"/>
              <p:cNvSpPr/>
              <p:nvPr/>
            </p:nvSpPr>
            <p:spPr>
              <a:xfrm>
                <a:off x="26352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rect-0092"/>
              <p:cNvSpPr/>
              <p:nvPr/>
            </p:nvSpPr>
            <p:spPr>
              <a:xfrm>
                <a:off x="32976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39600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46224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rect-0095"/>
              <p:cNvSpPr/>
              <p:nvPr/>
            </p:nvSpPr>
            <p:spPr>
              <a:xfrm>
                <a:off x="52848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rect-0096"/>
              <p:cNvSpPr/>
              <p:nvPr/>
            </p:nvSpPr>
            <p:spPr>
              <a:xfrm>
                <a:off x="59472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9" name="SCHEM_rect-0097"/>
              <p:cNvSpPr/>
              <p:nvPr/>
            </p:nvSpPr>
            <p:spPr>
              <a:xfrm>
                <a:off x="3909600" y="43776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0" name="SCHEM_rect-0098"/>
              <p:cNvSpPr/>
              <p:nvPr/>
            </p:nvSpPr>
            <p:spPr>
              <a:xfrm>
                <a:off x="13104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1" name="SCHEM_rect-0099"/>
              <p:cNvSpPr/>
              <p:nvPr/>
            </p:nvSpPr>
            <p:spPr>
              <a:xfrm>
                <a:off x="19728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2" name="SCHEM_rect-0100"/>
              <p:cNvSpPr/>
              <p:nvPr/>
            </p:nvSpPr>
            <p:spPr>
              <a:xfrm>
                <a:off x="26352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3" name="SCHEM_rect-0101"/>
              <p:cNvSpPr/>
              <p:nvPr/>
            </p:nvSpPr>
            <p:spPr>
              <a:xfrm>
                <a:off x="32976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rect-0102"/>
              <p:cNvSpPr/>
              <p:nvPr/>
            </p:nvSpPr>
            <p:spPr>
              <a:xfrm>
                <a:off x="39600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rect-0103"/>
              <p:cNvSpPr/>
              <p:nvPr/>
            </p:nvSpPr>
            <p:spPr>
              <a:xfrm>
                <a:off x="46224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rect-0104"/>
              <p:cNvSpPr/>
              <p:nvPr/>
            </p:nvSpPr>
            <p:spPr>
              <a:xfrm>
                <a:off x="5284800" y="52272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7" name="SCHEM_rect-0105"/>
              <p:cNvSpPr/>
              <p:nvPr/>
            </p:nvSpPr>
            <p:spPr>
              <a:xfrm>
                <a:off x="5947200" y="52272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rect-0106"/>
              <p:cNvSpPr/>
              <p:nvPr/>
            </p:nvSpPr>
            <p:spPr>
              <a:xfrm>
                <a:off x="5234400" y="52272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09" name="SCHEM_text-0107"/>
            <p:cNvSpPr txBox="1"/>
            <p:nvPr/>
          </p:nvSpPr>
          <p:spPr>
            <a:xfrm>
              <a:off x="986400" y="36864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t₁</a:t>
              </a:r>
              <a:endParaRPr lang="en-US" sz="1644"/>
            </a:p>
          </p:txBody>
        </p:sp>
        <p:sp>
          <p:nvSpPr>
            <p:cNvPr id="110" name="SCHEM_text-0108"/>
            <p:cNvSpPr txBox="1"/>
            <p:nvPr/>
          </p:nvSpPr>
          <p:spPr>
            <a:xfrm>
              <a:off x="986400" y="45360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t₂</a:t>
              </a:r>
              <a:endParaRPr lang="en-US" sz="1644"/>
            </a:p>
          </p:txBody>
        </p:sp>
        <p:sp>
          <p:nvSpPr>
            <p:cNvPr id="111" name="SCHEM_text-0109"/>
            <p:cNvSpPr txBox="1"/>
            <p:nvPr/>
          </p:nvSpPr>
          <p:spPr>
            <a:xfrm>
              <a:off x="986400" y="53856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t₃</a:t>
              </a:r>
              <a:endParaRPr lang="en-US" sz="1644"/>
            </a:p>
          </p:txBody>
        </p:sp>
        <p:cxnSp>
          <p:nvCxnSpPr>
            <p:cNvPr id="112" name="SCHEM_line-0110"/>
            <p:cNvCxnSpPr/>
            <p:nvPr/>
          </p:nvCxnSpPr>
          <p:spPr>
            <a:xfrm>
              <a:off x="777600" y="3528000"/>
              <a:ext cx="1" cy="23256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3" name="SCHEM_text-0111"/>
            <p:cNvSpPr txBox="1"/>
            <p:nvPr/>
          </p:nvSpPr>
          <p:spPr>
            <a:xfrm>
              <a:off x="72000" y="4363200"/>
              <a:ext cx="72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Elapsed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time</a:t>
              </a:r>
              <a:endParaRPr lang="en-US" sz="1417"/>
            </a:p>
          </p:txBody>
        </p:sp>
        <p:cxnSp>
          <p:nvCxnSpPr>
            <p:cNvPr id="114" name="SCHEM_line-0112"/>
            <p:cNvCxnSpPr/>
            <p:nvPr/>
          </p:nvCxnSpPr>
          <p:spPr>
            <a:xfrm>
              <a:off x="396000" y="4867200"/>
              <a:ext cx="1" cy="8208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5" name="SCHEM_text-0113"/>
            <p:cNvSpPr txBox="1"/>
            <p:nvPr/>
          </p:nvSpPr>
          <p:spPr>
            <a:xfrm>
              <a:off x="7444800" y="2577600"/>
              <a:ext cx="3960000" cy="3276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70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Local mechanism at a cell boundary</a:t>
              </a:r>
              <a:endParaRPr lang="en-US" sz="1701"/>
            </a:p>
          </p:txBody>
        </p:sp>
        <p:grpSp>
          <p:nvGrpSpPr>
            <p:cNvPr id="116" name="SCHEM_local-cell-interface"/>
            <p:cNvGrpSpPr/>
            <p:nvPr/>
          </p:nvGrpSpPr>
          <p:grpSpPr>
            <a:xfrm>
              <a:off x="6998400" y="3585600"/>
              <a:ext cx="4363200" cy="1569600"/>
              <a:chOff x="6998400" y="3585600"/>
              <a:chExt cx="4363200" cy="1569600"/>
            </a:xfrm>
          </p:grpSpPr>
          <p:sp>
            <p:nvSpPr>
              <p:cNvPr id="117" name="SCHEM_rect-0115"/>
              <p:cNvSpPr/>
              <p:nvPr/>
            </p:nvSpPr>
            <p:spPr>
              <a:xfrm>
                <a:off x="7070400" y="4010400"/>
                <a:ext cx="108000" cy="6264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8" name="SCHEM_rect-0116"/>
              <p:cNvSpPr/>
              <p:nvPr/>
            </p:nvSpPr>
            <p:spPr>
              <a:xfrm>
                <a:off x="8899200" y="4089600"/>
                <a:ext cx="129600" cy="8784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9" name="SCHEM_rect-0117"/>
              <p:cNvSpPr/>
              <p:nvPr/>
            </p:nvSpPr>
            <p:spPr>
              <a:xfrm>
                <a:off x="10872000" y="4327200"/>
                <a:ext cx="108000" cy="6336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6998400" y="3585600"/>
                <a:ext cx="2037600" cy="58320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83200">
                    <a:moveTo>
                      <a:pt x="0" y="331200"/>
                    </a:moveTo>
                    <a:cubicBezTo>
                      <a:pt x="417600" y="374400"/>
                      <a:pt x="590400" y="0"/>
                      <a:pt x="993600" y="0"/>
                    </a:cubicBezTo>
                    <a:cubicBezTo>
                      <a:pt x="1432800" y="0"/>
                      <a:pt x="1670400" y="388800"/>
                      <a:pt x="2037600" y="439200"/>
                    </a:cubicBezTo>
                    <a:lnTo>
                      <a:pt x="2037600" y="583200"/>
                    </a:lnTo>
                    <a:cubicBezTo>
                      <a:pt x="1670400" y="532800"/>
                      <a:pt x="1432800" y="136800"/>
                      <a:pt x="993600" y="136800"/>
                    </a:cubicBezTo>
                    <a:cubicBezTo>
                      <a:pt x="590400" y="136800"/>
                      <a:pt x="417600" y="511200"/>
                      <a:pt x="0" y="475200"/>
                    </a:cubicBezTo>
                    <a:close/>
                  </a:path>
                </a:pathLst>
              </a:custGeom>
              <a:solidFill>
                <a:srgbClr val="B8CA9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6998400" y="4600800"/>
                <a:ext cx="2037600" cy="55440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54400">
                    <a:moveTo>
                      <a:pt x="0" y="36000"/>
                    </a:moveTo>
                    <a:cubicBezTo>
                      <a:pt x="417600" y="0"/>
                      <a:pt x="619200" y="417600"/>
                      <a:pt x="993600" y="417600"/>
                    </a:cubicBezTo>
                    <a:cubicBezTo>
                      <a:pt x="1432800" y="417600"/>
                      <a:pt x="1684800" y="79200"/>
                      <a:pt x="2037600" y="108000"/>
                    </a:cubicBezTo>
                    <a:lnTo>
                      <a:pt x="2037600" y="252000"/>
                    </a:lnTo>
                    <a:cubicBezTo>
                      <a:pt x="1684800" y="223200"/>
                      <a:pt x="1432800" y="554400"/>
                      <a:pt x="993600" y="554400"/>
                    </a:cubicBezTo>
                    <a:cubicBezTo>
                      <a:pt x="619200" y="554400"/>
                      <a:pt x="417600" y="144000"/>
                      <a:pt x="0" y="172800"/>
                    </a:cubicBezTo>
                    <a:close/>
                  </a:path>
                </a:pathLst>
              </a:custGeom>
              <a:solidFill>
                <a:srgbClr val="B8CA9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9036000" y="3859200"/>
                <a:ext cx="1980000" cy="576000"/>
              </a:xfrm>
              <a:custGeom>
                <a:avLst/>
                <a:gdLst/>
                <a:ahLst/>
                <a:cxnLst/>
                <a:rect l="0" t="0" r="r" b="b"/>
                <a:pathLst>
                  <a:path w="1980000" h="576000">
                    <a:moveTo>
                      <a:pt x="0" y="324000"/>
                    </a:moveTo>
                    <a:cubicBezTo>
                      <a:pt x="338400" y="302400"/>
                      <a:pt x="511200" y="0"/>
                      <a:pt x="900000" y="0"/>
                    </a:cubicBezTo>
                    <a:cubicBezTo>
                      <a:pt x="1332000" y="0"/>
                      <a:pt x="1670400" y="432000"/>
                      <a:pt x="1980000" y="374400"/>
                    </a:cubicBezTo>
                    <a:lnTo>
                      <a:pt x="1980000" y="518400"/>
                    </a:lnTo>
                    <a:cubicBezTo>
                      <a:pt x="1670400" y="576000"/>
                      <a:pt x="1332000" y="136800"/>
                      <a:pt x="900000" y="136800"/>
                    </a:cubicBezTo>
                    <a:cubicBezTo>
                      <a:pt x="511200" y="136800"/>
                      <a:pt x="338400" y="439200"/>
                      <a:pt x="0" y="460800"/>
                    </a:cubicBezTo>
                    <a:close/>
                  </a:path>
                </a:pathLst>
              </a:custGeom>
              <a:solidFill>
                <a:srgbClr val="86BD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8899200" y="4579200"/>
                <a:ext cx="2116800" cy="576000"/>
              </a:xfrm>
              <a:custGeom>
                <a:avLst/>
                <a:gdLst/>
                <a:ahLst/>
                <a:cxnLst/>
                <a:rect l="0" t="0" r="r" b="b"/>
                <a:pathLst>
                  <a:path w="2116800" h="576000">
                    <a:moveTo>
                      <a:pt x="0" y="367200"/>
                    </a:moveTo>
                    <a:cubicBezTo>
                      <a:pt x="453600" y="345600"/>
                      <a:pt x="648000" y="0"/>
                      <a:pt x="1036800" y="0"/>
                    </a:cubicBezTo>
                    <a:cubicBezTo>
                      <a:pt x="1468800" y="0"/>
                      <a:pt x="1807200" y="432000"/>
                      <a:pt x="2116800" y="374400"/>
                    </a:cubicBezTo>
                    <a:lnTo>
                      <a:pt x="2116800" y="518400"/>
                    </a:lnTo>
                    <a:cubicBezTo>
                      <a:pt x="1807200" y="576000"/>
                      <a:pt x="1468800" y="136800"/>
                      <a:pt x="1036800" y="136800"/>
                    </a:cubicBezTo>
                    <a:cubicBezTo>
                      <a:pt x="648000" y="136800"/>
                      <a:pt x="453600" y="489600"/>
                      <a:pt x="0" y="511200"/>
                    </a:cubicBezTo>
                    <a:close/>
                  </a:path>
                </a:pathLst>
              </a:custGeom>
              <a:solidFill>
                <a:srgbClr val="86BD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8892000" y="3787200"/>
                <a:ext cx="496800" cy="590400"/>
              </a:xfrm>
              <a:custGeom>
                <a:avLst/>
                <a:gdLst/>
                <a:ahLst/>
                <a:cxnLst/>
                <a:rect l="0" t="0" r="r" b="b"/>
                <a:pathLst>
                  <a:path w="496800" h="590400">
                    <a:moveTo>
                      <a:pt x="0" y="129600"/>
                    </a:moveTo>
                    <a:cubicBezTo>
                      <a:pt x="309600" y="0"/>
                      <a:pt x="496800" y="432000"/>
                      <a:pt x="252000" y="5904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25" name="SCHEM_line-0123"/>
              <p:cNvCxnSpPr/>
              <p:nvPr/>
            </p:nvCxnSpPr>
            <p:spPr>
              <a:xfrm flipV="1">
                <a:off x="9122400" y="3729600"/>
                <a:ext cx="194400" cy="223200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>
                <a:off x="10800000" y="4060800"/>
                <a:ext cx="561600" cy="1"/>
              </a:xfrm>
              <a:prstGeom prst="line">
                <a:avLst/>
              </a:prstGeom>
              <a:noFill/>
              <a:ln w="1872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sp>
          <p:nvSpPr>
            <p:cNvPr id="127" name="SCHEM_text-0125"/>
            <p:cNvSpPr txBox="1"/>
            <p:nvPr/>
          </p:nvSpPr>
          <p:spPr>
            <a:xfrm>
              <a:off x="8222400" y="3002400"/>
              <a:ext cx="280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Geometric imperfection</a:t>
              </a:r>
              <a:endParaRPr lang="en-US" sz="1531"/>
            </a:p>
          </p:txBody>
        </p:sp>
        <p:cxnSp>
          <p:nvCxnSpPr>
            <p:cNvPr id="128" name="SCHEM_line-0126"/>
            <p:cNvCxnSpPr/>
            <p:nvPr/>
          </p:nvCxnSpPr>
          <p:spPr>
            <a:xfrm flipH="1">
              <a:off x="8308800" y="3261600"/>
              <a:ext cx="345600" cy="35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9" name="SCHEM_ellipse-0127"/>
            <p:cNvSpPr/>
            <p:nvPr/>
          </p:nvSpPr>
          <p:spPr>
            <a:xfrm>
              <a:off x="8287200" y="35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30" name="SCHEM_text-0128"/>
            <p:cNvSpPr txBox="1"/>
            <p:nvPr/>
          </p:nvSpPr>
          <p:spPr>
            <a:xfrm>
              <a:off x="8856000" y="3477600"/>
              <a:ext cx="216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Boundary rotation</a:t>
              </a:r>
              <a:endParaRPr lang="en-US" sz="1474"/>
            </a:p>
          </p:txBody>
        </p:sp>
        <p:sp>
          <p:nvSpPr>
            <p:cNvPr id="131" name="SCHEM_text-0129"/>
            <p:cNvSpPr txBox="1"/>
            <p:nvPr/>
          </p:nvSpPr>
          <p:spPr>
            <a:xfrm>
              <a:off x="10569600" y="3520800"/>
              <a:ext cx="93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Neighbor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snap-back</a:t>
              </a:r>
              <a:endParaRPr lang="en-US" sz="1417"/>
            </a:p>
          </p:txBody>
        </p:sp>
        <p:sp>
          <p:nvSpPr>
            <p:cNvPr id="132" name="SCHEM_text-0130"/>
            <p:cNvSpPr txBox="1"/>
            <p:nvPr/>
          </p:nvSpPr>
          <p:spPr>
            <a:xfrm>
              <a:off x="8064000" y="5544000"/>
              <a:ext cx="3384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Viscoelastic relaxation</a:t>
              </a:r>
              <a:endParaRPr lang="en-US" sz="1587"/>
            </a:p>
          </p:txBody>
        </p:sp>
        <p:sp>
          <p:nvSpPr>
            <p:cNvPr id="133" name="SCHEM_text-0131"/>
            <p:cNvSpPr txBox="1"/>
            <p:nvPr/>
          </p:nvSpPr>
          <p:spPr>
            <a:xfrm>
              <a:off x="7876800" y="5810400"/>
              <a:ext cx="352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Creep followed by snap-back</a:t>
              </a:r>
              <a:endParaRPr lang="en-US" sz="1587"/>
            </a:p>
          </p:txBody>
        </p:sp>
        <p:sp>
          <p:nvSpPr>
            <p:cNvPr id="134" name="SCHEM_text-0132"/>
            <p:cNvSpPr txBox="1"/>
            <p:nvPr/>
          </p:nvSpPr>
          <p:spPr>
            <a:xfrm>
              <a:off x="129600" y="6228000"/>
              <a:ext cx="11232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doi:10.1038/s41467-024-45602-7 | Conceptual states; not to scale</a:t>
              </a:r>
              <a:endParaRPr lang="en-US" sz="119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