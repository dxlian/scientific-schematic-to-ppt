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520000" cy="6480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57600" y="64800"/>
            <a:ext cx="11448000" cy="6325920"/>
            <a:chOff x="57600" y="64800"/>
            <a:chExt cx="11448000" cy="6325920"/>
          </a:xfrm>
        </p:grpSpPr>
        <p:sp>
          <p:nvSpPr>
            <p:cNvPr id="3" name="SCHEM_text-0001"/>
            <p:cNvSpPr txBox="1"/>
            <p:nvPr/>
          </p:nvSpPr>
          <p:spPr>
            <a:xfrm>
              <a:off x="187200" y="64800"/>
              <a:ext cx="10872000" cy="3956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098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Anode-free sodium all-solid-state battery</a:t>
              </a:r>
              <a:endParaRPr lang="en-US" sz="2098"/>
            </a:p>
          </p:txBody>
        </p:sp>
        <p:grpSp>
          <p:nvGrpSpPr>
            <p:cNvPr id="4" name="SCHEM_stack-0"/>
            <p:cNvGrpSpPr/>
            <p:nvPr/>
          </p:nvGrpSpPr>
          <p:grpSpPr>
            <a:xfrm>
              <a:off x="1303200" y="1072800"/>
              <a:ext cx="2376000" cy="3232800"/>
              <a:chOff x="1303200" y="1072800"/>
              <a:chExt cx="2376000" cy="3232800"/>
            </a:xfrm>
          </p:grpSpPr>
          <p:sp>
            <p:nvSpPr>
              <p:cNvPr id="5" name="SCHEM_rect-0003"/>
              <p:cNvSpPr/>
              <p:nvPr/>
            </p:nvSpPr>
            <p:spPr>
              <a:xfrm>
                <a:off x="1303200" y="1072800"/>
                <a:ext cx="2376000" cy="432000"/>
              </a:xfrm>
              <a:prstGeom prst="rect">
                <a:avLst/>
              </a:prstGeom>
              <a:solidFill>
                <a:srgbClr val="D6D6D3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sp>
            <p:nvSpPr>
              <p:cNvPr id="6" name="SCHEM_rect-0004"/>
              <p:cNvSpPr/>
              <p:nvPr/>
            </p:nvSpPr>
            <p:spPr>
              <a:xfrm>
                <a:off x="1303200" y="1504800"/>
                <a:ext cx="2376000" cy="871200"/>
              </a:xfrm>
              <a:prstGeom prst="rect">
                <a:avLst/>
              </a:prstGeom>
              <a:solidFill>
                <a:srgbClr val="C3D69F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7" name="SCHEM_ellipse-0005"/>
              <p:cNvSpPr/>
              <p:nvPr/>
            </p:nvSpPr>
            <p:spPr>
              <a:xfrm>
                <a:off x="1375200" y="1584000"/>
                <a:ext cx="316800" cy="3168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" name="SCHEM_ellipse-0006"/>
              <p:cNvSpPr/>
              <p:nvPr/>
            </p:nvSpPr>
            <p:spPr>
              <a:xfrm>
                <a:off x="2044800" y="15840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9" name="SCHEM_ellipse-0007"/>
              <p:cNvSpPr/>
              <p:nvPr/>
            </p:nvSpPr>
            <p:spPr>
              <a:xfrm>
                <a:off x="2808000" y="1584000"/>
                <a:ext cx="345600" cy="3456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10" name="SCHEM_ellipse-0008"/>
              <p:cNvSpPr/>
              <p:nvPr/>
            </p:nvSpPr>
            <p:spPr>
              <a:xfrm>
                <a:off x="1584000" y="19296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11" name="SCHEM_ellipse-0009"/>
              <p:cNvSpPr/>
              <p:nvPr/>
            </p:nvSpPr>
            <p:spPr>
              <a:xfrm>
                <a:off x="2397600" y="1807200"/>
                <a:ext cx="345600" cy="3456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12" name="SCHEM_ellipse-0010"/>
              <p:cNvSpPr/>
              <p:nvPr/>
            </p:nvSpPr>
            <p:spPr>
              <a:xfrm>
                <a:off x="3045600" y="19872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13" name="SCHEM_ellipse-0011"/>
              <p:cNvSpPr/>
              <p:nvPr/>
            </p:nvSpPr>
            <p:spPr>
              <a:xfrm>
                <a:off x="3312000" y="18144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14" name="SCHEM_ellipse-0012"/>
              <p:cNvSpPr/>
              <p:nvPr/>
            </p:nvSpPr>
            <p:spPr>
              <a:xfrm>
                <a:off x="2181600" y="2059200"/>
                <a:ext cx="302400" cy="3024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15" name="SCHEM_ellipse-0013"/>
              <p:cNvSpPr/>
              <p:nvPr/>
            </p:nvSpPr>
            <p:spPr>
              <a:xfrm>
                <a:off x="2722241" y="2205026"/>
                <a:ext cx="80802" cy="80802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6" name="SCHEM_ellipse-0014"/>
              <p:cNvSpPr/>
              <p:nvPr/>
            </p:nvSpPr>
            <p:spPr>
              <a:xfrm>
                <a:off x="1347983" y="1993833"/>
                <a:ext cx="111195" cy="11119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7" name="SCHEM_ellipse-0015"/>
              <p:cNvSpPr/>
              <p:nvPr/>
            </p:nvSpPr>
            <p:spPr>
              <a:xfrm>
                <a:off x="1338031" y="2155729"/>
                <a:ext cx="87102" cy="87102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8" name="SCHEM_ellipse-0016"/>
              <p:cNvSpPr/>
              <p:nvPr/>
            </p:nvSpPr>
            <p:spPr>
              <a:xfrm>
                <a:off x="2618210" y="1633971"/>
                <a:ext cx="80223" cy="8022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9" name="SCHEM_ellipse-0017"/>
              <p:cNvSpPr/>
              <p:nvPr/>
            </p:nvSpPr>
            <p:spPr>
              <a:xfrm>
                <a:off x="2277276" y="1923733"/>
                <a:ext cx="102164" cy="10216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0" name="SCHEM_ellipse-0018"/>
              <p:cNvSpPr/>
              <p:nvPr/>
            </p:nvSpPr>
            <p:spPr>
              <a:xfrm>
                <a:off x="1471496" y="2231456"/>
                <a:ext cx="88486" cy="88486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1" name="SCHEM_ellipse-0019"/>
              <p:cNvSpPr/>
              <p:nvPr/>
            </p:nvSpPr>
            <p:spPr>
              <a:xfrm>
                <a:off x="3520592" y="2159075"/>
                <a:ext cx="108220" cy="108220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2" name="SCHEM_ellipse-0020"/>
              <p:cNvSpPr/>
              <p:nvPr/>
            </p:nvSpPr>
            <p:spPr>
              <a:xfrm>
                <a:off x="2786242" y="2100018"/>
                <a:ext cx="75214" cy="7521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3" name="SCHEM_ellipse-0021"/>
              <p:cNvSpPr/>
              <p:nvPr/>
            </p:nvSpPr>
            <p:spPr>
              <a:xfrm>
                <a:off x="1974417" y="2086137"/>
                <a:ext cx="100749" cy="100749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4" name="SCHEM_ellipse-0022"/>
              <p:cNvSpPr/>
              <p:nvPr/>
            </p:nvSpPr>
            <p:spPr>
              <a:xfrm>
                <a:off x="2527194" y="2184083"/>
                <a:ext cx="97922" cy="97922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5" name="SCHEM_ellipse-0023"/>
              <p:cNvSpPr/>
              <p:nvPr/>
            </p:nvSpPr>
            <p:spPr>
              <a:xfrm>
                <a:off x="3193741" y="1573500"/>
                <a:ext cx="98875" cy="9887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6" name="SCHEM_ellipse-0024"/>
              <p:cNvSpPr/>
              <p:nvPr/>
            </p:nvSpPr>
            <p:spPr>
              <a:xfrm>
                <a:off x="3465220" y="1667452"/>
                <a:ext cx="107797" cy="107797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7" name="SCHEM_ellipse-0025"/>
              <p:cNvSpPr/>
              <p:nvPr/>
            </p:nvSpPr>
            <p:spPr>
              <a:xfrm>
                <a:off x="1782504" y="1611487"/>
                <a:ext cx="76102" cy="76102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8" name="SCHEM_ellipse-0026"/>
              <p:cNvSpPr/>
              <p:nvPr/>
            </p:nvSpPr>
            <p:spPr>
              <a:xfrm>
                <a:off x="3334922" y="1557520"/>
                <a:ext cx="84487" cy="84487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9" name="SCHEM_ellipse-0027"/>
              <p:cNvSpPr/>
              <p:nvPr/>
            </p:nvSpPr>
            <p:spPr>
              <a:xfrm>
                <a:off x="3187768" y="1853954"/>
                <a:ext cx="101991" cy="101991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0" name="SCHEM_ellipse-0028"/>
              <p:cNvSpPr/>
              <p:nvPr/>
            </p:nvSpPr>
            <p:spPr>
              <a:xfrm>
                <a:off x="2025373" y="1949740"/>
                <a:ext cx="82265" cy="8226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1" name="SCHEM_ellipse-0029"/>
              <p:cNvSpPr/>
              <p:nvPr/>
            </p:nvSpPr>
            <p:spPr>
              <a:xfrm>
                <a:off x="1868245" y="1809741"/>
                <a:ext cx="114235" cy="11423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2" name="SCHEM_ellipse-0030"/>
              <p:cNvSpPr/>
              <p:nvPr/>
            </p:nvSpPr>
            <p:spPr>
              <a:xfrm>
                <a:off x="3518237" y="1581204"/>
                <a:ext cx="74780" cy="74780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3" name="SCHEM_ellipse-0031"/>
              <p:cNvSpPr/>
              <p:nvPr/>
            </p:nvSpPr>
            <p:spPr>
              <a:xfrm>
                <a:off x="2075500" y="2213943"/>
                <a:ext cx="81435" cy="8143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4" name="SCHEM_ellipse-0032"/>
              <p:cNvSpPr/>
              <p:nvPr/>
            </p:nvSpPr>
            <p:spPr>
              <a:xfrm>
                <a:off x="2725424" y="1567279"/>
                <a:ext cx="72134" cy="7213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5" name="SCHEM_ellipse-0033"/>
              <p:cNvSpPr/>
              <p:nvPr/>
            </p:nvSpPr>
            <p:spPr>
              <a:xfrm>
                <a:off x="2868555" y="2171533"/>
                <a:ext cx="111492" cy="111492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6" name="SCHEM_ellipse-0034"/>
              <p:cNvSpPr/>
              <p:nvPr/>
            </p:nvSpPr>
            <p:spPr>
              <a:xfrm>
                <a:off x="2488317" y="1677430"/>
                <a:ext cx="87343" cy="8734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7" name="SCHEM_ellipse-0035"/>
              <p:cNvSpPr/>
              <p:nvPr/>
            </p:nvSpPr>
            <p:spPr>
              <a:xfrm>
                <a:off x="3321832" y="1715313"/>
                <a:ext cx="76026" cy="7602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8" name="SCHEM_ellipse-0036"/>
              <p:cNvSpPr/>
              <p:nvPr/>
            </p:nvSpPr>
            <p:spPr>
              <a:xfrm>
                <a:off x="1739570" y="1739171"/>
                <a:ext cx="81792" cy="81792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9" name="SCHEM_ellipse-0037"/>
              <p:cNvSpPr/>
              <p:nvPr/>
            </p:nvSpPr>
            <p:spPr>
              <a:xfrm>
                <a:off x="2831863" y="2015686"/>
                <a:ext cx="74096" cy="7409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0" name="SCHEM_ellipse-0038"/>
              <p:cNvSpPr/>
              <p:nvPr/>
            </p:nvSpPr>
            <p:spPr>
              <a:xfrm>
                <a:off x="1939759" y="1584751"/>
                <a:ext cx="84226" cy="8422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1" name="SCHEM_ellipse-0039"/>
              <p:cNvSpPr/>
              <p:nvPr/>
            </p:nvSpPr>
            <p:spPr>
              <a:xfrm>
                <a:off x="1841944" y="2246185"/>
                <a:ext cx="87643" cy="87643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2" name="SCHEM_ellipse-0040"/>
              <p:cNvSpPr/>
              <p:nvPr/>
            </p:nvSpPr>
            <p:spPr>
              <a:xfrm>
                <a:off x="2086942" y="2059537"/>
                <a:ext cx="81033" cy="8103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3" name="SCHEM_ellipse-0041"/>
              <p:cNvSpPr/>
              <p:nvPr/>
            </p:nvSpPr>
            <p:spPr>
              <a:xfrm>
                <a:off x="2498952" y="1536167"/>
                <a:ext cx="89034" cy="8903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4" name="SCHEM_ellipse-0042"/>
              <p:cNvSpPr/>
              <p:nvPr/>
            </p:nvSpPr>
            <p:spPr>
              <a:xfrm>
                <a:off x="3408028" y="2194546"/>
                <a:ext cx="88678" cy="88678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5" name="SCHEM_ellipse-0043"/>
              <p:cNvSpPr/>
              <p:nvPr/>
            </p:nvSpPr>
            <p:spPr>
              <a:xfrm>
                <a:off x="2668165" y="1724640"/>
                <a:ext cx="113965" cy="11396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6" name="SCHEM_ellipse-0044"/>
              <p:cNvSpPr/>
              <p:nvPr/>
            </p:nvSpPr>
            <p:spPr>
              <a:xfrm>
                <a:off x="1917960" y="1953988"/>
                <a:ext cx="91313" cy="9131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7" name="SCHEM_ellipse-0045"/>
              <p:cNvSpPr/>
              <p:nvPr/>
            </p:nvSpPr>
            <p:spPr>
              <a:xfrm>
                <a:off x="2966839" y="1967547"/>
                <a:ext cx="90394" cy="90394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8" name="SCHEM_ellipse-0046"/>
              <p:cNvSpPr/>
              <p:nvPr/>
            </p:nvSpPr>
            <p:spPr>
              <a:xfrm>
                <a:off x="1865701" y="1705821"/>
                <a:ext cx="89496" cy="8949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9" name="SCHEM_ellipse-0047"/>
              <p:cNvSpPr/>
              <p:nvPr/>
            </p:nvSpPr>
            <p:spPr>
              <a:xfrm>
                <a:off x="2340623" y="1528654"/>
                <a:ext cx="114660" cy="114660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50" name="SCHEM_ellipse-0048"/>
              <p:cNvSpPr/>
              <p:nvPr/>
            </p:nvSpPr>
            <p:spPr>
              <a:xfrm>
                <a:off x="2772907" y="1876454"/>
                <a:ext cx="88814" cy="88814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51" name="SCHEM_rect-0049"/>
              <p:cNvSpPr/>
              <p:nvPr/>
            </p:nvSpPr>
            <p:spPr>
              <a:xfrm>
                <a:off x="1303200" y="2376000"/>
                <a:ext cx="2376000" cy="324000"/>
              </a:xfrm>
              <a:prstGeom prst="rect">
                <a:avLst/>
              </a:prstGeom>
              <a:solidFill>
                <a:srgbClr val="CCDDB3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52" name="SCHEM_rect-0050"/>
              <p:cNvSpPr/>
              <p:nvPr/>
            </p:nvSpPr>
            <p:spPr>
              <a:xfrm>
                <a:off x="1303200" y="2700000"/>
                <a:ext cx="2376000" cy="1101600"/>
              </a:xfrm>
              <a:prstGeom prst="rect">
                <a:avLst/>
              </a:prstGeom>
              <a:solidFill>
                <a:srgbClr val="9FD0E9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53" name="SCHEM_rect-0051"/>
              <p:cNvSpPr/>
              <p:nvPr/>
            </p:nvSpPr>
            <p:spPr>
              <a:xfrm>
                <a:off x="1303200" y="3801600"/>
                <a:ext cx="2376000" cy="504000"/>
              </a:xfrm>
              <a:prstGeom prst="rect">
                <a:avLst/>
              </a:prstGeom>
              <a:solidFill>
                <a:srgbClr val="C2C2C0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54" name="SCHEM_ellipse-0052"/>
              <p:cNvSpPr/>
              <p:nvPr/>
            </p:nvSpPr>
            <p:spPr>
              <a:xfrm>
                <a:off x="14688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55" name="SCHEM_ellipse-0053"/>
              <p:cNvSpPr/>
              <p:nvPr/>
            </p:nvSpPr>
            <p:spPr>
              <a:xfrm>
                <a:off x="19152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56" name="SCHEM_ellipse-0054"/>
              <p:cNvSpPr/>
              <p:nvPr/>
            </p:nvSpPr>
            <p:spPr>
              <a:xfrm>
                <a:off x="23616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57" name="SCHEM_ellipse-0055"/>
              <p:cNvSpPr/>
              <p:nvPr/>
            </p:nvSpPr>
            <p:spPr>
              <a:xfrm>
                <a:off x="28080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58" name="SCHEM_ellipse-0056"/>
              <p:cNvSpPr/>
              <p:nvPr/>
            </p:nvSpPr>
            <p:spPr>
              <a:xfrm>
                <a:off x="32544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59" name="SCHEM_ellipse-0057"/>
              <p:cNvSpPr/>
              <p:nvPr/>
            </p:nvSpPr>
            <p:spPr>
              <a:xfrm>
                <a:off x="15480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60" name="SCHEM_ellipse-0058"/>
              <p:cNvSpPr/>
              <p:nvPr/>
            </p:nvSpPr>
            <p:spPr>
              <a:xfrm>
                <a:off x="19944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61" name="SCHEM_ellipse-0059"/>
              <p:cNvSpPr/>
              <p:nvPr/>
            </p:nvSpPr>
            <p:spPr>
              <a:xfrm>
                <a:off x="24408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62" name="SCHEM_ellipse-0060"/>
              <p:cNvSpPr/>
              <p:nvPr/>
            </p:nvSpPr>
            <p:spPr>
              <a:xfrm>
                <a:off x="28872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63" name="SCHEM_ellipse-0061"/>
              <p:cNvSpPr/>
              <p:nvPr/>
            </p:nvSpPr>
            <p:spPr>
              <a:xfrm>
                <a:off x="33336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64" name="SCHEM_ellipse-0062"/>
              <p:cNvSpPr/>
              <p:nvPr/>
            </p:nvSpPr>
            <p:spPr>
              <a:xfrm>
                <a:off x="1468800" y="34128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</p:grpSp>
        <p:sp>
          <p:nvSpPr>
            <p:cNvPr id="65" name="SCHEM_text-0063"/>
            <p:cNvSpPr txBox="1"/>
            <p:nvPr/>
          </p:nvSpPr>
          <p:spPr>
            <a:xfrm>
              <a:off x="1483200" y="1195200"/>
              <a:ext cx="2016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Positive current collector</a:t>
              </a:r>
              <a:endParaRPr lang="en-US" sz="1191"/>
            </a:p>
          </p:txBody>
        </p:sp>
        <p:cxnSp>
          <p:nvCxnSpPr>
            <p:cNvPr id="66" name="SCHEM_line-0064"/>
            <p:cNvCxnSpPr/>
            <p:nvPr/>
          </p:nvCxnSpPr>
          <p:spPr>
            <a:xfrm>
              <a:off x="16560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67" name="SCHEM_line-0065"/>
            <p:cNvCxnSpPr/>
            <p:nvPr/>
          </p:nvCxnSpPr>
          <p:spPr>
            <a:xfrm flipV="1">
              <a:off x="16560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68" name="SCHEM_line-0066"/>
            <p:cNvCxnSpPr/>
            <p:nvPr/>
          </p:nvCxnSpPr>
          <p:spPr>
            <a:xfrm>
              <a:off x="21816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69" name="SCHEM_line-0067"/>
            <p:cNvCxnSpPr/>
            <p:nvPr/>
          </p:nvCxnSpPr>
          <p:spPr>
            <a:xfrm flipV="1">
              <a:off x="21816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70" name="SCHEM_line-0068"/>
            <p:cNvCxnSpPr/>
            <p:nvPr/>
          </p:nvCxnSpPr>
          <p:spPr>
            <a:xfrm>
              <a:off x="27360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71" name="SCHEM_line-0069"/>
            <p:cNvCxnSpPr/>
            <p:nvPr/>
          </p:nvCxnSpPr>
          <p:spPr>
            <a:xfrm flipV="1">
              <a:off x="27360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72" name="SCHEM_line-0070"/>
            <p:cNvCxnSpPr/>
            <p:nvPr/>
          </p:nvCxnSpPr>
          <p:spPr>
            <a:xfrm>
              <a:off x="32760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73" name="SCHEM_line-0071"/>
            <p:cNvCxnSpPr/>
            <p:nvPr/>
          </p:nvCxnSpPr>
          <p:spPr>
            <a:xfrm flipV="1">
              <a:off x="32760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sp>
          <p:nvSpPr>
            <p:cNvPr id="74" name="SCHEM_text-0072"/>
            <p:cNvSpPr txBox="1"/>
            <p:nvPr/>
          </p:nvSpPr>
          <p:spPr>
            <a:xfrm>
              <a:off x="1677600" y="4752000"/>
              <a:ext cx="2088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Operating pressure: 10 MPa</a:t>
              </a:r>
              <a:endParaRPr lang="en-US" sz="1247"/>
            </a:p>
          </p:txBody>
        </p:sp>
        <p:sp>
          <p:nvSpPr>
            <p:cNvPr id="75" name="SCHEM_text-0073"/>
            <p:cNvSpPr txBox="1"/>
            <p:nvPr/>
          </p:nvSpPr>
          <p:spPr>
            <a:xfrm>
              <a:off x="3175200" y="3096000"/>
              <a:ext cx="468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0877AF"/>
                  </a:solidFill>
                  <a:latin typeface="Times New Roman"/>
                  <a:ea typeface="Times New Roman"/>
                  <a:cs typeface="Times New Roman"/>
                </a:rPr>
                <a:t>Na⁺</a:t>
              </a:r>
              <a:endParaRPr lang="en-US" sz="1361"/>
            </a:p>
          </p:txBody>
        </p:sp>
        <p:grpSp>
          <p:nvGrpSpPr>
            <p:cNvPr id="76" name="SCHEM_stack-1"/>
            <p:cNvGrpSpPr/>
            <p:nvPr/>
          </p:nvGrpSpPr>
          <p:grpSpPr>
            <a:xfrm>
              <a:off x="4903200" y="1072800"/>
              <a:ext cx="2376000" cy="3232800"/>
              <a:chOff x="4903200" y="1072800"/>
              <a:chExt cx="2376000" cy="3232800"/>
            </a:xfrm>
          </p:grpSpPr>
          <p:sp>
            <p:nvSpPr>
              <p:cNvPr id="77" name="SCHEM_rect-0075"/>
              <p:cNvSpPr/>
              <p:nvPr/>
            </p:nvSpPr>
            <p:spPr>
              <a:xfrm>
                <a:off x="4903200" y="1072800"/>
                <a:ext cx="2376000" cy="432000"/>
              </a:xfrm>
              <a:prstGeom prst="rect">
                <a:avLst/>
              </a:prstGeom>
              <a:solidFill>
                <a:srgbClr val="D6D6D3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sp>
            <p:nvSpPr>
              <p:cNvPr id="78" name="SCHEM_rect-0076"/>
              <p:cNvSpPr/>
              <p:nvPr/>
            </p:nvSpPr>
            <p:spPr>
              <a:xfrm>
                <a:off x="4903200" y="1504800"/>
                <a:ext cx="2376000" cy="871200"/>
              </a:xfrm>
              <a:prstGeom prst="rect">
                <a:avLst/>
              </a:prstGeom>
              <a:solidFill>
                <a:srgbClr val="C3D69F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79" name="SCHEM_ellipse-0077"/>
              <p:cNvSpPr/>
              <p:nvPr/>
            </p:nvSpPr>
            <p:spPr>
              <a:xfrm>
                <a:off x="4975200" y="1584000"/>
                <a:ext cx="316800" cy="3168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0" name="SCHEM_ellipse-0078"/>
              <p:cNvSpPr/>
              <p:nvPr/>
            </p:nvSpPr>
            <p:spPr>
              <a:xfrm>
                <a:off x="5644800" y="15840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1" name="SCHEM_ellipse-0079"/>
              <p:cNvSpPr/>
              <p:nvPr/>
            </p:nvSpPr>
            <p:spPr>
              <a:xfrm>
                <a:off x="6408000" y="1584000"/>
                <a:ext cx="345600" cy="3456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2" name="SCHEM_ellipse-0080"/>
              <p:cNvSpPr/>
              <p:nvPr/>
            </p:nvSpPr>
            <p:spPr>
              <a:xfrm>
                <a:off x="5184000" y="19296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3" name="SCHEM_ellipse-0081"/>
              <p:cNvSpPr/>
              <p:nvPr/>
            </p:nvSpPr>
            <p:spPr>
              <a:xfrm>
                <a:off x="5997600" y="1807200"/>
                <a:ext cx="345600" cy="3456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4" name="SCHEM_ellipse-0082"/>
              <p:cNvSpPr/>
              <p:nvPr/>
            </p:nvSpPr>
            <p:spPr>
              <a:xfrm>
                <a:off x="6645600" y="19872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5" name="SCHEM_ellipse-0083"/>
              <p:cNvSpPr/>
              <p:nvPr/>
            </p:nvSpPr>
            <p:spPr>
              <a:xfrm>
                <a:off x="6912000" y="18144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6" name="SCHEM_ellipse-0084"/>
              <p:cNvSpPr/>
              <p:nvPr/>
            </p:nvSpPr>
            <p:spPr>
              <a:xfrm>
                <a:off x="5781600" y="2059200"/>
                <a:ext cx="302400" cy="3024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7" name="SCHEM_ellipse-0085"/>
              <p:cNvSpPr/>
              <p:nvPr/>
            </p:nvSpPr>
            <p:spPr>
              <a:xfrm>
                <a:off x="6322241" y="2205026"/>
                <a:ext cx="80802" cy="80802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88" name="SCHEM_ellipse-0086"/>
              <p:cNvSpPr/>
              <p:nvPr/>
            </p:nvSpPr>
            <p:spPr>
              <a:xfrm>
                <a:off x="4947983" y="1993833"/>
                <a:ext cx="111195" cy="11119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89" name="SCHEM_ellipse-0087"/>
              <p:cNvSpPr/>
              <p:nvPr/>
            </p:nvSpPr>
            <p:spPr>
              <a:xfrm>
                <a:off x="4938031" y="2155729"/>
                <a:ext cx="87102" cy="87102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0" name="SCHEM_ellipse-0088"/>
              <p:cNvSpPr/>
              <p:nvPr/>
            </p:nvSpPr>
            <p:spPr>
              <a:xfrm>
                <a:off x="6218210" y="1633971"/>
                <a:ext cx="80223" cy="8022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1" name="SCHEM_ellipse-0089"/>
              <p:cNvSpPr/>
              <p:nvPr/>
            </p:nvSpPr>
            <p:spPr>
              <a:xfrm>
                <a:off x="5877276" y="1923733"/>
                <a:ext cx="102164" cy="10216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2" name="SCHEM_ellipse-0090"/>
              <p:cNvSpPr/>
              <p:nvPr/>
            </p:nvSpPr>
            <p:spPr>
              <a:xfrm>
                <a:off x="5071496" y="2231456"/>
                <a:ext cx="88486" cy="88486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3" name="SCHEM_ellipse-0091"/>
              <p:cNvSpPr/>
              <p:nvPr/>
            </p:nvSpPr>
            <p:spPr>
              <a:xfrm>
                <a:off x="7120592" y="2159075"/>
                <a:ext cx="108220" cy="108220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4" name="SCHEM_ellipse-0092"/>
              <p:cNvSpPr/>
              <p:nvPr/>
            </p:nvSpPr>
            <p:spPr>
              <a:xfrm>
                <a:off x="6386242" y="2100018"/>
                <a:ext cx="75214" cy="7521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5" name="SCHEM_ellipse-0093"/>
              <p:cNvSpPr/>
              <p:nvPr/>
            </p:nvSpPr>
            <p:spPr>
              <a:xfrm>
                <a:off x="5574417" y="2086137"/>
                <a:ext cx="100749" cy="100749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6" name="SCHEM_ellipse-0094"/>
              <p:cNvSpPr/>
              <p:nvPr/>
            </p:nvSpPr>
            <p:spPr>
              <a:xfrm>
                <a:off x="6127194" y="2184083"/>
                <a:ext cx="97922" cy="97922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7" name="SCHEM_ellipse-0095"/>
              <p:cNvSpPr/>
              <p:nvPr/>
            </p:nvSpPr>
            <p:spPr>
              <a:xfrm>
                <a:off x="6793741" y="1573500"/>
                <a:ext cx="98875" cy="9887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8" name="SCHEM_ellipse-0096"/>
              <p:cNvSpPr/>
              <p:nvPr/>
            </p:nvSpPr>
            <p:spPr>
              <a:xfrm>
                <a:off x="7065220" y="1667452"/>
                <a:ext cx="107797" cy="107797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9" name="SCHEM_ellipse-0097"/>
              <p:cNvSpPr/>
              <p:nvPr/>
            </p:nvSpPr>
            <p:spPr>
              <a:xfrm>
                <a:off x="5382504" y="1611487"/>
                <a:ext cx="76102" cy="76102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0" name="SCHEM_ellipse-0098"/>
              <p:cNvSpPr/>
              <p:nvPr/>
            </p:nvSpPr>
            <p:spPr>
              <a:xfrm>
                <a:off x="6934922" y="1557520"/>
                <a:ext cx="84487" cy="84487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1" name="SCHEM_ellipse-0099"/>
              <p:cNvSpPr/>
              <p:nvPr/>
            </p:nvSpPr>
            <p:spPr>
              <a:xfrm>
                <a:off x="6787768" y="1853954"/>
                <a:ext cx="101991" cy="101991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2" name="SCHEM_ellipse-0100"/>
              <p:cNvSpPr/>
              <p:nvPr/>
            </p:nvSpPr>
            <p:spPr>
              <a:xfrm>
                <a:off x="5625373" y="1949740"/>
                <a:ext cx="82265" cy="8226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3" name="SCHEM_ellipse-0101"/>
              <p:cNvSpPr/>
              <p:nvPr/>
            </p:nvSpPr>
            <p:spPr>
              <a:xfrm>
                <a:off x="5468245" y="1809741"/>
                <a:ext cx="114235" cy="11423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4" name="SCHEM_ellipse-0102"/>
              <p:cNvSpPr/>
              <p:nvPr/>
            </p:nvSpPr>
            <p:spPr>
              <a:xfrm>
                <a:off x="7118237" y="1581204"/>
                <a:ext cx="74780" cy="74780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5" name="SCHEM_ellipse-0103"/>
              <p:cNvSpPr/>
              <p:nvPr/>
            </p:nvSpPr>
            <p:spPr>
              <a:xfrm>
                <a:off x="5675500" y="2213943"/>
                <a:ext cx="81435" cy="8143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6" name="SCHEM_ellipse-0104"/>
              <p:cNvSpPr/>
              <p:nvPr/>
            </p:nvSpPr>
            <p:spPr>
              <a:xfrm>
                <a:off x="6325424" y="1567279"/>
                <a:ext cx="72134" cy="7213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7" name="SCHEM_ellipse-0105"/>
              <p:cNvSpPr/>
              <p:nvPr/>
            </p:nvSpPr>
            <p:spPr>
              <a:xfrm>
                <a:off x="6468555" y="2171533"/>
                <a:ext cx="111492" cy="111492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8" name="SCHEM_ellipse-0106"/>
              <p:cNvSpPr/>
              <p:nvPr/>
            </p:nvSpPr>
            <p:spPr>
              <a:xfrm>
                <a:off x="6088317" y="1677430"/>
                <a:ext cx="87343" cy="8734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9" name="SCHEM_ellipse-0107"/>
              <p:cNvSpPr/>
              <p:nvPr/>
            </p:nvSpPr>
            <p:spPr>
              <a:xfrm>
                <a:off x="6921832" y="1715313"/>
                <a:ext cx="76026" cy="7602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0" name="SCHEM_ellipse-0108"/>
              <p:cNvSpPr/>
              <p:nvPr/>
            </p:nvSpPr>
            <p:spPr>
              <a:xfrm>
                <a:off x="5339570" y="1739171"/>
                <a:ext cx="81792" cy="81792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1" name="SCHEM_ellipse-0109"/>
              <p:cNvSpPr/>
              <p:nvPr/>
            </p:nvSpPr>
            <p:spPr>
              <a:xfrm>
                <a:off x="6431863" y="2015686"/>
                <a:ext cx="74096" cy="7409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2" name="SCHEM_ellipse-0110"/>
              <p:cNvSpPr/>
              <p:nvPr/>
            </p:nvSpPr>
            <p:spPr>
              <a:xfrm>
                <a:off x="5539759" y="1584751"/>
                <a:ext cx="84226" cy="8422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3" name="SCHEM_ellipse-0111"/>
              <p:cNvSpPr/>
              <p:nvPr/>
            </p:nvSpPr>
            <p:spPr>
              <a:xfrm>
                <a:off x="5441944" y="2246185"/>
                <a:ext cx="87643" cy="87643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4" name="SCHEM_ellipse-0112"/>
              <p:cNvSpPr/>
              <p:nvPr/>
            </p:nvSpPr>
            <p:spPr>
              <a:xfrm>
                <a:off x="5686942" y="2059537"/>
                <a:ext cx="81033" cy="8103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5" name="SCHEM_ellipse-0113"/>
              <p:cNvSpPr/>
              <p:nvPr/>
            </p:nvSpPr>
            <p:spPr>
              <a:xfrm>
                <a:off x="6098952" y="1536167"/>
                <a:ext cx="89034" cy="8903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6" name="SCHEM_ellipse-0114"/>
              <p:cNvSpPr/>
              <p:nvPr/>
            </p:nvSpPr>
            <p:spPr>
              <a:xfrm>
                <a:off x="7008028" y="2194546"/>
                <a:ext cx="88678" cy="88678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7" name="SCHEM_ellipse-0115"/>
              <p:cNvSpPr/>
              <p:nvPr/>
            </p:nvSpPr>
            <p:spPr>
              <a:xfrm>
                <a:off x="6268165" y="1724640"/>
                <a:ext cx="113965" cy="11396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8" name="SCHEM_ellipse-0116"/>
              <p:cNvSpPr/>
              <p:nvPr/>
            </p:nvSpPr>
            <p:spPr>
              <a:xfrm>
                <a:off x="5517960" y="1953988"/>
                <a:ext cx="91313" cy="9131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9" name="SCHEM_ellipse-0117"/>
              <p:cNvSpPr/>
              <p:nvPr/>
            </p:nvSpPr>
            <p:spPr>
              <a:xfrm>
                <a:off x="6566839" y="1967547"/>
                <a:ext cx="90394" cy="90394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20" name="SCHEM_ellipse-0118"/>
              <p:cNvSpPr/>
              <p:nvPr/>
            </p:nvSpPr>
            <p:spPr>
              <a:xfrm>
                <a:off x="5465701" y="1705821"/>
                <a:ext cx="89496" cy="8949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21" name="SCHEM_ellipse-0119"/>
              <p:cNvSpPr/>
              <p:nvPr/>
            </p:nvSpPr>
            <p:spPr>
              <a:xfrm>
                <a:off x="5940623" y="1528654"/>
                <a:ext cx="114660" cy="114660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22" name="SCHEM_ellipse-0120"/>
              <p:cNvSpPr/>
              <p:nvPr/>
            </p:nvSpPr>
            <p:spPr>
              <a:xfrm>
                <a:off x="6372907" y="1876454"/>
                <a:ext cx="88814" cy="88814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23" name="SCHEM_rect-0121"/>
              <p:cNvSpPr/>
              <p:nvPr/>
            </p:nvSpPr>
            <p:spPr>
              <a:xfrm>
                <a:off x="4903200" y="2376000"/>
                <a:ext cx="2376000" cy="324000"/>
              </a:xfrm>
              <a:prstGeom prst="rect">
                <a:avLst/>
              </a:prstGeom>
              <a:solidFill>
                <a:srgbClr val="CCDDB3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4" name="SCHEM_rect-0122"/>
              <p:cNvSpPr/>
              <p:nvPr/>
            </p:nvSpPr>
            <p:spPr>
              <a:xfrm>
                <a:off x="4903200" y="2700000"/>
                <a:ext cx="2376000" cy="921600"/>
              </a:xfrm>
              <a:prstGeom prst="rect">
                <a:avLst/>
              </a:prstGeom>
              <a:solidFill>
                <a:srgbClr val="9FD0E9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5" name="SCHEM_rect-0123"/>
              <p:cNvSpPr/>
              <p:nvPr/>
            </p:nvSpPr>
            <p:spPr>
              <a:xfrm>
                <a:off x="4903200" y="3621600"/>
                <a:ext cx="2376000" cy="194400"/>
              </a:xfrm>
              <a:prstGeom prst="rect">
                <a:avLst/>
              </a:prstGeom>
              <a:solidFill>
                <a:srgbClr val="E3A49C"/>
              </a:solidFill>
              <a:ln w="792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6" name="SCHEM_rect-0124"/>
              <p:cNvSpPr/>
              <p:nvPr/>
            </p:nvSpPr>
            <p:spPr>
              <a:xfrm>
                <a:off x="4903200" y="3816000"/>
                <a:ext cx="2376000" cy="489600"/>
              </a:xfrm>
              <a:prstGeom prst="rect">
                <a:avLst/>
              </a:prstGeom>
              <a:solidFill>
                <a:srgbClr val="C2C2C0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7" name="SCHEM_ellipse-0125"/>
              <p:cNvSpPr/>
              <p:nvPr/>
            </p:nvSpPr>
            <p:spPr>
              <a:xfrm>
                <a:off x="50688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28" name="SCHEM_ellipse-0126"/>
              <p:cNvSpPr/>
              <p:nvPr/>
            </p:nvSpPr>
            <p:spPr>
              <a:xfrm>
                <a:off x="55152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29" name="SCHEM_ellipse-0127"/>
              <p:cNvSpPr/>
              <p:nvPr/>
            </p:nvSpPr>
            <p:spPr>
              <a:xfrm>
                <a:off x="59616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0" name="SCHEM_ellipse-0128"/>
              <p:cNvSpPr/>
              <p:nvPr/>
            </p:nvSpPr>
            <p:spPr>
              <a:xfrm>
                <a:off x="64080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1" name="SCHEM_ellipse-0129"/>
              <p:cNvSpPr/>
              <p:nvPr/>
            </p:nvSpPr>
            <p:spPr>
              <a:xfrm>
                <a:off x="68544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2" name="SCHEM_ellipse-0130"/>
              <p:cNvSpPr/>
              <p:nvPr/>
            </p:nvSpPr>
            <p:spPr>
              <a:xfrm>
                <a:off x="51480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3" name="SCHEM_ellipse-0131"/>
              <p:cNvSpPr/>
              <p:nvPr/>
            </p:nvSpPr>
            <p:spPr>
              <a:xfrm>
                <a:off x="55944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4" name="SCHEM_ellipse-0132"/>
              <p:cNvSpPr/>
              <p:nvPr/>
            </p:nvSpPr>
            <p:spPr>
              <a:xfrm>
                <a:off x="60408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5" name="SCHEM_ellipse-0133"/>
              <p:cNvSpPr/>
              <p:nvPr/>
            </p:nvSpPr>
            <p:spPr>
              <a:xfrm>
                <a:off x="64872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6" name="SCHEM_ellipse-0134"/>
              <p:cNvSpPr/>
              <p:nvPr/>
            </p:nvSpPr>
            <p:spPr>
              <a:xfrm>
                <a:off x="69336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7" name="SCHEM_ellipse-0135"/>
              <p:cNvSpPr/>
              <p:nvPr/>
            </p:nvSpPr>
            <p:spPr>
              <a:xfrm>
                <a:off x="5068800" y="34128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cxnSp>
            <p:nvCxnSpPr>
              <p:cNvPr id="138" name="SCHEM_line-0136"/>
              <p:cNvCxnSpPr/>
              <p:nvPr/>
            </p:nvCxnSpPr>
            <p:spPr>
              <a:xfrm>
                <a:off x="5493600" y="3060000"/>
                <a:ext cx="1" cy="439200"/>
              </a:xfrm>
              <a:prstGeom prst="line">
                <a:avLst/>
              </a:prstGeom>
              <a:noFill/>
              <a:ln w="21600" cap="flat">
                <a:solidFill>
                  <a:srgbClr val="1689C0"/>
                </a:solidFill>
                <a:tailEnd type="triangle" w="med" len="med"/>
              </a:ln>
              <a:effectLst/>
            </p:spPr>
          </p:cxnSp>
          <p:cxnSp>
            <p:nvCxnSpPr>
              <p:cNvPr id="139" name="SCHEM_line-0137"/>
              <p:cNvCxnSpPr/>
              <p:nvPr/>
            </p:nvCxnSpPr>
            <p:spPr>
              <a:xfrm>
                <a:off x="6012000" y="3060000"/>
                <a:ext cx="1" cy="439200"/>
              </a:xfrm>
              <a:prstGeom prst="line">
                <a:avLst/>
              </a:prstGeom>
              <a:noFill/>
              <a:ln w="21600" cap="flat">
                <a:solidFill>
                  <a:srgbClr val="1689C0"/>
                </a:solidFill>
                <a:tailEnd type="triangle" w="med" len="med"/>
              </a:ln>
              <a:effectLst/>
            </p:spPr>
          </p:cxnSp>
          <p:cxnSp>
            <p:nvCxnSpPr>
              <p:cNvPr id="140" name="SCHEM_line-0138"/>
              <p:cNvCxnSpPr/>
              <p:nvPr/>
            </p:nvCxnSpPr>
            <p:spPr>
              <a:xfrm>
                <a:off x="6732000" y="3060000"/>
                <a:ext cx="1" cy="439200"/>
              </a:xfrm>
              <a:prstGeom prst="line">
                <a:avLst/>
              </a:prstGeom>
              <a:noFill/>
              <a:ln w="21600" cap="flat">
                <a:solidFill>
                  <a:srgbClr val="1689C0"/>
                </a:solidFill>
                <a:tailEnd type="triangle" w="med" len="med"/>
              </a:ln>
              <a:effectLst/>
            </p:spPr>
          </p:cxnSp>
        </p:grpSp>
        <p:sp>
          <p:nvSpPr>
            <p:cNvPr id="141" name="SCHEM_text-0139"/>
            <p:cNvSpPr txBox="1"/>
            <p:nvPr/>
          </p:nvSpPr>
          <p:spPr>
            <a:xfrm>
              <a:off x="5083200" y="1195200"/>
              <a:ext cx="2016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Positive current collector</a:t>
              </a:r>
              <a:endParaRPr lang="en-US" sz="1191"/>
            </a:p>
          </p:txBody>
        </p:sp>
        <p:cxnSp>
          <p:nvCxnSpPr>
            <p:cNvPr id="142" name="SCHEM_line-0140"/>
            <p:cNvCxnSpPr/>
            <p:nvPr/>
          </p:nvCxnSpPr>
          <p:spPr>
            <a:xfrm>
              <a:off x="52560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3" name="SCHEM_line-0141"/>
            <p:cNvCxnSpPr/>
            <p:nvPr/>
          </p:nvCxnSpPr>
          <p:spPr>
            <a:xfrm flipV="1">
              <a:off x="52560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4" name="SCHEM_line-0142"/>
            <p:cNvCxnSpPr/>
            <p:nvPr/>
          </p:nvCxnSpPr>
          <p:spPr>
            <a:xfrm>
              <a:off x="57816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5" name="SCHEM_line-0143"/>
            <p:cNvCxnSpPr/>
            <p:nvPr/>
          </p:nvCxnSpPr>
          <p:spPr>
            <a:xfrm flipV="1">
              <a:off x="57816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6" name="SCHEM_line-0144"/>
            <p:cNvCxnSpPr/>
            <p:nvPr/>
          </p:nvCxnSpPr>
          <p:spPr>
            <a:xfrm>
              <a:off x="63360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7" name="SCHEM_line-0145"/>
            <p:cNvCxnSpPr/>
            <p:nvPr/>
          </p:nvCxnSpPr>
          <p:spPr>
            <a:xfrm flipV="1">
              <a:off x="63360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8" name="SCHEM_line-0146"/>
            <p:cNvCxnSpPr/>
            <p:nvPr/>
          </p:nvCxnSpPr>
          <p:spPr>
            <a:xfrm>
              <a:off x="68760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9" name="SCHEM_line-0147"/>
            <p:cNvCxnSpPr/>
            <p:nvPr/>
          </p:nvCxnSpPr>
          <p:spPr>
            <a:xfrm flipV="1">
              <a:off x="68760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sp>
          <p:nvSpPr>
            <p:cNvPr id="150" name="SCHEM_text-0148"/>
            <p:cNvSpPr txBox="1"/>
            <p:nvPr/>
          </p:nvSpPr>
          <p:spPr>
            <a:xfrm>
              <a:off x="5277600" y="4752000"/>
              <a:ext cx="2088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Operating pressure: 10 MPa</a:t>
              </a:r>
              <a:endParaRPr lang="en-US" sz="1247"/>
            </a:p>
          </p:txBody>
        </p:sp>
        <p:sp>
          <p:nvSpPr>
            <p:cNvPr id="151" name="SCHEM_text-0149"/>
            <p:cNvSpPr txBox="1"/>
            <p:nvPr/>
          </p:nvSpPr>
          <p:spPr>
            <a:xfrm>
              <a:off x="6775200" y="3045600"/>
              <a:ext cx="468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0877AF"/>
                  </a:solidFill>
                  <a:latin typeface="Times New Roman"/>
                  <a:ea typeface="Times New Roman"/>
                  <a:cs typeface="Times New Roman"/>
                </a:rPr>
                <a:t>Na⁺</a:t>
              </a:r>
              <a:endParaRPr lang="en-US" sz="1361"/>
            </a:p>
          </p:txBody>
        </p:sp>
        <p:sp>
          <p:nvSpPr>
            <p:cNvPr id="152" name="SCHEM_text-0150"/>
            <p:cNvSpPr txBox="1"/>
            <p:nvPr/>
          </p:nvSpPr>
          <p:spPr>
            <a:xfrm>
              <a:off x="1346400" y="475200"/>
              <a:ext cx="2952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As-assembled (no Na metal)</a:t>
              </a:r>
              <a:endParaRPr lang="en-US" sz="1531"/>
            </a:p>
          </p:txBody>
        </p:sp>
        <p:sp>
          <p:nvSpPr>
            <p:cNvPr id="153" name="SCHEM_text-0151"/>
            <p:cNvSpPr txBox="1"/>
            <p:nvPr/>
          </p:nvSpPr>
          <p:spPr>
            <a:xfrm>
              <a:off x="4456800" y="475200"/>
              <a:ext cx="31752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Charged state (Na plated at interface)</a:t>
              </a:r>
              <a:endParaRPr lang="en-US" sz="1474"/>
            </a:p>
          </p:txBody>
        </p:sp>
        <p:sp>
          <p:nvSpPr>
            <p:cNvPr id="154" name="SCHEM_text-0152"/>
            <p:cNvSpPr txBox="1"/>
            <p:nvPr/>
          </p:nvSpPr>
          <p:spPr>
            <a:xfrm>
              <a:off x="57600" y="1562400"/>
              <a:ext cx="1094400" cy="696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r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NaCrO₂</a:t>
              </a:r>
              <a:endParaRPr lang="en-US" sz="964"/>
            </a:p>
            <a:p>
              <a:pPr algn="r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composite cathode</a:t>
              </a:r>
              <a:endParaRPr lang="en-US" sz="964"/>
            </a:p>
            <a:p>
              <a:pPr algn="r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(active material +</a:t>
              </a:r>
              <a:endParaRPr lang="en-US" sz="964"/>
            </a:p>
            <a:p>
              <a:pPr algn="r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catholyte + carbon)</a:t>
              </a:r>
              <a:endParaRPr lang="en-US" sz="964"/>
            </a:p>
          </p:txBody>
        </p:sp>
        <p:sp>
          <p:nvSpPr>
            <p:cNvPr id="155" name="SCHEM_path-0153"/>
            <p:cNvSpPr/>
            <p:nvPr/>
          </p:nvSpPr>
          <p:spPr>
            <a:xfrm>
              <a:off x="1188000" y="1519200"/>
              <a:ext cx="64800" cy="842400"/>
            </a:xfrm>
            <a:custGeom>
              <a:avLst/>
              <a:gdLst/>
              <a:ahLst/>
              <a:cxnLst/>
              <a:rect l="0" t="0" r="r" b="b"/>
              <a:pathLst>
                <a:path w="64800" h="842400">
                  <a:moveTo>
                    <a:pt x="64800" y="0"/>
                  </a:moveTo>
                  <a:lnTo>
                    <a:pt x="0" y="0"/>
                  </a:lnTo>
                  <a:lnTo>
                    <a:pt x="0" y="842400"/>
                  </a:lnTo>
                  <a:lnTo>
                    <a:pt x="64800" y="842400"/>
                  </a:lnTo>
                </a:path>
              </a:pathLst>
            </a:custGeom>
            <a:noFill/>
            <a:ln w="8640" cap="flat">
              <a:solidFill>
                <a:srgbClr val="292929"/>
              </a:solidFill>
            </a:ln>
            <a:effectLst/>
          </p:spPr>
        </p:sp>
        <p:sp>
          <p:nvSpPr>
            <p:cNvPr id="156" name="SCHEM_text-0154"/>
            <p:cNvSpPr txBox="1"/>
            <p:nvPr/>
          </p:nvSpPr>
          <p:spPr>
            <a:xfrm>
              <a:off x="194400" y="2390400"/>
              <a:ext cx="907200" cy="424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r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a-NYZC</a:t>
              </a:r>
              <a:endParaRPr lang="en-US" sz="1134"/>
            </a:p>
            <a:p>
              <a:pPr algn="r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protective layer</a:t>
              </a:r>
              <a:endParaRPr lang="en-US" sz="1134"/>
            </a:p>
          </p:txBody>
        </p:sp>
        <p:cxnSp>
          <p:nvCxnSpPr>
            <p:cNvPr id="157" name="SCHEM_line-0155"/>
            <p:cNvCxnSpPr/>
            <p:nvPr/>
          </p:nvCxnSpPr>
          <p:spPr>
            <a:xfrm>
              <a:off x="1144800" y="2556000"/>
              <a:ext cx="187200" cy="14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58" name="SCHEM_ellipse-0156"/>
            <p:cNvSpPr/>
            <p:nvPr/>
          </p:nvSpPr>
          <p:spPr>
            <a:xfrm>
              <a:off x="1310400" y="2548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59" name="SCHEM_text-0157"/>
            <p:cNvSpPr txBox="1"/>
            <p:nvPr/>
          </p:nvSpPr>
          <p:spPr>
            <a:xfrm>
              <a:off x="122400" y="3189600"/>
              <a:ext cx="1202400" cy="220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NBH solid electrolyte</a:t>
              </a:r>
              <a:endParaRPr lang="en-US" sz="1077"/>
            </a:p>
          </p:txBody>
        </p:sp>
        <p:cxnSp>
          <p:nvCxnSpPr>
            <p:cNvPr id="160" name="SCHEM_line-0158"/>
            <p:cNvCxnSpPr/>
            <p:nvPr/>
          </p:nvCxnSpPr>
          <p:spPr>
            <a:xfrm>
              <a:off x="1267200" y="3276000"/>
              <a:ext cx="165600" cy="7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61" name="SCHEM_ellipse-0159"/>
            <p:cNvSpPr/>
            <p:nvPr/>
          </p:nvSpPr>
          <p:spPr>
            <a:xfrm>
              <a:off x="1411200" y="3261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62" name="SCHEM_text-0160"/>
            <p:cNvSpPr txBox="1"/>
            <p:nvPr/>
          </p:nvSpPr>
          <p:spPr>
            <a:xfrm>
              <a:off x="108000" y="3945600"/>
              <a:ext cx="1188000" cy="424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r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Aluminium pellet</a:t>
              </a:r>
              <a:endParaRPr lang="en-US" sz="1134"/>
            </a:p>
            <a:p>
              <a:pPr algn="r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current collector</a:t>
              </a:r>
              <a:endParaRPr lang="en-US" sz="1134"/>
            </a:p>
          </p:txBody>
        </p:sp>
        <p:cxnSp>
          <p:nvCxnSpPr>
            <p:cNvPr id="163" name="SCHEM_line-0161"/>
            <p:cNvCxnSpPr/>
            <p:nvPr/>
          </p:nvCxnSpPr>
          <p:spPr>
            <a:xfrm>
              <a:off x="1260000" y="4032000"/>
              <a:ext cx="151200" cy="43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64" name="SCHEM_ellipse-0162"/>
            <p:cNvSpPr/>
            <p:nvPr/>
          </p:nvSpPr>
          <p:spPr>
            <a:xfrm>
              <a:off x="1389600" y="4053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65" name="SCHEM_text-0163"/>
            <p:cNvSpPr txBox="1"/>
            <p:nvPr/>
          </p:nvSpPr>
          <p:spPr>
            <a:xfrm>
              <a:off x="3859200" y="1965600"/>
              <a:ext cx="936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Charge</a:t>
              </a:r>
              <a:endParaRPr lang="en-US" sz="1247"/>
            </a:p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(plate Na)</a:t>
              </a:r>
              <a:endParaRPr lang="en-US" sz="1247"/>
            </a:p>
          </p:txBody>
        </p:sp>
        <p:cxnSp>
          <p:nvCxnSpPr>
            <p:cNvPr id="166" name="SCHEM_line-0164"/>
            <p:cNvCxnSpPr/>
            <p:nvPr/>
          </p:nvCxnSpPr>
          <p:spPr>
            <a:xfrm>
              <a:off x="3852000" y="2448000"/>
              <a:ext cx="856800" cy="1"/>
            </a:xfrm>
            <a:prstGeom prst="line">
              <a:avLst/>
            </a:prstGeom>
            <a:noFill/>
            <a:ln w="28800" cap="flat">
              <a:solidFill>
                <a:srgbClr val="55A9D6"/>
              </a:solidFill>
              <a:tailEnd type="triangle" w="med" len="med"/>
            </a:ln>
            <a:effectLst/>
          </p:spPr>
        </p:cxnSp>
        <p:cxnSp>
          <p:nvCxnSpPr>
            <p:cNvPr id="167" name="SCHEM_line-0165"/>
            <p:cNvCxnSpPr/>
            <p:nvPr/>
          </p:nvCxnSpPr>
          <p:spPr>
            <a:xfrm flipH="1">
              <a:off x="3859200" y="2757600"/>
              <a:ext cx="856800" cy="1"/>
            </a:xfrm>
            <a:prstGeom prst="line">
              <a:avLst/>
            </a:prstGeom>
            <a:noFill/>
            <a:ln w="28800" cap="flat">
              <a:solidFill>
                <a:srgbClr val="C66A63"/>
              </a:solidFill>
              <a:tailEnd type="triangle" w="med" len="med"/>
            </a:ln>
            <a:effectLst/>
          </p:spPr>
        </p:cxnSp>
        <p:sp>
          <p:nvSpPr>
            <p:cNvPr id="168" name="SCHEM_text-0166"/>
            <p:cNvSpPr txBox="1"/>
            <p:nvPr/>
          </p:nvSpPr>
          <p:spPr>
            <a:xfrm>
              <a:off x="3873600" y="2916000"/>
              <a:ext cx="936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Strip</a:t>
              </a:r>
              <a:endParaRPr lang="en-US" sz="1247"/>
            </a:p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(remove Na)</a:t>
              </a:r>
              <a:endParaRPr lang="en-US" sz="1247"/>
            </a:p>
          </p:txBody>
        </p:sp>
        <p:sp>
          <p:nvSpPr>
            <p:cNvPr id="169" name="SCHEM_text-0167"/>
            <p:cNvSpPr txBox="1"/>
            <p:nvPr/>
          </p:nvSpPr>
          <p:spPr>
            <a:xfrm>
              <a:off x="5184000" y="3643200"/>
              <a:ext cx="18360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 metal (plated)</a:t>
              </a:r>
              <a:endParaRPr lang="en-US" sz="1020"/>
            </a:p>
          </p:txBody>
        </p:sp>
        <p:sp>
          <p:nvSpPr>
            <p:cNvPr id="170" name="SCHEM_rect-0168"/>
            <p:cNvSpPr/>
            <p:nvPr/>
          </p:nvSpPr>
          <p:spPr>
            <a:xfrm>
              <a:off x="6876000" y="3600000"/>
              <a:ext cx="410400" cy="338400"/>
            </a:xfrm>
            <a:prstGeom prst="rect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171" name="SCHEM_line-0169"/>
            <p:cNvCxnSpPr/>
            <p:nvPr/>
          </p:nvCxnSpPr>
          <p:spPr>
            <a:xfrm flipV="1">
              <a:off x="7264800" y="820800"/>
              <a:ext cx="604800" cy="2779200"/>
            </a:xfrm>
            <a:prstGeom prst="line">
              <a:avLst/>
            </a:prstGeom>
            <a:noFill/>
            <a:ln w="936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172" name="SCHEM_line-0170"/>
            <p:cNvCxnSpPr/>
            <p:nvPr/>
          </p:nvCxnSpPr>
          <p:spPr>
            <a:xfrm flipV="1">
              <a:off x="7286400" y="2736000"/>
              <a:ext cx="583200" cy="1202400"/>
            </a:xfrm>
            <a:prstGeom prst="line">
              <a:avLst/>
            </a:prstGeom>
            <a:noFill/>
            <a:ln w="936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173" name="SCHEM_line-0171"/>
            <p:cNvCxnSpPr/>
            <p:nvPr/>
          </p:nvCxnSpPr>
          <p:spPr>
            <a:xfrm>
              <a:off x="7509600" y="496800"/>
              <a:ext cx="1" cy="4528800"/>
            </a:xfrm>
            <a:prstGeom prst="line">
              <a:avLst/>
            </a:prstGeom>
            <a:noFill/>
            <a:ln w="7200" cap="flat">
              <a:solidFill>
                <a:srgbClr val="777772"/>
              </a:solidFill>
              <a:prstDash val="dash"/>
            </a:ln>
            <a:effectLst/>
          </p:spPr>
        </p:cxnSp>
        <p:sp>
          <p:nvSpPr>
            <p:cNvPr id="174" name="SCHEM_text-0172"/>
            <p:cNvSpPr txBox="1"/>
            <p:nvPr/>
          </p:nvSpPr>
          <p:spPr>
            <a:xfrm>
              <a:off x="7956000" y="489600"/>
              <a:ext cx="3528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 / Na / NBH interface (charged state)</a:t>
              </a:r>
              <a:endParaRPr lang="en-US" sz="1417"/>
            </a:p>
          </p:txBody>
        </p:sp>
        <p:grpSp>
          <p:nvGrpSpPr>
            <p:cNvPr id="175" name="SCHEM_charged-interface"/>
            <p:cNvGrpSpPr/>
            <p:nvPr/>
          </p:nvGrpSpPr>
          <p:grpSpPr>
            <a:xfrm>
              <a:off x="7869600" y="820800"/>
              <a:ext cx="2160000" cy="1915200"/>
              <a:chOff x="7869600" y="820800"/>
              <a:chExt cx="2160000" cy="1915200"/>
            </a:xfrm>
          </p:grpSpPr>
          <p:sp>
            <p:nvSpPr>
              <p:cNvPr id="176" name="SCHEM_rect-0174"/>
              <p:cNvSpPr/>
              <p:nvPr/>
            </p:nvSpPr>
            <p:spPr>
              <a:xfrm>
                <a:off x="7869600" y="820800"/>
                <a:ext cx="2160000" cy="1238400"/>
              </a:xfrm>
              <a:prstGeom prst="rect">
                <a:avLst/>
              </a:prstGeom>
              <a:solidFill>
                <a:srgbClr val="ABD9EC"/>
              </a:solidFill>
              <a:ln w="9360" cap="flat">
                <a:noFill/>
              </a:ln>
              <a:effectLst/>
            </p:spPr>
          </p:sp>
          <p:sp>
            <p:nvSpPr>
              <p:cNvPr id="177" name="SCHEM_rect-0175"/>
              <p:cNvSpPr/>
              <p:nvPr/>
            </p:nvSpPr>
            <p:spPr>
              <a:xfrm>
                <a:off x="7869600" y="2059200"/>
                <a:ext cx="2160000" cy="676800"/>
              </a:xfrm>
              <a:prstGeom prst="rect">
                <a:avLst/>
              </a:prstGeom>
              <a:solidFill>
                <a:srgbClr val="C4C4C0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78" name="SCHEM_ellipse-0176"/>
              <p:cNvSpPr/>
              <p:nvPr/>
            </p:nvSpPr>
            <p:spPr>
              <a:xfrm>
                <a:off x="8035200" y="1324800"/>
                <a:ext cx="100800" cy="100800"/>
              </a:xfrm>
              <a:prstGeom prst="ellipse">
                <a:avLst/>
              </a:prstGeom>
              <a:solidFill>
                <a:srgbClr val="72BEE7"/>
              </a:solidFill>
              <a:ln w="7200" cap="flat">
                <a:solidFill>
                  <a:srgbClr val="278CB9"/>
                </a:solidFill>
              </a:ln>
              <a:effectLst/>
            </p:spPr>
          </p:sp>
          <p:sp>
            <p:nvSpPr>
              <p:cNvPr id="179" name="SCHEM_ellipse-0177"/>
              <p:cNvSpPr/>
              <p:nvPr/>
            </p:nvSpPr>
            <p:spPr>
              <a:xfrm>
                <a:off x="8258400" y="1130400"/>
                <a:ext cx="100800" cy="100800"/>
              </a:xfrm>
              <a:prstGeom prst="ellipse">
                <a:avLst/>
              </a:prstGeom>
              <a:solidFill>
                <a:srgbClr val="72BEE7"/>
              </a:solidFill>
              <a:ln w="7200" cap="flat">
                <a:solidFill>
                  <a:srgbClr val="278CB9"/>
                </a:solidFill>
              </a:ln>
              <a:effectLst/>
            </p:spPr>
          </p:sp>
          <p:sp>
            <p:nvSpPr>
              <p:cNvPr id="180" name="SCHEM_ellipse-0178"/>
              <p:cNvSpPr/>
              <p:nvPr/>
            </p:nvSpPr>
            <p:spPr>
              <a:xfrm>
                <a:off x="8820000" y="1238400"/>
                <a:ext cx="100800" cy="100800"/>
              </a:xfrm>
              <a:prstGeom prst="ellipse">
                <a:avLst/>
              </a:prstGeom>
              <a:solidFill>
                <a:srgbClr val="72BEE7"/>
              </a:solidFill>
              <a:ln w="7200" cap="flat">
                <a:solidFill>
                  <a:srgbClr val="278CB9"/>
                </a:solidFill>
              </a:ln>
              <a:effectLst/>
            </p:spPr>
          </p:sp>
          <p:sp>
            <p:nvSpPr>
              <p:cNvPr id="181" name="SCHEM_ellipse-0179"/>
              <p:cNvSpPr/>
              <p:nvPr/>
            </p:nvSpPr>
            <p:spPr>
              <a:xfrm>
                <a:off x="9064800" y="1080000"/>
                <a:ext cx="100800" cy="100800"/>
              </a:xfrm>
              <a:prstGeom prst="ellipse">
                <a:avLst/>
              </a:prstGeom>
              <a:solidFill>
                <a:srgbClr val="72BEE7"/>
              </a:solidFill>
              <a:ln w="7200" cap="flat">
                <a:solidFill>
                  <a:srgbClr val="278CB9"/>
                </a:solidFill>
              </a:ln>
              <a:effectLst/>
            </p:spPr>
          </p:sp>
          <p:sp>
            <p:nvSpPr>
              <p:cNvPr id="182" name="SCHEM_ellipse-0180"/>
              <p:cNvSpPr/>
              <p:nvPr/>
            </p:nvSpPr>
            <p:spPr>
              <a:xfrm>
                <a:off x="9547200" y="972000"/>
                <a:ext cx="100800" cy="100800"/>
              </a:xfrm>
              <a:prstGeom prst="ellipse">
                <a:avLst/>
              </a:prstGeom>
              <a:solidFill>
                <a:srgbClr val="72BEE7"/>
              </a:solidFill>
              <a:ln w="7200" cap="flat">
                <a:solidFill>
                  <a:srgbClr val="278CB9"/>
                </a:solidFill>
              </a:ln>
              <a:effectLst/>
            </p:spPr>
          </p:sp>
          <p:sp>
            <p:nvSpPr>
              <p:cNvPr id="183" name="SCHEM_ellipse-0181"/>
              <p:cNvSpPr/>
              <p:nvPr/>
            </p:nvSpPr>
            <p:spPr>
              <a:xfrm>
                <a:off x="9633600" y="1216800"/>
                <a:ext cx="100800" cy="100800"/>
              </a:xfrm>
              <a:prstGeom prst="ellipse">
                <a:avLst/>
              </a:prstGeom>
              <a:solidFill>
                <a:srgbClr val="72BEE7"/>
              </a:solidFill>
              <a:ln w="7200" cap="flat">
                <a:solidFill>
                  <a:srgbClr val="278CB9"/>
                </a:solidFill>
              </a:ln>
              <a:effectLst/>
            </p:spPr>
          </p:sp>
          <p:sp>
            <p:nvSpPr>
              <p:cNvPr id="184" name="SCHEM_ellipse-0182"/>
              <p:cNvSpPr/>
              <p:nvPr/>
            </p:nvSpPr>
            <p:spPr>
              <a:xfrm>
                <a:off x="7876800" y="16992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85" name="SCHEM_ellipse-0183"/>
              <p:cNvSpPr/>
              <p:nvPr/>
            </p:nvSpPr>
            <p:spPr>
              <a:xfrm>
                <a:off x="8078400" y="1720800"/>
                <a:ext cx="201600" cy="2016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86" name="SCHEM_ellipse-0184"/>
              <p:cNvSpPr/>
              <p:nvPr/>
            </p:nvSpPr>
            <p:spPr>
              <a:xfrm>
                <a:off x="8280000" y="1684800"/>
                <a:ext cx="216000" cy="2160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87" name="SCHEM_ellipse-0185"/>
              <p:cNvSpPr/>
              <p:nvPr/>
            </p:nvSpPr>
            <p:spPr>
              <a:xfrm>
                <a:off x="8503200" y="17280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88" name="SCHEM_ellipse-0186"/>
              <p:cNvSpPr/>
              <p:nvPr/>
            </p:nvSpPr>
            <p:spPr>
              <a:xfrm>
                <a:off x="8704800" y="1692000"/>
                <a:ext cx="201600" cy="2016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89" name="SCHEM_ellipse-0187"/>
              <p:cNvSpPr/>
              <p:nvPr/>
            </p:nvSpPr>
            <p:spPr>
              <a:xfrm>
                <a:off x="8906400" y="1713600"/>
                <a:ext cx="216000" cy="2160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0" name="SCHEM_ellipse-0188"/>
              <p:cNvSpPr/>
              <p:nvPr/>
            </p:nvSpPr>
            <p:spPr>
              <a:xfrm>
                <a:off x="9129600" y="16992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1" name="SCHEM_ellipse-0189"/>
              <p:cNvSpPr/>
              <p:nvPr/>
            </p:nvSpPr>
            <p:spPr>
              <a:xfrm>
                <a:off x="9331200" y="1720800"/>
                <a:ext cx="201600" cy="2016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2" name="SCHEM_ellipse-0190"/>
              <p:cNvSpPr/>
              <p:nvPr/>
            </p:nvSpPr>
            <p:spPr>
              <a:xfrm>
                <a:off x="9532800" y="1684800"/>
                <a:ext cx="216000" cy="2160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3" name="SCHEM_ellipse-0191"/>
              <p:cNvSpPr/>
              <p:nvPr/>
            </p:nvSpPr>
            <p:spPr>
              <a:xfrm>
                <a:off x="9756000" y="17280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4" name="SCHEM_ellipse-0192"/>
              <p:cNvSpPr/>
              <p:nvPr/>
            </p:nvSpPr>
            <p:spPr>
              <a:xfrm>
                <a:off x="7905600" y="18720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5" name="SCHEM_ellipse-0193"/>
              <p:cNvSpPr/>
              <p:nvPr/>
            </p:nvSpPr>
            <p:spPr>
              <a:xfrm>
                <a:off x="8107200" y="1893600"/>
                <a:ext cx="201600" cy="2016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6" name="SCHEM_ellipse-0194"/>
              <p:cNvSpPr/>
              <p:nvPr/>
            </p:nvSpPr>
            <p:spPr>
              <a:xfrm>
                <a:off x="8308800" y="1857600"/>
                <a:ext cx="216000" cy="2160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7" name="SCHEM_ellipse-0195"/>
              <p:cNvSpPr/>
              <p:nvPr/>
            </p:nvSpPr>
            <p:spPr>
              <a:xfrm>
                <a:off x="8532000" y="19008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8" name="SCHEM_ellipse-0196"/>
              <p:cNvSpPr/>
              <p:nvPr/>
            </p:nvSpPr>
            <p:spPr>
              <a:xfrm>
                <a:off x="8733600" y="1864800"/>
                <a:ext cx="201600" cy="2016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9" name="SCHEM_ellipse-0197"/>
              <p:cNvSpPr/>
              <p:nvPr/>
            </p:nvSpPr>
            <p:spPr>
              <a:xfrm>
                <a:off x="8935200" y="1886400"/>
                <a:ext cx="216000" cy="2160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200" name="SCHEM_ellipse-0198"/>
              <p:cNvSpPr/>
              <p:nvPr/>
            </p:nvSpPr>
            <p:spPr>
              <a:xfrm>
                <a:off x="9158400" y="18720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201" name="SCHEM_ellipse-0199"/>
              <p:cNvSpPr/>
              <p:nvPr/>
            </p:nvSpPr>
            <p:spPr>
              <a:xfrm>
                <a:off x="9360000" y="1893600"/>
                <a:ext cx="201600" cy="2016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202" name="SCHEM_ellipse-0200"/>
              <p:cNvSpPr/>
              <p:nvPr/>
            </p:nvSpPr>
            <p:spPr>
              <a:xfrm>
                <a:off x="9561600" y="1857600"/>
                <a:ext cx="216000" cy="2160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203" name="SCHEM_ellipse-0201"/>
              <p:cNvSpPr/>
              <p:nvPr/>
            </p:nvSpPr>
            <p:spPr>
              <a:xfrm>
                <a:off x="9784800" y="19008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204" name="SCHEM_rect-0202"/>
              <p:cNvSpPr/>
              <p:nvPr/>
            </p:nvSpPr>
            <p:spPr>
              <a:xfrm>
                <a:off x="7869600" y="820800"/>
                <a:ext cx="2160000" cy="1915200"/>
              </a:xfrm>
              <a:prstGeom prst="rect">
                <a:avLst/>
              </a:prstGeom>
              <a:noFill/>
              <a:ln w="10080" cap="flat">
                <a:solidFill>
                  <a:srgbClr val="292929"/>
                </a:solidFill>
                <a:prstDash val="dash"/>
              </a:ln>
              <a:effectLst/>
            </p:spPr>
          </p:sp>
          <p:cxnSp>
            <p:nvCxnSpPr>
              <p:cNvPr id="205" name="SCHEM_line-0203"/>
              <p:cNvCxnSpPr/>
              <p:nvPr/>
            </p:nvCxnSpPr>
            <p:spPr>
              <a:xfrm>
                <a:off x="8510400" y="1245600"/>
                <a:ext cx="1" cy="439200"/>
              </a:xfrm>
              <a:prstGeom prst="line">
                <a:avLst/>
              </a:prstGeom>
              <a:noFill/>
              <a:ln w="18720" cap="flat">
                <a:solidFill>
                  <a:srgbClr val="0785BE"/>
                </a:solidFill>
                <a:tailEnd type="triangle" w="med" len="med"/>
              </a:ln>
              <a:effectLst/>
            </p:spPr>
          </p:cxnSp>
          <p:cxnSp>
            <p:nvCxnSpPr>
              <p:cNvPr id="206" name="SCHEM_line-0204"/>
              <p:cNvCxnSpPr/>
              <p:nvPr/>
            </p:nvCxnSpPr>
            <p:spPr>
              <a:xfrm>
                <a:off x="9360000" y="1245600"/>
                <a:ext cx="1" cy="439200"/>
              </a:xfrm>
              <a:prstGeom prst="line">
                <a:avLst/>
              </a:prstGeom>
              <a:noFill/>
              <a:ln w="18720" cap="flat">
                <a:solidFill>
                  <a:srgbClr val="0785BE"/>
                </a:solidFill>
                <a:tailEnd type="triangle" w="med" len="med"/>
              </a:ln>
              <a:effectLst/>
            </p:spPr>
          </p:cxnSp>
        </p:grpSp>
        <p:sp>
          <p:nvSpPr>
            <p:cNvPr id="207" name="SCHEM_text-0205"/>
            <p:cNvSpPr txBox="1"/>
            <p:nvPr/>
          </p:nvSpPr>
          <p:spPr>
            <a:xfrm>
              <a:off x="8560800" y="1000800"/>
              <a:ext cx="720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0877AF"/>
                  </a:solidFill>
                  <a:latin typeface="Times New Roman"/>
                  <a:ea typeface="Times New Roman"/>
                  <a:cs typeface="Times New Roman"/>
                </a:rPr>
                <a:t>Na⁺</a:t>
              </a:r>
              <a:endParaRPr lang="en-US" sz="1361"/>
            </a:p>
          </p:txBody>
        </p:sp>
        <p:sp>
          <p:nvSpPr>
            <p:cNvPr id="208" name="SCHEM_text-0206"/>
            <p:cNvSpPr txBox="1"/>
            <p:nvPr/>
          </p:nvSpPr>
          <p:spPr>
            <a:xfrm>
              <a:off x="10180800" y="1123200"/>
              <a:ext cx="12960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NBH solid electrolyte</a:t>
              </a:r>
              <a:endParaRPr lang="en-US" sz="1134"/>
            </a:p>
          </p:txBody>
        </p:sp>
        <p:cxnSp>
          <p:nvCxnSpPr>
            <p:cNvPr id="209" name="SCHEM_line-0207"/>
            <p:cNvCxnSpPr/>
            <p:nvPr/>
          </p:nvCxnSpPr>
          <p:spPr>
            <a:xfrm flipH="1">
              <a:off x="9748800" y="1180800"/>
              <a:ext cx="388800" cy="64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0" name="SCHEM_ellipse-0208"/>
            <p:cNvSpPr/>
            <p:nvPr/>
          </p:nvSpPr>
          <p:spPr>
            <a:xfrm>
              <a:off x="9727200" y="1224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11" name="SCHEM_text-0209"/>
            <p:cNvSpPr txBox="1"/>
            <p:nvPr/>
          </p:nvSpPr>
          <p:spPr>
            <a:xfrm>
              <a:off x="10180800" y="1771200"/>
              <a:ext cx="12240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 metal (plated)</a:t>
              </a:r>
              <a:endParaRPr lang="en-US" sz="1134"/>
            </a:p>
          </p:txBody>
        </p:sp>
        <p:cxnSp>
          <p:nvCxnSpPr>
            <p:cNvPr id="212" name="SCHEM_line-0210"/>
            <p:cNvCxnSpPr/>
            <p:nvPr/>
          </p:nvCxnSpPr>
          <p:spPr>
            <a:xfrm flipH="1">
              <a:off x="9849600" y="1821600"/>
              <a:ext cx="288000" cy="86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3" name="SCHEM_ellipse-0211"/>
            <p:cNvSpPr/>
            <p:nvPr/>
          </p:nvSpPr>
          <p:spPr>
            <a:xfrm>
              <a:off x="9828000" y="1886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14" name="SCHEM_text-0212"/>
            <p:cNvSpPr txBox="1"/>
            <p:nvPr/>
          </p:nvSpPr>
          <p:spPr>
            <a:xfrm>
              <a:off x="10188000" y="2260800"/>
              <a:ext cx="1296000" cy="424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Aluminium pellet</a:t>
              </a:r>
              <a:endParaRPr lang="en-US" sz="1134"/>
            </a:p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current collector</a:t>
              </a:r>
              <a:endParaRPr lang="en-US" sz="1134"/>
            </a:p>
          </p:txBody>
        </p:sp>
        <p:cxnSp>
          <p:nvCxnSpPr>
            <p:cNvPr id="215" name="SCHEM_line-0213"/>
            <p:cNvCxnSpPr/>
            <p:nvPr/>
          </p:nvCxnSpPr>
          <p:spPr>
            <a:xfrm flipH="1">
              <a:off x="9748800" y="2340000"/>
              <a:ext cx="396000" cy="79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6" name="SCHEM_ellipse-0214"/>
            <p:cNvSpPr/>
            <p:nvPr/>
          </p:nvSpPr>
          <p:spPr>
            <a:xfrm>
              <a:off x="9727200" y="2397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17" name="SCHEM_text-0215"/>
            <p:cNvSpPr txBox="1"/>
            <p:nvPr/>
          </p:nvSpPr>
          <p:spPr>
            <a:xfrm>
              <a:off x="7336800" y="3434400"/>
              <a:ext cx="590400" cy="6192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850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Na⁺</a:t>
              </a:r>
              <a:endParaRPr lang="en-US" sz="850"/>
            </a:p>
            <a:p>
              <a:pPr algn="ctr">
                <a:buNone/>
              </a:pPr>
              <a:r>
                <a:rPr lang="en-US" sz="850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transport</a:t>
              </a:r>
              <a:endParaRPr lang="en-US" sz="850"/>
            </a:p>
            <a:p>
              <a:pPr algn="ctr">
                <a:buNone/>
              </a:pPr>
              <a:r>
                <a:rPr lang="en-US" sz="850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during</a:t>
              </a:r>
              <a:endParaRPr lang="en-US" sz="850"/>
            </a:p>
            <a:p>
              <a:pPr algn="ctr">
                <a:buNone/>
              </a:pPr>
              <a:r>
                <a:rPr lang="en-US" sz="850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charging</a:t>
              </a:r>
              <a:endParaRPr lang="en-US" sz="850"/>
            </a:p>
          </p:txBody>
        </p:sp>
        <p:cxnSp>
          <p:nvCxnSpPr>
            <p:cNvPr id="218" name="SCHEM_line-0216"/>
            <p:cNvCxnSpPr/>
            <p:nvPr/>
          </p:nvCxnSpPr>
          <p:spPr>
            <a:xfrm flipH="1" flipV="1">
              <a:off x="7084800" y="3304800"/>
              <a:ext cx="396000" cy="144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9" name="SCHEM_ellipse-0217"/>
            <p:cNvSpPr/>
            <p:nvPr/>
          </p:nvSpPr>
          <p:spPr>
            <a:xfrm>
              <a:off x="7063200" y="3283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20" name="SCHEM_text-0218"/>
            <p:cNvSpPr txBox="1"/>
            <p:nvPr/>
          </p:nvSpPr>
          <p:spPr>
            <a:xfrm>
              <a:off x="7948800" y="3052800"/>
              <a:ext cx="3528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Porous collector after stripping (trapped Na)</a:t>
              </a:r>
              <a:endParaRPr lang="en-US" sz="1361"/>
            </a:p>
          </p:txBody>
        </p:sp>
        <p:grpSp>
          <p:nvGrpSpPr>
            <p:cNvPr id="221" name="SCHEM_porous-collector"/>
            <p:cNvGrpSpPr/>
            <p:nvPr/>
          </p:nvGrpSpPr>
          <p:grpSpPr>
            <a:xfrm>
              <a:off x="7948800" y="3348000"/>
              <a:ext cx="2052000" cy="1447200"/>
              <a:chOff x="7948800" y="3348000"/>
              <a:chExt cx="2052000" cy="1447200"/>
            </a:xfrm>
          </p:grpSpPr>
          <p:sp>
            <p:nvSpPr>
              <p:cNvPr id="222" name="SCHEM_rect-0220"/>
              <p:cNvSpPr/>
              <p:nvPr/>
            </p:nvSpPr>
            <p:spPr>
              <a:xfrm>
                <a:off x="7948800" y="3348000"/>
                <a:ext cx="2052000" cy="1447200"/>
              </a:xfrm>
              <a:prstGeom prst="rect">
                <a:avLst/>
              </a:prstGeom>
              <a:solidFill>
                <a:srgbClr val="C3C3BF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3" name="SCHEM_path-0221"/>
              <p:cNvSpPr/>
              <p:nvPr/>
            </p:nvSpPr>
            <p:spPr>
              <a:xfrm>
                <a:off x="8003856" y="3464863"/>
                <a:ext cx="459990" cy="678385"/>
              </a:xfrm>
              <a:custGeom>
                <a:avLst/>
                <a:gdLst/>
                <a:ahLst/>
                <a:cxnLst/>
                <a:rect l="0" t="0" r="r" b="b"/>
                <a:pathLst>
                  <a:path w="459990" h="678385">
                    <a:moveTo>
                      <a:pt x="452778" y="336737"/>
                    </a:moveTo>
                    <a:cubicBezTo>
                      <a:pt x="448826" y="408149"/>
                      <a:pt x="436609" y="485256"/>
                      <a:pt x="407552" y="536803"/>
                    </a:cubicBezTo>
                    <a:cubicBezTo>
                      <a:pt x="378495" y="588351"/>
                      <a:pt x="327261" y="627746"/>
                      <a:pt x="278435" y="646020"/>
                    </a:cubicBezTo>
                    <a:cubicBezTo>
                      <a:pt x="229608" y="664295"/>
                      <a:pt x="158811" y="678385"/>
                      <a:pt x="114595" y="646451"/>
                    </a:cubicBezTo>
                    <a:cubicBezTo>
                      <a:pt x="70378" y="614516"/>
                      <a:pt x="26274" y="523690"/>
                      <a:pt x="13137" y="454414"/>
                    </a:cubicBezTo>
                    <a:cubicBezTo>
                      <a:pt x="0" y="385138"/>
                      <a:pt x="18031" y="299975"/>
                      <a:pt x="35772" y="230795"/>
                    </a:cubicBezTo>
                    <a:cubicBezTo>
                      <a:pt x="53514" y="161614"/>
                      <a:pt x="78811" y="75881"/>
                      <a:pt x="119584" y="39332"/>
                    </a:cubicBezTo>
                    <a:cubicBezTo>
                      <a:pt x="160357" y="2783"/>
                      <a:pt x="228463" y="0"/>
                      <a:pt x="280410" y="11501"/>
                    </a:cubicBezTo>
                    <a:cubicBezTo>
                      <a:pt x="332356" y="23001"/>
                      <a:pt x="402534" y="54130"/>
                      <a:pt x="431262" y="108336"/>
                    </a:cubicBezTo>
                    <a:cubicBezTo>
                      <a:pt x="459990" y="162542"/>
                      <a:pt x="456730" y="265326"/>
                      <a:pt x="452778" y="3367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4" name="SCHEM_path-0222"/>
              <p:cNvSpPr/>
              <p:nvPr/>
            </p:nvSpPr>
            <p:spPr>
              <a:xfrm>
                <a:off x="8614144" y="3486144"/>
                <a:ext cx="675061" cy="850490"/>
              </a:xfrm>
              <a:custGeom>
                <a:avLst/>
                <a:gdLst/>
                <a:ahLst/>
                <a:cxnLst/>
                <a:rect l="0" t="0" r="r" b="b"/>
                <a:pathLst>
                  <a:path w="675061" h="850490">
                    <a:moveTo>
                      <a:pt x="664837" y="445056"/>
                    </a:moveTo>
                    <a:cubicBezTo>
                      <a:pt x="671311" y="538461"/>
                      <a:pt x="675061" y="682270"/>
                      <a:pt x="630328" y="745557"/>
                    </a:cubicBezTo>
                    <a:cubicBezTo>
                      <a:pt x="585595" y="808843"/>
                      <a:pt x="472652" y="813907"/>
                      <a:pt x="396439" y="824774"/>
                    </a:cubicBezTo>
                    <a:cubicBezTo>
                      <a:pt x="320226" y="835642"/>
                      <a:pt x="234008" y="850490"/>
                      <a:pt x="173051" y="810762"/>
                    </a:cubicBezTo>
                    <a:cubicBezTo>
                      <a:pt x="112093" y="771035"/>
                      <a:pt x="56033" y="671648"/>
                      <a:pt x="30694" y="586407"/>
                    </a:cubicBezTo>
                    <a:cubicBezTo>
                      <a:pt x="5355" y="501167"/>
                      <a:pt x="0" y="389671"/>
                      <a:pt x="21017" y="299319"/>
                    </a:cubicBezTo>
                    <a:cubicBezTo>
                      <a:pt x="42034" y="208968"/>
                      <a:pt x="93474" y="88595"/>
                      <a:pt x="156795" y="44297"/>
                    </a:cubicBezTo>
                    <a:cubicBezTo>
                      <a:pt x="220116" y="0"/>
                      <a:pt x="328495" y="10063"/>
                      <a:pt x="400943" y="33534"/>
                    </a:cubicBezTo>
                    <a:cubicBezTo>
                      <a:pt x="473392" y="57006"/>
                      <a:pt x="547506" y="116540"/>
                      <a:pt x="591488" y="185127"/>
                    </a:cubicBezTo>
                    <a:cubicBezTo>
                      <a:pt x="635471" y="253714"/>
                      <a:pt x="658364" y="351651"/>
                      <a:pt x="664837" y="4450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5" name="SCHEM_path-0223"/>
              <p:cNvSpPr/>
              <p:nvPr/>
            </p:nvSpPr>
            <p:spPr>
              <a:xfrm>
                <a:off x="9288000" y="3348000"/>
                <a:ext cx="568800" cy="410400"/>
              </a:xfrm>
              <a:custGeom>
                <a:avLst/>
                <a:gdLst/>
                <a:ahLst/>
                <a:cxnLst/>
                <a:rect l="0" t="0" r="r" b="b"/>
                <a:pathLst>
                  <a:path w="568800" h="410400">
                    <a:moveTo>
                      <a:pt x="122400" y="0"/>
                    </a:moveTo>
                    <a:cubicBezTo>
                      <a:pt x="0" y="252000"/>
                      <a:pt x="532800" y="410400"/>
                      <a:pt x="568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6" name="SCHEM_path-0224"/>
              <p:cNvSpPr/>
              <p:nvPr/>
            </p:nvSpPr>
            <p:spPr>
              <a:xfrm>
                <a:off x="9216000" y="3780000"/>
                <a:ext cx="777600" cy="907200"/>
              </a:xfrm>
              <a:custGeom>
                <a:avLst/>
                <a:gdLst/>
                <a:ahLst/>
                <a:cxnLst/>
                <a:rect l="0" t="0" r="r" b="b"/>
                <a:pathLst>
                  <a:path w="777600" h="907200">
                    <a:moveTo>
                      <a:pt x="777600" y="72000"/>
                    </a:moveTo>
                    <a:cubicBezTo>
                      <a:pt x="252000" y="0"/>
                      <a:pt x="0" y="907200"/>
                      <a:pt x="468000" y="885600"/>
                    </a:cubicBezTo>
                    <a:cubicBezTo>
                      <a:pt x="597600" y="648000"/>
                      <a:pt x="676800" y="806400"/>
                      <a:pt x="777600" y="5904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7" name="SCHEM_path-0225"/>
              <p:cNvSpPr/>
              <p:nvPr/>
            </p:nvSpPr>
            <p:spPr>
              <a:xfrm>
                <a:off x="8019650" y="4321710"/>
                <a:ext cx="598564" cy="348674"/>
              </a:xfrm>
              <a:custGeom>
                <a:avLst/>
                <a:gdLst/>
                <a:ahLst/>
                <a:cxnLst/>
                <a:rect l="0" t="0" r="r" b="b"/>
                <a:pathLst>
                  <a:path w="598564" h="348674">
                    <a:moveTo>
                      <a:pt x="598317" y="171090"/>
                    </a:moveTo>
                    <a:cubicBezTo>
                      <a:pt x="598071" y="208783"/>
                      <a:pt x="548423" y="258490"/>
                      <a:pt x="504031" y="283781"/>
                    </a:cubicBezTo>
                    <a:cubicBezTo>
                      <a:pt x="459638" y="309073"/>
                      <a:pt x="392801" y="314530"/>
                      <a:pt x="331962" y="322840"/>
                    </a:cubicBezTo>
                    <a:cubicBezTo>
                      <a:pt x="271123" y="331149"/>
                      <a:pt x="191211" y="348674"/>
                      <a:pt x="138995" y="333637"/>
                    </a:cubicBezTo>
                    <a:cubicBezTo>
                      <a:pt x="86779" y="318601"/>
                      <a:pt x="37336" y="269650"/>
                      <a:pt x="18668" y="232619"/>
                    </a:cubicBezTo>
                    <a:cubicBezTo>
                      <a:pt x="0" y="195589"/>
                      <a:pt x="5886" y="147666"/>
                      <a:pt x="26987" y="111453"/>
                    </a:cubicBezTo>
                    <a:cubicBezTo>
                      <a:pt x="48087" y="75239"/>
                      <a:pt x="94448" y="30677"/>
                      <a:pt x="145273" y="15338"/>
                    </a:cubicBezTo>
                    <a:cubicBezTo>
                      <a:pt x="196098" y="0"/>
                      <a:pt x="271900" y="12375"/>
                      <a:pt x="331939" y="19422"/>
                    </a:cubicBezTo>
                    <a:cubicBezTo>
                      <a:pt x="391978" y="26470"/>
                      <a:pt x="461112" y="32346"/>
                      <a:pt x="505508" y="57623"/>
                    </a:cubicBezTo>
                    <a:cubicBezTo>
                      <a:pt x="549905" y="82901"/>
                      <a:pt x="598564" y="133397"/>
                      <a:pt x="598317" y="1710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8" name="SCHEM_path-0226"/>
              <p:cNvSpPr/>
              <p:nvPr/>
            </p:nvSpPr>
            <p:spPr>
              <a:xfrm>
                <a:off x="8654400" y="4478400"/>
                <a:ext cx="640800" cy="316800"/>
              </a:xfrm>
              <a:custGeom>
                <a:avLst/>
                <a:gdLst/>
                <a:ahLst/>
                <a:cxnLst/>
                <a:rect l="0" t="0" r="r" b="b"/>
                <a:pathLst>
                  <a:path w="640800" h="316800">
                    <a:moveTo>
                      <a:pt x="0" y="316800"/>
                    </a:moveTo>
                    <a:cubicBezTo>
                      <a:pt x="122400" y="0"/>
                      <a:pt x="410400" y="57600"/>
                      <a:pt x="640800" y="3168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9" name="SCHEM_ellipse-0227"/>
              <p:cNvSpPr/>
              <p:nvPr/>
            </p:nvSpPr>
            <p:spPr>
              <a:xfrm>
                <a:off x="8647200" y="38160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0" name="SCHEM_ellipse-0228"/>
              <p:cNvSpPr/>
              <p:nvPr/>
            </p:nvSpPr>
            <p:spPr>
              <a:xfrm>
                <a:off x="8812800" y="37584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1" name="SCHEM_ellipse-0229"/>
              <p:cNvSpPr/>
              <p:nvPr/>
            </p:nvSpPr>
            <p:spPr>
              <a:xfrm>
                <a:off x="8985600" y="37080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2" name="SCHEM_ellipse-0230"/>
              <p:cNvSpPr/>
              <p:nvPr/>
            </p:nvSpPr>
            <p:spPr>
              <a:xfrm>
                <a:off x="8913600" y="38736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3" name="SCHEM_ellipse-0231"/>
              <p:cNvSpPr/>
              <p:nvPr/>
            </p:nvSpPr>
            <p:spPr>
              <a:xfrm>
                <a:off x="9086400" y="38952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4" name="SCHEM_ellipse-0232"/>
              <p:cNvSpPr/>
              <p:nvPr/>
            </p:nvSpPr>
            <p:spPr>
              <a:xfrm>
                <a:off x="8719200" y="39528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5" name="SCHEM_ellipse-0233"/>
              <p:cNvSpPr/>
              <p:nvPr/>
            </p:nvSpPr>
            <p:spPr>
              <a:xfrm>
                <a:off x="8827200" y="41256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6" name="SCHEM_ellipse-0234"/>
              <p:cNvSpPr/>
              <p:nvPr/>
            </p:nvSpPr>
            <p:spPr>
              <a:xfrm>
                <a:off x="8978400" y="40608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</p:grpSp>
        <p:sp>
          <p:nvSpPr>
            <p:cNvPr id="237" name="SCHEM_text-0235"/>
            <p:cNvSpPr txBox="1"/>
            <p:nvPr/>
          </p:nvSpPr>
          <p:spPr>
            <a:xfrm>
              <a:off x="10209600" y="3492000"/>
              <a:ext cx="1260000" cy="6192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Isolated Na in pore</a:t>
              </a:r>
              <a:endParaRPr lang="en-US" sz="1134"/>
            </a:p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after stripping</a:t>
              </a:r>
              <a:endParaRPr lang="en-US" sz="1134"/>
            </a:p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(no ion pathway)</a:t>
              </a:r>
              <a:endParaRPr lang="en-US" sz="1134"/>
            </a:p>
          </p:txBody>
        </p:sp>
        <p:cxnSp>
          <p:nvCxnSpPr>
            <p:cNvPr id="238" name="SCHEM_line-0236"/>
            <p:cNvCxnSpPr/>
            <p:nvPr/>
          </p:nvCxnSpPr>
          <p:spPr>
            <a:xfrm flipH="1">
              <a:off x="9129600" y="3571200"/>
              <a:ext cx="1036800" cy="345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39" name="SCHEM_ellipse-0237"/>
            <p:cNvSpPr/>
            <p:nvPr/>
          </p:nvSpPr>
          <p:spPr>
            <a:xfrm>
              <a:off x="9108000" y="3895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40" name="SCHEM_text-0238"/>
            <p:cNvSpPr txBox="1"/>
            <p:nvPr/>
          </p:nvSpPr>
          <p:spPr>
            <a:xfrm>
              <a:off x="10209600" y="4356000"/>
              <a:ext cx="1281600" cy="424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Aluminium porous</a:t>
              </a:r>
              <a:endParaRPr lang="en-US" sz="1134"/>
            </a:p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current collector</a:t>
              </a:r>
              <a:endParaRPr lang="en-US" sz="1134"/>
            </a:p>
          </p:txBody>
        </p:sp>
        <p:cxnSp>
          <p:nvCxnSpPr>
            <p:cNvPr id="241" name="SCHEM_line-0239"/>
            <p:cNvCxnSpPr/>
            <p:nvPr/>
          </p:nvCxnSpPr>
          <p:spPr>
            <a:xfrm flipH="1">
              <a:off x="9784800" y="4442400"/>
              <a:ext cx="381600" cy="122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42" name="SCHEM_ellipse-0240"/>
            <p:cNvSpPr/>
            <p:nvPr/>
          </p:nvSpPr>
          <p:spPr>
            <a:xfrm>
              <a:off x="9763200" y="4543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243" name="SCHEM_line-0241"/>
            <p:cNvCxnSpPr/>
            <p:nvPr/>
          </p:nvCxnSpPr>
          <p:spPr>
            <a:xfrm>
              <a:off x="129600" y="5162400"/>
              <a:ext cx="11275200" cy="1"/>
            </a:xfrm>
            <a:prstGeom prst="line">
              <a:avLst/>
            </a:prstGeom>
            <a:noFill/>
            <a:ln w="9360" cap="flat">
              <a:solidFill>
                <a:srgbClr val="4E5160"/>
              </a:solidFill>
            </a:ln>
            <a:effectLst/>
          </p:spPr>
        </p:cxnSp>
        <p:sp>
          <p:nvSpPr>
            <p:cNvPr id="244" name="SCHEM_text-0242"/>
            <p:cNvSpPr txBox="1"/>
            <p:nvPr/>
          </p:nvSpPr>
          <p:spPr>
            <a:xfrm>
              <a:off x="158400" y="5270400"/>
              <a:ext cx="4680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Legend (paths and components)</a:t>
              </a:r>
              <a:endParaRPr lang="en-US" sz="1304"/>
            </a:p>
          </p:txBody>
        </p:sp>
        <p:cxnSp>
          <p:nvCxnSpPr>
            <p:cNvPr id="245" name="SCHEM_line-0243"/>
            <p:cNvCxnSpPr/>
            <p:nvPr/>
          </p:nvCxnSpPr>
          <p:spPr>
            <a:xfrm>
              <a:off x="165600" y="5652000"/>
              <a:ext cx="482400" cy="1"/>
            </a:xfrm>
            <a:prstGeom prst="line">
              <a:avLst/>
            </a:prstGeom>
            <a:noFill/>
            <a:ln w="28800" cap="flat">
              <a:solidFill>
                <a:srgbClr val="55A9D6"/>
              </a:solidFill>
              <a:tailEnd type="triangle" w="med" len="med"/>
            </a:ln>
            <a:effectLst/>
          </p:spPr>
        </p:cxnSp>
        <p:sp>
          <p:nvSpPr>
            <p:cNvPr id="246" name="SCHEM_text-0244"/>
            <p:cNvSpPr txBox="1"/>
            <p:nvPr/>
          </p:nvSpPr>
          <p:spPr>
            <a:xfrm>
              <a:off x="763200" y="5536800"/>
              <a:ext cx="2232000" cy="424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Na⁺ ion transport</a:t>
              </a:r>
              <a:endParaRPr lang="en-US" sz="1134"/>
            </a:p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(in solid electrolyte)</a:t>
              </a:r>
              <a:endParaRPr lang="en-US" sz="1134"/>
            </a:p>
          </p:txBody>
        </p:sp>
        <p:cxnSp>
          <p:nvCxnSpPr>
            <p:cNvPr id="247" name="SCHEM_line-0245"/>
            <p:cNvCxnSpPr/>
            <p:nvPr/>
          </p:nvCxnSpPr>
          <p:spPr>
            <a:xfrm>
              <a:off x="4111200" y="548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sp>
          <p:nvSpPr>
            <p:cNvPr id="248" name="SCHEM_text-0246"/>
            <p:cNvSpPr txBox="1"/>
            <p:nvPr/>
          </p:nvSpPr>
          <p:spPr>
            <a:xfrm>
              <a:off x="4298400" y="5500800"/>
              <a:ext cx="1404000" cy="424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Mechanical pressure</a:t>
              </a:r>
              <a:endParaRPr lang="en-US" sz="1134"/>
            </a:p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(on stack, 10 MPa)</a:t>
              </a:r>
              <a:endParaRPr lang="en-US" sz="1134"/>
            </a:p>
          </p:txBody>
        </p:sp>
        <p:cxnSp>
          <p:nvCxnSpPr>
            <p:cNvPr id="249" name="SCHEM_line-0247"/>
            <p:cNvCxnSpPr/>
            <p:nvPr/>
          </p:nvCxnSpPr>
          <p:spPr>
            <a:xfrm>
              <a:off x="5659200" y="5364000"/>
              <a:ext cx="1" cy="5040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sp>
          <p:nvSpPr>
            <p:cNvPr id="250" name="SCHEM_ellipse-0248"/>
            <p:cNvSpPr/>
            <p:nvPr/>
          </p:nvSpPr>
          <p:spPr>
            <a:xfrm>
              <a:off x="5860800" y="5428800"/>
              <a:ext cx="381600" cy="381600"/>
            </a:xfrm>
            <a:prstGeom prst="ellipse">
              <a:avLst/>
            </a:prstGeom>
            <a:solidFill>
              <a:srgbClr val="C4D5A4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251" name="SCHEM_text-0249"/>
            <p:cNvSpPr txBox="1"/>
            <p:nvPr/>
          </p:nvSpPr>
          <p:spPr>
            <a:xfrm>
              <a:off x="6350400" y="5479200"/>
              <a:ext cx="1029600" cy="405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NaCrO₂</a:t>
              </a:r>
              <a:endParaRPr lang="en-US" sz="1077"/>
            </a:p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(active material)</a:t>
              </a:r>
              <a:endParaRPr lang="en-US" sz="1077"/>
            </a:p>
          </p:txBody>
        </p:sp>
        <p:sp>
          <p:nvSpPr>
            <p:cNvPr id="252" name="SCHEM_ellipse-0250"/>
            <p:cNvSpPr/>
            <p:nvPr/>
          </p:nvSpPr>
          <p:spPr>
            <a:xfrm>
              <a:off x="7322400" y="5544000"/>
              <a:ext cx="151200" cy="151200"/>
            </a:xfrm>
            <a:prstGeom prst="ellipse">
              <a:avLst/>
            </a:prstGeom>
            <a:solidFill>
              <a:srgbClr val="E9F2EE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253" name="SCHEM_text-0251"/>
            <p:cNvSpPr txBox="1"/>
            <p:nvPr/>
          </p:nvSpPr>
          <p:spPr>
            <a:xfrm>
              <a:off x="7524000" y="5565600"/>
              <a:ext cx="849600" cy="220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Catholyte</a:t>
              </a:r>
              <a:endParaRPr lang="en-US" sz="1077"/>
            </a:p>
          </p:txBody>
        </p:sp>
        <p:sp>
          <p:nvSpPr>
            <p:cNvPr id="254" name="SCHEM_ellipse-0252"/>
            <p:cNvSpPr/>
            <p:nvPr/>
          </p:nvSpPr>
          <p:spPr>
            <a:xfrm>
              <a:off x="8179200" y="5551200"/>
              <a:ext cx="136800" cy="136800"/>
            </a:xfrm>
            <a:prstGeom prst="ellipse">
              <a:avLst/>
            </a:prstGeom>
            <a:solidFill>
              <a:srgbClr val="50534E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255" name="SCHEM_text-0253"/>
            <p:cNvSpPr txBox="1"/>
            <p:nvPr/>
          </p:nvSpPr>
          <p:spPr>
            <a:xfrm>
              <a:off x="8366400" y="5565600"/>
              <a:ext cx="10944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Conductive carbon</a:t>
              </a:r>
              <a:endParaRPr lang="en-US" sz="1020"/>
            </a:p>
          </p:txBody>
        </p:sp>
        <p:sp>
          <p:nvSpPr>
            <p:cNvPr id="256" name="SCHEM_ellipse-0254"/>
            <p:cNvSpPr/>
            <p:nvPr/>
          </p:nvSpPr>
          <p:spPr>
            <a:xfrm>
              <a:off x="9525600" y="5536800"/>
              <a:ext cx="165600" cy="165600"/>
            </a:xfrm>
            <a:prstGeom prst="ellipse">
              <a:avLst/>
            </a:prstGeom>
            <a:solidFill>
              <a:srgbClr val="7AC4EB"/>
            </a:solidFill>
            <a:ln w="7200" cap="flat">
              <a:solidFill>
                <a:srgbClr val="2384AF"/>
              </a:solidFill>
            </a:ln>
            <a:effectLst/>
          </p:spPr>
        </p:sp>
        <p:sp>
          <p:nvSpPr>
            <p:cNvPr id="257" name="SCHEM_text-0255"/>
            <p:cNvSpPr txBox="1"/>
            <p:nvPr/>
          </p:nvSpPr>
          <p:spPr>
            <a:xfrm>
              <a:off x="9763200" y="5565600"/>
              <a:ext cx="9072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Na⁺ (in NBH)</a:t>
              </a:r>
              <a:endParaRPr lang="en-US" sz="1020"/>
            </a:p>
          </p:txBody>
        </p:sp>
        <p:sp>
          <p:nvSpPr>
            <p:cNvPr id="258" name="SCHEM_ellipse-0256"/>
            <p:cNvSpPr/>
            <p:nvPr/>
          </p:nvSpPr>
          <p:spPr>
            <a:xfrm>
              <a:off x="10641600" y="5508000"/>
              <a:ext cx="216000" cy="216000"/>
            </a:xfrm>
            <a:prstGeom prst="ellipse">
              <a:avLst/>
            </a:prstGeom>
            <a:solidFill>
              <a:srgbClr val="E4A59C"/>
            </a:solidFill>
            <a:ln w="7200" cap="flat">
              <a:solidFill>
                <a:srgbClr val="8B635C"/>
              </a:solidFill>
            </a:ln>
            <a:effectLst/>
          </p:spPr>
        </p:sp>
        <p:sp>
          <p:nvSpPr>
            <p:cNvPr id="259" name="SCHEM_text-0257"/>
            <p:cNvSpPr txBox="1"/>
            <p:nvPr/>
          </p:nvSpPr>
          <p:spPr>
            <a:xfrm>
              <a:off x="10922400" y="5558400"/>
              <a:ext cx="5832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 metal</a:t>
              </a:r>
              <a:endParaRPr lang="en-US" sz="1020"/>
            </a:p>
          </p:txBody>
        </p:sp>
        <p:sp>
          <p:nvSpPr>
            <p:cNvPr id="260" name="SCHEM_text-0258"/>
            <p:cNvSpPr txBox="1"/>
            <p:nvPr/>
          </p:nvSpPr>
          <p:spPr>
            <a:xfrm>
              <a:off x="158400" y="6177600"/>
              <a:ext cx="64080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Note: Collector thickness, stack pressure and cathode loading remain practical constraints.</a:t>
              </a:r>
              <a:endParaRPr lang="en-US" sz="1020"/>
            </a:p>
          </p:txBody>
        </p:sp>
        <p:sp>
          <p:nvSpPr>
            <p:cNvPr id="261" name="SCHEM_text-0259"/>
            <p:cNvSpPr txBox="1"/>
            <p:nvPr/>
          </p:nvSpPr>
          <p:spPr>
            <a:xfrm>
              <a:off x="6825600" y="6199200"/>
              <a:ext cx="4672800" cy="1915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90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Energy (2024) | doi:10.1038/s41560-024-01569-9 | Conceptual; not to scale.</a:t>
              </a:r>
              <a:endParaRPr lang="en-US" sz="907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