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11520000" cy="6480000"/>
  <p:notesSz cx="6858000" cy="9144000"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  <p:grpSp>
        <p:nvGrpSpPr>
          <p:cNvPr id="2" name="SCHEM_figure"/>
          <p:cNvGrpSpPr/>
          <p:nvPr/>
        </p:nvGrpSpPr>
        <p:grpSpPr>
          <a:xfrm>
            <a:off x="180000" y="237600"/>
            <a:ext cx="11304000" cy="6220800"/>
            <a:chOff x="180000" y="237600"/>
            <a:chExt cx="11304000" cy="6220800"/>
          </a:xfrm>
        </p:grpSpPr>
        <p:grpSp>
          <p:nvGrpSpPr>
            <p:cNvPr id="3" name="SCHEM_pneumatic-circuit"/>
            <p:cNvGrpSpPr/>
            <p:nvPr/>
          </p:nvGrpSpPr>
          <p:grpSpPr>
            <a:xfrm>
              <a:off x="525600" y="237600"/>
              <a:ext cx="10605600" cy="2692800"/>
              <a:chOff x="525600" y="237600"/>
              <a:chExt cx="10605600" cy="2692800"/>
            </a:xfrm>
          </p:grpSpPr>
          <p:sp>
            <p:nvSpPr>
              <p:cNvPr id="4" name="SCHEM_path-0002"/>
              <p:cNvSpPr/>
              <p:nvPr/>
            </p:nvSpPr>
            <p:spPr>
              <a:xfrm>
                <a:off x="2448000" y="1152000"/>
                <a:ext cx="5040000" cy="1"/>
              </a:xfrm>
              <a:custGeom>
                <a:avLst/>
                <a:gdLst/>
                <a:ahLst/>
                <a:cxnLst/>
                <a:rect l="0" t="0" r="r" b="b"/>
                <a:pathLst>
                  <a:path w="5040000" h="1">
                    <a:moveTo>
                      <a:pt x="0" y="0"/>
                    </a:moveTo>
                    <a:lnTo>
                      <a:pt x="5040000" y="0"/>
                    </a:lnTo>
                  </a:path>
                </a:pathLst>
              </a:custGeom>
              <a:noFill/>
              <a:ln w="86400" cap="flat">
                <a:solidFill>
                  <a:srgbClr val="292929"/>
                </a:solidFill>
              </a:ln>
              <a:effectLst/>
            </p:spPr>
          </p:sp>
          <p:sp>
            <p:nvSpPr>
              <p:cNvPr id="5" name="SCHEM_path-0003"/>
              <p:cNvSpPr/>
              <p:nvPr/>
            </p:nvSpPr>
            <p:spPr>
              <a:xfrm>
                <a:off x="2448000" y="1152000"/>
                <a:ext cx="5040000" cy="1"/>
              </a:xfrm>
              <a:custGeom>
                <a:avLst/>
                <a:gdLst/>
                <a:ahLst/>
                <a:cxnLst/>
                <a:rect l="0" t="0" r="r" b="b"/>
                <a:pathLst>
                  <a:path w="5040000" h="1">
                    <a:moveTo>
                      <a:pt x="0" y="0"/>
                    </a:moveTo>
                    <a:lnTo>
                      <a:pt x="5040000" y="0"/>
                    </a:lnTo>
                  </a:path>
                </a:pathLst>
              </a:custGeom>
              <a:noFill/>
              <a:ln w="72000" cap="flat">
                <a:solidFill>
                  <a:srgbClr val="6CB9DF"/>
                </a:solidFill>
              </a:ln>
              <a:effectLst/>
            </p:spPr>
          </p:sp>
          <p:sp>
            <p:nvSpPr>
              <p:cNvPr id="6" name="SCHEM_path-0004"/>
              <p:cNvSpPr/>
              <p:nvPr/>
            </p:nvSpPr>
            <p:spPr>
              <a:xfrm>
                <a:off x="5925600" y="1152000"/>
                <a:ext cx="1" cy="1188000"/>
              </a:xfrm>
              <a:custGeom>
                <a:avLst/>
                <a:gdLst/>
                <a:ahLst/>
                <a:cxnLst/>
                <a:rect l="0" t="0" r="r" b="b"/>
                <a:pathLst>
                  <a:path w="1" h="1188000">
                    <a:moveTo>
                      <a:pt x="0" y="0"/>
                    </a:moveTo>
                    <a:lnTo>
                      <a:pt x="0" y="1188000"/>
                    </a:lnTo>
                  </a:path>
                </a:pathLst>
              </a:custGeom>
              <a:noFill/>
              <a:ln w="93600" cap="flat">
                <a:solidFill>
                  <a:srgbClr val="292929"/>
                </a:solidFill>
              </a:ln>
              <a:effectLst/>
            </p:spPr>
          </p:sp>
          <p:sp>
            <p:nvSpPr>
              <p:cNvPr id="7" name="SCHEM_path-0005"/>
              <p:cNvSpPr/>
              <p:nvPr/>
            </p:nvSpPr>
            <p:spPr>
              <a:xfrm>
                <a:off x="5925600" y="1152000"/>
                <a:ext cx="1" cy="1188000"/>
              </a:xfrm>
              <a:custGeom>
                <a:avLst/>
                <a:gdLst/>
                <a:ahLst/>
                <a:cxnLst/>
                <a:rect l="0" t="0" r="r" b="b"/>
                <a:pathLst>
                  <a:path w="1" h="1188000">
                    <a:moveTo>
                      <a:pt x="0" y="0"/>
                    </a:moveTo>
                    <a:lnTo>
                      <a:pt x="0" y="1188000"/>
                    </a:lnTo>
                  </a:path>
                </a:pathLst>
              </a:custGeom>
              <a:noFill/>
              <a:ln w="79200" cap="flat">
                <a:solidFill>
                  <a:srgbClr val="6CB9DF"/>
                </a:solidFill>
              </a:ln>
              <a:effectLst/>
            </p:spPr>
          </p:sp>
          <p:sp>
            <p:nvSpPr>
              <p:cNvPr id="8" name="SCHEM_path-0006"/>
              <p:cNvSpPr/>
              <p:nvPr/>
            </p:nvSpPr>
            <p:spPr>
              <a:xfrm>
                <a:off x="612000" y="756000"/>
                <a:ext cx="1864800" cy="792000"/>
              </a:xfrm>
              <a:custGeom>
                <a:avLst/>
                <a:gdLst/>
                <a:ahLst/>
                <a:cxnLst/>
                <a:rect l="0" t="0" r="r" b="b"/>
                <a:pathLst>
                  <a:path w="1864800" h="792000">
                    <a:moveTo>
                      <a:pt x="0" y="381600"/>
                    </a:moveTo>
                    <a:cubicBezTo>
                      <a:pt x="0" y="86400"/>
                      <a:pt x="144000" y="0"/>
                      <a:pt x="324000" y="0"/>
                    </a:cubicBezTo>
                    <a:lnTo>
                      <a:pt x="1519200" y="0"/>
                    </a:lnTo>
                    <a:cubicBezTo>
                      <a:pt x="1735200" y="0"/>
                      <a:pt x="1864800" y="115200"/>
                      <a:pt x="1864800" y="396000"/>
                    </a:cubicBezTo>
                    <a:cubicBezTo>
                      <a:pt x="1864800" y="648000"/>
                      <a:pt x="1728000" y="792000"/>
                      <a:pt x="1519200" y="792000"/>
                    </a:cubicBezTo>
                    <a:lnTo>
                      <a:pt x="324000" y="792000"/>
                    </a:lnTo>
                    <a:cubicBezTo>
                      <a:pt x="122400" y="792000"/>
                      <a:pt x="0" y="669600"/>
                      <a:pt x="0" y="3816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8CFDC"/>
                  </a:gs>
                  <a:gs pos="30000">
                    <a:srgbClr val="DFEBF0"/>
                  </a:gs>
                  <a:gs pos="60000">
                    <a:srgbClr val="8CAABD"/>
                  </a:gs>
                  <a:gs pos="100000">
                    <a:srgbClr val="A8C2D1"/>
                  </a:gs>
                </a:gsLst>
                <a:lin ang="5400000" scaled="1"/>
              </a:gradFill>
              <a:ln w="12240" cap="flat">
                <a:solidFill>
                  <a:srgbClr val="292929"/>
                </a:solidFill>
              </a:ln>
              <a:effectLst/>
            </p:spPr>
          </p:sp>
          <p:sp>
            <p:nvSpPr>
              <p:cNvPr id="9" name="SCHEM_rect-0007"/>
              <p:cNvSpPr/>
              <p:nvPr/>
            </p:nvSpPr>
            <p:spPr>
              <a:xfrm>
                <a:off x="561600" y="1058400"/>
                <a:ext cx="72000" cy="194400"/>
              </a:xfrm>
              <a:prstGeom prst="rect">
                <a:avLst/>
              </a:prstGeom>
              <a:solidFill>
                <a:srgbClr val="B9B9B9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" name="SCHEM_rect-0008"/>
              <p:cNvSpPr/>
              <p:nvPr/>
            </p:nvSpPr>
            <p:spPr>
              <a:xfrm>
                <a:off x="525600" y="1094400"/>
                <a:ext cx="36000" cy="122400"/>
              </a:xfrm>
              <a:prstGeom prst="rect">
                <a:avLst/>
              </a:prstGeom>
              <a:solidFill>
                <a:srgbClr val="E5E5E3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1" name="SCHEM_rect-0009"/>
              <p:cNvSpPr/>
              <p:nvPr/>
            </p:nvSpPr>
            <p:spPr>
              <a:xfrm>
                <a:off x="2455200" y="1058400"/>
                <a:ext cx="72000" cy="194400"/>
              </a:xfrm>
              <a:prstGeom prst="rect">
                <a:avLst/>
              </a:prstGeom>
              <a:solidFill>
                <a:srgbClr val="B9B9B9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2" name="SCHEM_rect-0010"/>
              <p:cNvSpPr/>
              <p:nvPr/>
            </p:nvSpPr>
            <p:spPr>
              <a:xfrm>
                <a:off x="2419200" y="1094400"/>
                <a:ext cx="36000" cy="122400"/>
              </a:xfrm>
              <a:prstGeom prst="rect">
                <a:avLst/>
              </a:prstGeom>
              <a:solidFill>
                <a:srgbClr val="E5E5E3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3" name="SCHEM_line-0011"/>
              <p:cNvCxnSpPr/>
              <p:nvPr/>
            </p:nvCxnSpPr>
            <p:spPr>
              <a:xfrm>
                <a:off x="907200" y="770400"/>
                <a:ext cx="1" cy="763200"/>
              </a:xfrm>
              <a:prstGeom prst="line">
                <a:avLst/>
              </a:prstGeom>
              <a:noFill/>
              <a:ln w="7200" cap="flat">
                <a:solidFill>
                  <a:srgbClr val="657D89"/>
                </a:solidFill>
              </a:ln>
              <a:effectLst/>
            </p:spPr>
          </p:cxnSp>
          <p:cxnSp>
            <p:nvCxnSpPr>
              <p:cNvPr id="14" name="SCHEM_line-0012"/>
              <p:cNvCxnSpPr/>
              <p:nvPr/>
            </p:nvCxnSpPr>
            <p:spPr>
              <a:xfrm>
                <a:off x="2174400" y="770400"/>
                <a:ext cx="1" cy="763200"/>
              </a:xfrm>
              <a:prstGeom prst="line">
                <a:avLst/>
              </a:prstGeom>
              <a:noFill/>
              <a:ln w="7200" cap="flat">
                <a:solidFill>
                  <a:srgbClr val="657D89"/>
                </a:solidFill>
              </a:ln>
              <a:effectLst/>
            </p:spPr>
          </p:cxnSp>
          <p:sp>
            <p:nvSpPr>
              <p:cNvPr id="15" name="SCHEM_polygon-0013"/>
              <p:cNvSpPr/>
              <p:nvPr/>
            </p:nvSpPr>
            <p:spPr>
              <a:xfrm>
                <a:off x="914400" y="1548000"/>
                <a:ext cx="136800" cy="115200"/>
              </a:xfrm>
              <a:custGeom>
                <a:avLst/>
                <a:gdLst/>
                <a:ahLst/>
                <a:cxnLst/>
                <a:rect l="0" t="0" r="r" b="b"/>
                <a:pathLst>
                  <a:path w="136800" h="115200">
                    <a:moveTo>
                      <a:pt x="7200" y="0"/>
                    </a:moveTo>
                    <a:lnTo>
                      <a:pt x="136800" y="0"/>
                    </a:lnTo>
                    <a:lnTo>
                      <a:pt x="93600" y="115200"/>
                    </a:lnTo>
                    <a:lnTo>
                      <a:pt x="0" y="115200"/>
                    </a:lnTo>
                    <a:close/>
                  </a:path>
                </a:pathLst>
              </a:custGeom>
              <a:solidFill>
                <a:srgbClr val="757E80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6" name="SCHEM_polygon-0014"/>
              <p:cNvSpPr/>
              <p:nvPr/>
            </p:nvSpPr>
            <p:spPr>
              <a:xfrm>
                <a:off x="2059200" y="1548000"/>
                <a:ext cx="151200" cy="115200"/>
              </a:xfrm>
              <a:custGeom>
                <a:avLst/>
                <a:gdLst/>
                <a:ahLst/>
                <a:cxnLst/>
                <a:rect l="0" t="0" r="r" b="b"/>
                <a:pathLst>
                  <a:path w="151200" h="115200">
                    <a:moveTo>
                      <a:pt x="0" y="0"/>
                    </a:moveTo>
                    <a:lnTo>
                      <a:pt x="115200" y="0"/>
                    </a:lnTo>
                    <a:lnTo>
                      <a:pt x="151200" y="115200"/>
                    </a:lnTo>
                    <a:lnTo>
                      <a:pt x="28800" y="115200"/>
                    </a:lnTo>
                    <a:close/>
                  </a:path>
                </a:pathLst>
              </a:custGeom>
              <a:solidFill>
                <a:srgbClr val="757E80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7" name="SCHEM_rect-0015"/>
              <p:cNvSpPr/>
              <p:nvPr/>
            </p:nvSpPr>
            <p:spPr>
              <a:xfrm>
                <a:off x="1267200" y="626400"/>
                <a:ext cx="86400" cy="129600"/>
              </a:xfrm>
              <a:prstGeom prst="rect">
                <a:avLst/>
              </a:prstGeom>
              <a:solidFill>
                <a:srgbClr val="B7B7B3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8" name="SCHEM_rect-0016"/>
              <p:cNvSpPr/>
              <p:nvPr/>
            </p:nvSpPr>
            <p:spPr>
              <a:xfrm>
                <a:off x="1605600" y="662400"/>
                <a:ext cx="72000" cy="93600"/>
              </a:xfrm>
              <a:prstGeom prst="rect">
                <a:avLst/>
              </a:prstGeom>
              <a:solidFill>
                <a:srgbClr val="ADADAA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9" name="SCHEM_rect-0017"/>
              <p:cNvSpPr/>
              <p:nvPr/>
            </p:nvSpPr>
            <p:spPr>
              <a:xfrm>
                <a:off x="1540800" y="626400"/>
                <a:ext cx="208800" cy="50400"/>
              </a:xfrm>
              <a:prstGeom prst="rect">
                <a:avLst/>
              </a:prstGeom>
              <a:solidFill>
                <a:srgbClr val="D0D0CB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20" name="SCHEM_ellipse-0018"/>
              <p:cNvSpPr/>
              <p:nvPr/>
            </p:nvSpPr>
            <p:spPr>
              <a:xfrm>
                <a:off x="1108800" y="237600"/>
                <a:ext cx="403200" cy="410400"/>
              </a:xfrm>
              <a:prstGeom prst="ellipse">
                <a:avLst/>
              </a:prstGeom>
              <a:solidFill>
                <a:srgbClr val="EEEEEB"/>
              </a:solidFill>
              <a:ln w="12240" cap="flat">
                <a:solidFill>
                  <a:srgbClr val="292929"/>
                </a:solidFill>
              </a:ln>
              <a:effectLst/>
            </p:spPr>
          </p:sp>
          <p:sp>
            <p:nvSpPr>
              <p:cNvPr id="21" name="SCHEM_ellipse-0019"/>
              <p:cNvSpPr/>
              <p:nvPr/>
            </p:nvSpPr>
            <p:spPr>
              <a:xfrm>
                <a:off x="1144800" y="273600"/>
                <a:ext cx="331200" cy="338400"/>
              </a:xfrm>
              <a:prstGeom prst="ellipse">
                <a:avLst/>
              </a:prstGeom>
              <a:solidFill>
                <a:srgbClr val="FFFFFF"/>
              </a:solidFill>
              <a:ln w="5760" cap="flat">
                <a:solidFill>
                  <a:srgbClr val="7B7B77"/>
                </a:solidFill>
              </a:ln>
              <a:effectLst/>
            </p:spPr>
          </p:sp>
          <p:cxnSp>
            <p:nvCxnSpPr>
              <p:cNvPr id="22" name="SCHEM_line-0020"/>
              <p:cNvCxnSpPr/>
              <p:nvPr/>
            </p:nvCxnSpPr>
            <p:spPr>
              <a:xfrm flipV="1">
                <a:off x="1189059" y="522505"/>
                <a:ext cx="22062" cy="18512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3" name="SCHEM_line-0021"/>
              <p:cNvCxnSpPr/>
              <p:nvPr/>
            </p:nvCxnSpPr>
            <p:spPr>
              <a:xfrm flipV="1">
                <a:off x="1164592" y="489839"/>
                <a:ext cx="26511" cy="11253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4" name="SCHEM_line-0022"/>
              <p:cNvCxnSpPr/>
              <p:nvPr/>
            </p:nvCxnSpPr>
            <p:spPr>
              <a:xfrm flipV="1">
                <a:off x="1152868" y="452747"/>
                <a:ext cx="28642" cy="3010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5" name="SCHEM_line-0023"/>
              <p:cNvCxnSpPr/>
              <p:nvPr/>
            </p:nvCxnSpPr>
            <p:spPr>
              <a:xfrm>
                <a:off x="1154910" y="408976"/>
                <a:ext cx="28271" cy="5495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6" name="SCHEM_line-0024"/>
              <p:cNvCxnSpPr/>
              <p:nvPr/>
            </p:nvCxnSpPr>
            <p:spPr>
              <a:xfrm>
                <a:off x="1170541" y="364836"/>
                <a:ext cx="25429" cy="13521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7" name="SCHEM_line-0025"/>
              <p:cNvCxnSpPr/>
              <p:nvPr/>
            </p:nvCxnSpPr>
            <p:spPr>
              <a:xfrm>
                <a:off x="1198394" y="327194"/>
                <a:ext cx="20365" cy="20365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8" name="SCHEM_line-0026"/>
              <p:cNvCxnSpPr/>
              <p:nvPr/>
            </p:nvCxnSpPr>
            <p:spPr>
              <a:xfrm>
                <a:off x="1236036" y="299341"/>
                <a:ext cx="13521" cy="25429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9" name="SCHEM_line-0027"/>
              <p:cNvCxnSpPr/>
              <p:nvPr/>
            </p:nvCxnSpPr>
            <p:spPr>
              <a:xfrm>
                <a:off x="1280176" y="283710"/>
                <a:ext cx="5495" cy="28271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30" name="SCHEM_line-0028"/>
              <p:cNvCxnSpPr/>
              <p:nvPr/>
            </p:nvCxnSpPr>
            <p:spPr>
              <a:xfrm flipH="1">
                <a:off x="1323947" y="281668"/>
                <a:ext cx="3010" cy="28642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31" name="SCHEM_line-0029"/>
              <p:cNvCxnSpPr/>
              <p:nvPr/>
            </p:nvCxnSpPr>
            <p:spPr>
              <a:xfrm flipH="1">
                <a:off x="1361039" y="293392"/>
                <a:ext cx="11253" cy="26511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32" name="SCHEM_line-0030"/>
              <p:cNvCxnSpPr/>
              <p:nvPr/>
            </p:nvCxnSpPr>
            <p:spPr>
              <a:xfrm flipH="1">
                <a:off x="1393705" y="317859"/>
                <a:ext cx="18512" cy="22062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33" name="SCHEM_line-0031"/>
              <p:cNvCxnSpPr/>
              <p:nvPr/>
            </p:nvCxnSpPr>
            <p:spPr>
              <a:xfrm flipH="1">
                <a:off x="1419092" y="352929"/>
                <a:ext cx="24154" cy="15686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34" name="SCHEM_line-0032"/>
              <p:cNvCxnSpPr/>
              <p:nvPr/>
            </p:nvCxnSpPr>
            <p:spPr>
              <a:xfrm flipH="1">
                <a:off x="1434980" y="395539"/>
                <a:ext cx="27684" cy="7938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35" name="SCHEM_line-0033"/>
              <p:cNvCxnSpPr/>
              <p:nvPr/>
            </p:nvCxnSpPr>
            <p:spPr>
              <a:xfrm flipH="1" flipV="1">
                <a:off x="1439980" y="441462"/>
                <a:ext cx="28796" cy="503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36" name="SCHEM_line-0034"/>
              <p:cNvCxnSpPr/>
              <p:nvPr/>
            </p:nvCxnSpPr>
            <p:spPr>
              <a:xfrm flipH="1" flipV="1">
                <a:off x="1433657" y="479249"/>
                <a:ext cx="27390" cy="8900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37" name="SCHEM_line-0035"/>
              <p:cNvCxnSpPr/>
              <p:nvPr/>
            </p:nvCxnSpPr>
            <p:spPr>
              <a:xfrm flipH="1" flipV="1">
                <a:off x="1416562" y="513536"/>
                <a:ext cx="23592" cy="16519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38" name="SCHEM_line-0036"/>
              <p:cNvCxnSpPr/>
              <p:nvPr/>
            </p:nvCxnSpPr>
            <p:spPr>
              <a:xfrm flipV="1">
                <a:off x="1310400" y="345600"/>
                <a:ext cx="79200" cy="93600"/>
              </a:xfrm>
              <a:prstGeom prst="line">
                <a:avLst/>
              </a:prstGeom>
              <a:noFill/>
              <a:ln w="18000" cap="flat">
                <a:solidFill>
                  <a:srgbClr val="292929"/>
                </a:solidFill>
              </a:ln>
              <a:effectLst/>
            </p:spPr>
          </p:cxnSp>
          <p:sp>
            <p:nvSpPr>
              <p:cNvPr id="39" name="SCHEM_ellipse-0037"/>
              <p:cNvSpPr/>
              <p:nvPr/>
            </p:nvSpPr>
            <p:spPr>
              <a:xfrm>
                <a:off x="1290240" y="419040"/>
                <a:ext cx="40320" cy="40320"/>
              </a:xfrm>
              <a:prstGeom prst="ellipse">
                <a:avLst/>
              </a:prstGeom>
              <a:solidFill>
                <a:srgbClr val="292929"/>
              </a:solidFill>
              <a:ln w="9360" cap="flat">
                <a:noFill/>
              </a:ln>
              <a:effectLst/>
            </p:spPr>
          </p:sp>
          <p:sp>
            <p:nvSpPr>
              <p:cNvPr id="40" name="SCHEM_text-0038"/>
              <p:cNvSpPr txBox="1"/>
              <p:nvPr/>
            </p:nvSpPr>
            <p:spPr>
              <a:xfrm>
                <a:off x="1252800" y="525600"/>
                <a:ext cx="108000" cy="123480"/>
              </a:xfrm>
              <a:prstGeom prst="rect">
                <a:avLst/>
              </a:prstGeom>
              <a:noFill/>
              <a:ln w="8255" cap="flat">
                <a:noFill/>
              </a:ln>
              <a:effectLst/>
            </p:spPr>
            <p:txBody>
              <a:bodyPr wrap="square" lIns="0" rIns="0" tIns="0" bIns="0" anchor="t">
                <a:noAutofit/>
              </a:bodyPr>
              <a:lstStyle/>
              <a:p>
                <a:pPr algn="ctr">
                  <a:buNone/>
                </a:pPr>
                <a:r>
                  <a:rPr lang="en-US" sz="510">
                    <a:solidFill>
                      <a:srgbClr val="292929"/>
                    </a:solidFill>
                    <a:latin typeface="Times New Roman"/>
                    <a:ea typeface="Times New Roman"/>
                    <a:cs typeface="Times New Roman"/>
                  </a:rPr>
                  <a:t>0</a:t>
                </a:r>
                <a:endParaRPr lang="en-US" sz="510"/>
              </a:p>
            </p:txBody>
          </p:sp>
          <p:sp>
            <p:nvSpPr>
              <p:cNvPr id="41" name="SCHEM_rect-0039"/>
              <p:cNvSpPr/>
              <p:nvPr/>
            </p:nvSpPr>
            <p:spPr>
              <a:xfrm>
                <a:off x="3744000" y="856800"/>
                <a:ext cx="525600" cy="590400"/>
              </a:xfrm>
              <a:prstGeom prst="rect">
                <a:avLst/>
              </a:prstGeom>
              <a:gradFill rotWithShape="1">
                <a:gsLst>
                  <a:gs pos="0">
                    <a:srgbClr val="D7D7D1"/>
                  </a:gs>
                  <a:gs pos="100000">
                    <a:srgbClr val="9C9D99"/>
                  </a:gs>
                </a:gsLst>
                <a:lin ang="5400000" scaled="1"/>
              </a:gradFill>
              <a:ln w="12240" cap="flat">
                <a:solidFill>
                  <a:srgbClr val="292929"/>
                </a:solidFill>
              </a:ln>
              <a:effectLst/>
            </p:spPr>
          </p:sp>
          <p:sp>
            <p:nvSpPr>
              <p:cNvPr id="42" name="SCHEM_rect-0040"/>
              <p:cNvSpPr/>
              <p:nvPr/>
            </p:nvSpPr>
            <p:spPr>
              <a:xfrm>
                <a:off x="3852000" y="446400"/>
                <a:ext cx="331200" cy="410400"/>
              </a:xfrm>
              <a:prstGeom prst="rect">
                <a:avLst/>
              </a:prstGeom>
              <a:gradFill rotWithShape="1">
                <a:gsLst>
                  <a:gs pos="0">
                    <a:srgbClr val="9D9F9A"/>
                  </a:gs>
                  <a:gs pos="100000">
                    <a:srgbClr val="5B605C"/>
                  </a:gs>
                </a:gsLst>
                <a:lin ang="5400000" scaled="1"/>
              </a:gradFill>
              <a:ln w="12240" cap="flat">
                <a:solidFill>
                  <a:srgbClr val="292929"/>
                </a:solidFill>
              </a:ln>
              <a:effectLst/>
            </p:spPr>
          </p:sp>
          <p:sp>
            <p:nvSpPr>
              <p:cNvPr id="43" name="SCHEM_rect-0041"/>
              <p:cNvSpPr/>
              <p:nvPr/>
            </p:nvSpPr>
            <p:spPr>
              <a:xfrm>
                <a:off x="3945600" y="403200"/>
                <a:ext cx="158400" cy="50400"/>
              </a:xfrm>
              <a:prstGeom prst="rect">
                <a:avLst/>
              </a:prstGeom>
              <a:solidFill>
                <a:srgbClr val="737772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44" name="SCHEM_rect-0042"/>
              <p:cNvSpPr/>
              <p:nvPr/>
            </p:nvSpPr>
            <p:spPr>
              <a:xfrm>
                <a:off x="4089600" y="568800"/>
                <a:ext cx="216000" cy="151200"/>
              </a:xfrm>
              <a:prstGeom prst="rect">
                <a:avLst/>
              </a:prstGeom>
              <a:solidFill>
                <a:srgbClr val="636863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45" name="SCHEM_rect-0043"/>
              <p:cNvSpPr/>
              <p:nvPr/>
            </p:nvSpPr>
            <p:spPr>
              <a:xfrm>
                <a:off x="4284000" y="554400"/>
                <a:ext cx="57600" cy="180000"/>
              </a:xfrm>
              <a:prstGeom prst="rect">
                <a:avLst/>
              </a:prstGeom>
              <a:solidFill>
                <a:srgbClr val="8B908C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46" name="SCHEM_ellipse-0044"/>
              <p:cNvSpPr/>
              <p:nvPr/>
            </p:nvSpPr>
            <p:spPr>
              <a:xfrm>
                <a:off x="3801600" y="936000"/>
                <a:ext cx="28800" cy="28800"/>
              </a:xfrm>
              <a:prstGeom prst="ellipse">
                <a:avLst/>
              </a:prstGeom>
              <a:solidFill>
                <a:srgbClr val="696B66"/>
              </a:solidFill>
              <a:ln w="9360" cap="flat">
                <a:noFill/>
              </a:ln>
              <a:effectLst/>
            </p:spPr>
          </p:sp>
          <p:sp>
            <p:nvSpPr>
              <p:cNvPr id="47" name="SCHEM_ellipse-0045"/>
              <p:cNvSpPr/>
              <p:nvPr/>
            </p:nvSpPr>
            <p:spPr>
              <a:xfrm>
                <a:off x="4190400" y="921600"/>
                <a:ext cx="28800" cy="28800"/>
              </a:xfrm>
              <a:prstGeom prst="ellipse">
                <a:avLst/>
              </a:prstGeom>
              <a:solidFill>
                <a:srgbClr val="696B66"/>
              </a:solidFill>
              <a:ln w="9360" cap="flat">
                <a:noFill/>
              </a:ln>
              <a:effectLst/>
            </p:spPr>
          </p:sp>
          <p:sp>
            <p:nvSpPr>
              <p:cNvPr id="48" name="SCHEM_ellipse-0046"/>
              <p:cNvSpPr/>
              <p:nvPr/>
            </p:nvSpPr>
            <p:spPr>
              <a:xfrm>
                <a:off x="4204800" y="1375200"/>
                <a:ext cx="28800" cy="28800"/>
              </a:xfrm>
              <a:prstGeom prst="ellipse">
                <a:avLst/>
              </a:prstGeom>
              <a:solidFill>
                <a:srgbClr val="696B66"/>
              </a:solidFill>
              <a:ln w="9360" cap="flat">
                <a:noFill/>
              </a:ln>
              <a:effectLst/>
            </p:spPr>
          </p:sp>
          <p:sp>
            <p:nvSpPr>
              <p:cNvPr id="49" name="SCHEM_ellipse-0047"/>
              <p:cNvSpPr/>
              <p:nvPr/>
            </p:nvSpPr>
            <p:spPr>
              <a:xfrm>
                <a:off x="3816000" y="1375200"/>
                <a:ext cx="28800" cy="28800"/>
              </a:xfrm>
              <a:prstGeom prst="ellipse">
                <a:avLst/>
              </a:prstGeom>
              <a:solidFill>
                <a:srgbClr val="696B66"/>
              </a:solidFill>
              <a:ln w="9360" cap="flat">
                <a:noFill/>
              </a:ln>
              <a:effectLst/>
            </p:spPr>
          </p:sp>
          <p:sp>
            <p:nvSpPr>
              <p:cNvPr id="50" name="SCHEM_rect-0048"/>
              <p:cNvSpPr/>
              <p:nvPr/>
            </p:nvSpPr>
            <p:spPr>
              <a:xfrm>
                <a:off x="3636000" y="1065600"/>
                <a:ext cx="108000" cy="187200"/>
              </a:xfrm>
              <a:prstGeom prst="rect">
                <a:avLst/>
              </a:prstGeom>
              <a:solidFill>
                <a:srgbClr val="CFCDC6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51" name="SCHEM_rect-0049"/>
              <p:cNvSpPr/>
              <p:nvPr/>
            </p:nvSpPr>
            <p:spPr>
              <a:xfrm>
                <a:off x="4269600" y="1058400"/>
                <a:ext cx="237600" cy="201600"/>
              </a:xfrm>
              <a:prstGeom prst="rect">
                <a:avLst/>
              </a:prstGeom>
              <a:solidFill>
                <a:srgbClr val="C5C0AD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52" name="SCHEM_polygon-0050"/>
              <p:cNvSpPr/>
              <p:nvPr/>
            </p:nvSpPr>
            <p:spPr>
              <a:xfrm>
                <a:off x="5680800" y="1044000"/>
                <a:ext cx="475200" cy="360000"/>
              </a:xfrm>
              <a:custGeom>
                <a:avLst/>
                <a:gdLst/>
                <a:ahLst/>
                <a:cxnLst/>
                <a:rect l="0" t="0" r="r" b="b"/>
                <a:pathLst>
                  <a:path w="475200" h="360000">
                    <a:moveTo>
                      <a:pt x="0" y="0"/>
                    </a:moveTo>
                    <a:lnTo>
                      <a:pt x="475200" y="0"/>
                    </a:lnTo>
                    <a:lnTo>
                      <a:pt x="475200" y="208800"/>
                    </a:lnTo>
                    <a:lnTo>
                      <a:pt x="331200" y="208800"/>
                    </a:lnTo>
                    <a:lnTo>
                      <a:pt x="331200" y="360000"/>
                    </a:lnTo>
                    <a:lnTo>
                      <a:pt x="165600" y="360000"/>
                    </a:lnTo>
                    <a:lnTo>
                      <a:pt x="165600" y="208800"/>
                    </a:lnTo>
                    <a:lnTo>
                      <a:pt x="0" y="208800"/>
                    </a:lnTo>
                    <a:close/>
                  </a:path>
                </a:pathLst>
              </a:custGeom>
              <a:solidFill>
                <a:srgbClr val="CFCFCD"/>
              </a:solidFill>
              <a:ln w="10080" cap="flat">
                <a:solidFill>
                  <a:srgbClr val="292929"/>
                </a:solidFill>
              </a:ln>
              <a:effectLst/>
            </p:spPr>
          </p:sp>
          <p:sp>
            <p:nvSpPr>
              <p:cNvPr id="53" name="SCHEM_rect-0051"/>
              <p:cNvSpPr/>
              <p:nvPr/>
            </p:nvSpPr>
            <p:spPr>
              <a:xfrm>
                <a:off x="5630400" y="1072800"/>
                <a:ext cx="64800" cy="158400"/>
              </a:xfrm>
              <a:prstGeom prst="rect">
                <a:avLst/>
              </a:prstGeom>
              <a:solidFill>
                <a:srgbClr val="A3A6A2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54" name="SCHEM_rect-0052"/>
              <p:cNvSpPr/>
              <p:nvPr/>
            </p:nvSpPr>
            <p:spPr>
              <a:xfrm>
                <a:off x="6156000" y="1072800"/>
                <a:ext cx="64800" cy="158400"/>
              </a:xfrm>
              <a:prstGeom prst="rect">
                <a:avLst/>
              </a:prstGeom>
              <a:solidFill>
                <a:srgbClr val="A3A6A2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55" name="SCHEM_rect-0053"/>
              <p:cNvSpPr/>
              <p:nvPr/>
            </p:nvSpPr>
            <p:spPr>
              <a:xfrm>
                <a:off x="5860800" y="1375200"/>
                <a:ext cx="129600" cy="72000"/>
              </a:xfrm>
              <a:prstGeom prst="rect">
                <a:avLst/>
              </a:prstGeom>
              <a:solidFill>
                <a:srgbClr val="A3A6A2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56" name="SCHEM_ellipse-0054"/>
              <p:cNvSpPr/>
              <p:nvPr/>
            </p:nvSpPr>
            <p:spPr>
              <a:xfrm>
                <a:off x="5544000" y="2282400"/>
                <a:ext cx="590400" cy="158400"/>
              </a:xfrm>
              <a:prstGeom prst="ellipse">
                <a:avLst/>
              </a:prstGeom>
              <a:solidFill>
                <a:srgbClr val="BFCBB7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57" name="SCHEM_path-0055"/>
              <p:cNvSpPr/>
              <p:nvPr/>
            </p:nvSpPr>
            <p:spPr>
              <a:xfrm>
                <a:off x="5544000" y="2361600"/>
                <a:ext cx="590400" cy="525600"/>
              </a:xfrm>
              <a:custGeom>
                <a:avLst/>
                <a:gdLst/>
                <a:ahLst/>
                <a:cxnLst/>
                <a:rect l="0" t="0" r="r" b="b"/>
                <a:pathLst>
                  <a:path w="590400" h="525600">
                    <a:moveTo>
                      <a:pt x="0" y="0"/>
                    </a:moveTo>
                    <a:lnTo>
                      <a:pt x="0" y="403200"/>
                    </a:lnTo>
                    <a:cubicBezTo>
                      <a:pt x="0" y="525600"/>
                      <a:pt x="590400" y="525600"/>
                      <a:pt x="590400" y="403200"/>
                    </a:cubicBezTo>
                    <a:lnTo>
                      <a:pt x="590400" y="0"/>
                    </a:lnTo>
                    <a:cubicBezTo>
                      <a:pt x="468000" y="100800"/>
                      <a:pt x="122400" y="100800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8E0CE"/>
                  </a:gs>
                  <a:gs pos="100000">
                    <a:srgbClr val="A6B99D"/>
                  </a:gs>
                </a:gsLst>
                <a:lin ang="5400000" scaled="1"/>
              </a:gradFill>
              <a:ln w="10080" cap="flat">
                <a:solidFill>
                  <a:srgbClr val="292929"/>
                </a:solidFill>
              </a:ln>
              <a:effectLst/>
            </p:spPr>
          </p:sp>
          <p:sp>
            <p:nvSpPr>
              <p:cNvPr id="58" name="SCHEM_rect-0056"/>
              <p:cNvSpPr/>
              <p:nvPr/>
            </p:nvSpPr>
            <p:spPr>
              <a:xfrm>
                <a:off x="5709600" y="2174400"/>
                <a:ext cx="259200" cy="172800"/>
              </a:xfrm>
              <a:prstGeom prst="rect">
                <a:avLst/>
              </a:prstGeom>
              <a:solidFill>
                <a:srgbClr val="BFC4BD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59" name="SCHEM_ellipse-0057"/>
              <p:cNvSpPr/>
              <p:nvPr/>
            </p:nvSpPr>
            <p:spPr>
              <a:xfrm>
                <a:off x="5709600" y="2138400"/>
                <a:ext cx="259200" cy="86400"/>
              </a:xfrm>
              <a:prstGeom prst="ellipse">
                <a:avLst/>
              </a:prstGeom>
              <a:solidFill>
                <a:srgbClr val="D6DBD3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60" name="SCHEM_rect-0058"/>
              <p:cNvSpPr/>
              <p:nvPr/>
            </p:nvSpPr>
            <p:spPr>
              <a:xfrm>
                <a:off x="5774400" y="2030400"/>
                <a:ext cx="122400" cy="144000"/>
              </a:xfrm>
              <a:prstGeom prst="rect">
                <a:avLst/>
              </a:prstGeom>
              <a:solidFill>
                <a:srgbClr val="B8BBB6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61" name="SCHEM_rect-0059"/>
              <p:cNvSpPr/>
              <p:nvPr/>
            </p:nvSpPr>
            <p:spPr>
              <a:xfrm>
                <a:off x="6120000" y="2505600"/>
                <a:ext cx="144000" cy="158400"/>
              </a:xfrm>
              <a:prstGeom prst="rect">
                <a:avLst/>
              </a:prstGeom>
              <a:solidFill>
                <a:srgbClr val="7E8580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62" name="SCHEM_rect-0060"/>
              <p:cNvSpPr/>
              <p:nvPr/>
            </p:nvSpPr>
            <p:spPr>
              <a:xfrm>
                <a:off x="6249600" y="2527200"/>
                <a:ext cx="86400" cy="122400"/>
              </a:xfrm>
              <a:prstGeom prst="rect">
                <a:avLst/>
              </a:prstGeom>
              <a:solidFill>
                <a:srgbClr val="5B645C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63" name="SCHEM_rect-0061"/>
              <p:cNvSpPr/>
              <p:nvPr/>
            </p:nvSpPr>
            <p:spPr>
              <a:xfrm>
                <a:off x="5738400" y="2844000"/>
                <a:ext cx="172800" cy="86400"/>
              </a:xfrm>
              <a:prstGeom prst="rect">
                <a:avLst/>
              </a:prstGeom>
              <a:solidFill>
                <a:srgbClr val="A9ADA5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64" name="SCHEM_rect-0062"/>
              <p:cNvSpPr/>
              <p:nvPr/>
            </p:nvSpPr>
            <p:spPr>
              <a:xfrm>
                <a:off x="7495200" y="1058400"/>
                <a:ext cx="194400" cy="201600"/>
              </a:xfrm>
              <a:prstGeom prst="rect">
                <a:avLst/>
              </a:prstGeom>
              <a:solidFill>
                <a:srgbClr val="C9CBC7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65" name="SCHEM_path-0063"/>
              <p:cNvSpPr/>
              <p:nvPr/>
            </p:nvSpPr>
            <p:spPr>
              <a:xfrm>
                <a:off x="7675200" y="756000"/>
                <a:ext cx="3456000" cy="828000"/>
              </a:xfrm>
              <a:custGeom>
                <a:avLst/>
                <a:gdLst/>
                <a:ahLst/>
                <a:cxnLst/>
                <a:rect l="0" t="0" r="r" b="b"/>
                <a:pathLst>
                  <a:path w="3456000" h="828000">
                    <a:moveTo>
                      <a:pt x="0" y="414000"/>
                    </a:moveTo>
                    <a:cubicBezTo>
                      <a:pt x="0" y="49680"/>
                      <a:pt x="1175040" y="0"/>
                      <a:pt x="1900800" y="0"/>
                    </a:cubicBezTo>
                    <a:cubicBezTo>
                      <a:pt x="2868480" y="0"/>
                      <a:pt x="3456000" y="157320"/>
                      <a:pt x="3456000" y="414000"/>
                    </a:cubicBezTo>
                    <a:cubicBezTo>
                      <a:pt x="3456000" y="662400"/>
                      <a:pt x="2764800" y="828000"/>
                      <a:pt x="1797120" y="828000"/>
                    </a:cubicBezTo>
                    <a:cubicBezTo>
                      <a:pt x="864000" y="828000"/>
                      <a:pt x="0" y="720360"/>
                      <a:pt x="0" y="414000"/>
                    </a:cubicBezTo>
                    <a:close/>
                  </a:path>
                </a:pathLst>
              </a:custGeom>
              <a:solidFill>
                <a:srgbClr val="C6C6C4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66" name="SCHEM_path-0064"/>
              <p:cNvSpPr/>
              <p:nvPr/>
            </p:nvSpPr>
            <p:spPr>
              <a:xfrm>
                <a:off x="7768800" y="835200"/>
                <a:ext cx="3268800" cy="669600"/>
              </a:xfrm>
              <a:custGeom>
                <a:avLst/>
                <a:gdLst/>
                <a:ahLst/>
                <a:cxnLst/>
                <a:rect l="0" t="0" r="r" b="b"/>
                <a:pathLst>
                  <a:path w="3268800" h="669600">
                    <a:moveTo>
                      <a:pt x="0" y="334800"/>
                    </a:moveTo>
                    <a:cubicBezTo>
                      <a:pt x="0" y="28440"/>
                      <a:pt x="1081440" y="0"/>
                      <a:pt x="1807200" y="0"/>
                    </a:cubicBezTo>
                    <a:cubicBezTo>
                      <a:pt x="2774880" y="0"/>
                      <a:pt x="3268800" y="119520"/>
                      <a:pt x="3268800" y="334800"/>
                    </a:cubicBezTo>
                    <a:cubicBezTo>
                      <a:pt x="3268800" y="550080"/>
                      <a:pt x="2671200" y="669600"/>
                      <a:pt x="1703520" y="669600"/>
                    </a:cubicBezTo>
                    <a:cubicBezTo>
                      <a:pt x="770400" y="669600"/>
                      <a:pt x="0" y="616320"/>
                      <a:pt x="0" y="3348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A6D3E7"/>
                  </a:gs>
                  <a:gs pos="50000">
                    <a:srgbClr val="B8DCEC"/>
                  </a:gs>
                  <a:gs pos="100000">
                    <a:srgbClr val="88BDD8"/>
                  </a:gs>
                </a:gsLst>
                <a:lin ang="5400000" scaled="1"/>
              </a:gradFill>
              <a:ln w="7200" cap="flat">
                <a:solidFill>
                  <a:srgbClr val="5A7C8F"/>
                </a:solidFill>
              </a:ln>
              <a:effectLst/>
            </p:spPr>
          </p:sp>
        </p:grpSp>
        <p:sp>
          <p:nvSpPr>
            <p:cNvPr id="67" name="SCHEM_text-0065"/>
            <p:cNvSpPr txBox="1"/>
            <p:nvPr/>
          </p:nvSpPr>
          <p:spPr>
            <a:xfrm>
              <a:off x="1008000" y="1720800"/>
              <a:ext cx="1656000" cy="3081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Air tank</a:t>
              </a:r>
              <a:endParaRPr lang="en-US" sz="1587"/>
            </a:p>
          </p:txBody>
        </p:sp>
        <p:sp>
          <p:nvSpPr>
            <p:cNvPr id="68" name="SCHEM_text-0066"/>
            <p:cNvSpPr txBox="1"/>
            <p:nvPr/>
          </p:nvSpPr>
          <p:spPr>
            <a:xfrm>
              <a:off x="3492000" y="1620000"/>
              <a:ext cx="2088000" cy="3081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Solenoid valve</a:t>
              </a:r>
              <a:endParaRPr lang="en-US" sz="1587"/>
            </a:p>
          </p:txBody>
        </p:sp>
        <p:sp>
          <p:nvSpPr>
            <p:cNvPr id="69" name="SCHEM_text-0067"/>
            <p:cNvSpPr txBox="1"/>
            <p:nvPr/>
          </p:nvSpPr>
          <p:spPr>
            <a:xfrm>
              <a:off x="5565600" y="554400"/>
              <a:ext cx="2376000" cy="3081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Pneumatic line</a:t>
              </a:r>
              <a:endParaRPr lang="en-US" sz="1587"/>
            </a:p>
          </p:txBody>
        </p:sp>
        <p:cxnSp>
          <p:nvCxnSpPr>
            <p:cNvPr id="70" name="SCHEM_line-0068"/>
            <p:cNvCxnSpPr/>
            <p:nvPr/>
          </p:nvCxnSpPr>
          <p:spPr>
            <a:xfrm>
              <a:off x="6472800" y="799200"/>
              <a:ext cx="144000" cy="3168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71" name="SCHEM_ellipse-0069"/>
            <p:cNvSpPr/>
            <p:nvPr/>
          </p:nvSpPr>
          <p:spPr>
            <a:xfrm>
              <a:off x="6595200" y="10944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72" name="SCHEM_text-0070"/>
            <p:cNvSpPr txBox="1"/>
            <p:nvPr/>
          </p:nvSpPr>
          <p:spPr>
            <a:xfrm>
              <a:off x="8308800" y="1663200"/>
              <a:ext cx="3060000" cy="3081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Soft actuator (conceptual)</a:t>
              </a:r>
              <a:endParaRPr lang="en-US" sz="1587"/>
            </a:p>
          </p:txBody>
        </p:sp>
        <p:sp>
          <p:nvSpPr>
            <p:cNvPr id="73" name="SCHEM_text-0071"/>
            <p:cNvSpPr txBox="1"/>
            <p:nvPr/>
          </p:nvSpPr>
          <p:spPr>
            <a:xfrm>
              <a:off x="5299200" y="3024000"/>
              <a:ext cx="3024000" cy="3081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Remote pressure sensor</a:t>
              </a:r>
              <a:endParaRPr lang="en-US" sz="1587"/>
            </a:p>
          </p:txBody>
        </p:sp>
        <p:sp>
          <p:nvSpPr>
            <p:cNvPr id="74" name="SCHEM_text-0072"/>
            <p:cNvSpPr txBox="1"/>
            <p:nvPr/>
          </p:nvSpPr>
          <p:spPr>
            <a:xfrm>
              <a:off x="5500800" y="3297600"/>
              <a:ext cx="2376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No embedded sensor</a:t>
              </a:r>
              <a:endParaRPr lang="en-US" sz="1417"/>
            </a:p>
          </p:txBody>
        </p:sp>
        <p:cxnSp>
          <p:nvCxnSpPr>
            <p:cNvPr id="75" name="SCHEM_line-0073"/>
            <p:cNvCxnSpPr/>
            <p:nvPr/>
          </p:nvCxnSpPr>
          <p:spPr>
            <a:xfrm>
              <a:off x="6364800" y="2592000"/>
              <a:ext cx="1972800" cy="1"/>
            </a:xfrm>
            <a:prstGeom prst="line">
              <a:avLst/>
            </a:prstGeom>
            <a:noFill/>
            <a:ln w="14400" cap="flat">
              <a:solidFill>
                <a:srgbClr val="292929"/>
              </a:solidFill>
              <a:prstDash val="dash"/>
              <a:tailEnd type="triangle" w="med" len="med"/>
            </a:ln>
            <a:effectLst/>
          </p:spPr>
        </p:cxnSp>
        <p:sp>
          <p:nvSpPr>
            <p:cNvPr id="76" name="SCHEM_rect-0074"/>
            <p:cNvSpPr/>
            <p:nvPr/>
          </p:nvSpPr>
          <p:spPr>
            <a:xfrm>
              <a:off x="8424000" y="2311200"/>
              <a:ext cx="1987200" cy="576000"/>
            </a:xfrm>
            <a:prstGeom prst="rect">
              <a:avLst/>
            </a:prstGeom>
            <a:solidFill>
              <a:srgbClr val="E5B1AF"/>
            </a:solidFill>
            <a:ln w="9360" cap="flat">
              <a:solidFill>
                <a:srgbClr val="292929"/>
              </a:solidFill>
            </a:ln>
            <a:effectLst/>
          </p:spPr>
        </p:sp>
        <p:sp>
          <p:nvSpPr>
            <p:cNvPr id="77" name="SCHEM_text-0075"/>
            <p:cNvSpPr txBox="1"/>
            <p:nvPr/>
          </p:nvSpPr>
          <p:spPr>
            <a:xfrm>
              <a:off x="8553600" y="2498400"/>
              <a:ext cx="1728000" cy="3081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Pressure readout</a:t>
              </a:r>
              <a:endParaRPr lang="en-US" sz="1587"/>
            </a:p>
          </p:txBody>
        </p:sp>
        <p:grpSp>
          <p:nvGrpSpPr>
            <p:cNvPr id="78" name="SCHEM_free-inflation"/>
            <p:cNvGrpSpPr/>
            <p:nvPr/>
          </p:nvGrpSpPr>
          <p:grpSpPr>
            <a:xfrm>
              <a:off x="180000" y="4089600"/>
              <a:ext cx="4010400" cy="1209600"/>
              <a:chOff x="180000" y="4089600"/>
              <a:chExt cx="4010400" cy="1209600"/>
            </a:xfrm>
          </p:grpSpPr>
          <p:sp>
            <p:nvSpPr>
              <p:cNvPr id="79" name="SCHEM_path-0077"/>
              <p:cNvSpPr/>
              <p:nvPr/>
            </p:nvSpPr>
            <p:spPr>
              <a:xfrm>
                <a:off x="180000" y="4694400"/>
                <a:ext cx="525600" cy="1"/>
              </a:xfrm>
              <a:custGeom>
                <a:avLst/>
                <a:gdLst/>
                <a:ahLst/>
                <a:cxnLst/>
                <a:rect l="0" t="0" r="r" b="b"/>
                <a:pathLst>
                  <a:path w="525600" h="1">
                    <a:moveTo>
                      <a:pt x="0" y="0"/>
                    </a:moveTo>
                    <a:lnTo>
                      <a:pt x="525600" y="0"/>
                    </a:lnTo>
                  </a:path>
                </a:pathLst>
              </a:custGeom>
              <a:noFill/>
              <a:ln w="129600" cap="flat">
                <a:solidFill>
                  <a:srgbClr val="292929"/>
                </a:solidFill>
              </a:ln>
              <a:effectLst/>
            </p:spPr>
          </p:sp>
          <p:sp>
            <p:nvSpPr>
              <p:cNvPr id="80" name="SCHEM_path-0078"/>
              <p:cNvSpPr/>
              <p:nvPr/>
            </p:nvSpPr>
            <p:spPr>
              <a:xfrm>
                <a:off x="180000" y="4694400"/>
                <a:ext cx="525600" cy="1"/>
              </a:xfrm>
              <a:custGeom>
                <a:avLst/>
                <a:gdLst/>
                <a:ahLst/>
                <a:cxnLst/>
                <a:rect l="0" t="0" r="r" b="b"/>
                <a:pathLst>
                  <a:path w="525600" h="1">
                    <a:moveTo>
                      <a:pt x="0" y="0"/>
                    </a:moveTo>
                    <a:lnTo>
                      <a:pt x="525600" y="0"/>
                    </a:lnTo>
                  </a:path>
                </a:pathLst>
              </a:custGeom>
              <a:noFill/>
              <a:ln w="115200" cap="flat">
                <a:solidFill>
                  <a:srgbClr val="6CB9DF"/>
                </a:solidFill>
              </a:ln>
              <a:effectLst/>
            </p:spPr>
          </p:sp>
          <p:sp>
            <p:nvSpPr>
              <p:cNvPr id="81" name="SCHEM_rect-0079"/>
              <p:cNvSpPr/>
              <p:nvPr/>
            </p:nvSpPr>
            <p:spPr>
              <a:xfrm>
                <a:off x="561600" y="4586400"/>
                <a:ext cx="144000" cy="216000"/>
              </a:xfrm>
              <a:prstGeom prst="rect">
                <a:avLst/>
              </a:prstGeom>
              <a:solidFill>
                <a:srgbClr val="D7D8D2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82" name="SCHEM_rect-0080"/>
              <p:cNvSpPr/>
              <p:nvPr/>
            </p:nvSpPr>
            <p:spPr>
              <a:xfrm>
                <a:off x="691200" y="4521600"/>
                <a:ext cx="201600" cy="345600"/>
              </a:xfrm>
              <a:prstGeom prst="rect">
                <a:avLst/>
              </a:prstGeom>
              <a:solidFill>
                <a:srgbClr val="CDCFCA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83" name="SCHEM_path-0081"/>
              <p:cNvSpPr/>
              <p:nvPr/>
            </p:nvSpPr>
            <p:spPr>
              <a:xfrm>
                <a:off x="885600" y="4089600"/>
                <a:ext cx="3304800" cy="1209600"/>
              </a:xfrm>
              <a:custGeom>
                <a:avLst/>
                <a:gdLst/>
                <a:ahLst/>
                <a:cxnLst/>
                <a:rect l="0" t="0" r="r" b="b"/>
                <a:pathLst>
                  <a:path w="3304800" h="1209600">
                    <a:moveTo>
                      <a:pt x="0" y="604800"/>
                    </a:moveTo>
                    <a:cubicBezTo>
                      <a:pt x="0" y="72576"/>
                      <a:pt x="1123632" y="0"/>
                      <a:pt x="1817640" y="0"/>
                    </a:cubicBezTo>
                    <a:cubicBezTo>
                      <a:pt x="2742984" y="0"/>
                      <a:pt x="3304800" y="229824"/>
                      <a:pt x="3304800" y="604800"/>
                    </a:cubicBezTo>
                    <a:cubicBezTo>
                      <a:pt x="3304800" y="967680"/>
                      <a:pt x="2643840" y="1209600"/>
                      <a:pt x="1718496" y="1209600"/>
                    </a:cubicBezTo>
                    <a:cubicBezTo>
                      <a:pt x="826200" y="1209600"/>
                      <a:pt x="0" y="1052352"/>
                      <a:pt x="0" y="604800"/>
                    </a:cubicBezTo>
                    <a:close/>
                  </a:path>
                </a:pathLst>
              </a:custGeom>
              <a:solidFill>
                <a:srgbClr val="C6C6C4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84" name="SCHEM_path-0082"/>
              <p:cNvSpPr/>
              <p:nvPr/>
            </p:nvSpPr>
            <p:spPr>
              <a:xfrm>
                <a:off x="979200" y="4168800"/>
                <a:ext cx="3117600" cy="1051200"/>
              </a:xfrm>
              <a:custGeom>
                <a:avLst/>
                <a:gdLst/>
                <a:ahLst/>
                <a:cxnLst/>
                <a:rect l="0" t="0" r="r" b="b"/>
                <a:pathLst>
                  <a:path w="3117600" h="1051200">
                    <a:moveTo>
                      <a:pt x="0" y="525600"/>
                    </a:moveTo>
                    <a:cubicBezTo>
                      <a:pt x="0" y="78048"/>
                      <a:pt x="1030032" y="0"/>
                      <a:pt x="1724040" y="0"/>
                    </a:cubicBezTo>
                    <a:cubicBezTo>
                      <a:pt x="2649384" y="0"/>
                      <a:pt x="3117600" y="211104"/>
                      <a:pt x="3117600" y="525600"/>
                    </a:cubicBezTo>
                    <a:cubicBezTo>
                      <a:pt x="3117600" y="840096"/>
                      <a:pt x="2550240" y="1051200"/>
                      <a:pt x="1624896" y="1051200"/>
                    </a:cubicBezTo>
                    <a:cubicBezTo>
                      <a:pt x="732600" y="1051200"/>
                      <a:pt x="0" y="936864"/>
                      <a:pt x="0" y="5256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A6D3E7"/>
                  </a:gs>
                  <a:gs pos="50000">
                    <a:srgbClr val="B8DCEC"/>
                  </a:gs>
                  <a:gs pos="100000">
                    <a:srgbClr val="88BDD8"/>
                  </a:gs>
                </a:gsLst>
                <a:lin ang="5400000" scaled="1"/>
              </a:gradFill>
              <a:ln w="7200" cap="flat">
                <a:solidFill>
                  <a:srgbClr val="5A7C8F"/>
                </a:solidFill>
              </a:ln>
              <a:effectLst/>
            </p:spPr>
          </p:sp>
          <p:cxnSp>
            <p:nvCxnSpPr>
              <p:cNvPr id="85" name="SCHEM_line-0083"/>
              <p:cNvCxnSpPr/>
              <p:nvPr/>
            </p:nvCxnSpPr>
            <p:spPr>
              <a:xfrm flipV="1">
                <a:off x="2462400" y="4334400"/>
                <a:ext cx="1" cy="187200"/>
              </a:xfrm>
              <a:prstGeom prst="line">
                <a:avLst/>
              </a:prstGeom>
              <a:noFill/>
              <a:ln w="21600" cap="flat">
                <a:solidFill>
                  <a:srgbClr val="2685B5"/>
                </a:solidFill>
                <a:tailEnd type="triangle" w="med" len="med"/>
              </a:ln>
              <a:effectLst/>
            </p:spPr>
          </p:cxnSp>
          <p:cxnSp>
            <p:nvCxnSpPr>
              <p:cNvPr id="86" name="SCHEM_line-0084"/>
              <p:cNvCxnSpPr/>
              <p:nvPr/>
            </p:nvCxnSpPr>
            <p:spPr>
              <a:xfrm>
                <a:off x="2462400" y="4867200"/>
                <a:ext cx="1" cy="201600"/>
              </a:xfrm>
              <a:prstGeom prst="line">
                <a:avLst/>
              </a:prstGeom>
              <a:noFill/>
              <a:ln w="21600" cap="flat">
                <a:solidFill>
                  <a:srgbClr val="2685B5"/>
                </a:solidFill>
                <a:tailEnd type="triangle" w="med" len="med"/>
              </a:ln>
              <a:effectLst/>
            </p:spPr>
          </p:cxnSp>
          <p:cxnSp>
            <p:nvCxnSpPr>
              <p:cNvPr id="87" name="SCHEM_line-0085"/>
              <p:cNvCxnSpPr/>
              <p:nvPr/>
            </p:nvCxnSpPr>
            <p:spPr>
              <a:xfrm flipH="1">
                <a:off x="1360800" y="4694400"/>
                <a:ext cx="237600" cy="1"/>
              </a:xfrm>
              <a:prstGeom prst="line">
                <a:avLst/>
              </a:prstGeom>
              <a:noFill/>
              <a:ln w="21600" cap="flat">
                <a:solidFill>
                  <a:srgbClr val="2685B5"/>
                </a:solidFill>
                <a:tailEnd type="triangle" w="med" len="med"/>
              </a:ln>
              <a:effectLst/>
            </p:spPr>
          </p:cxnSp>
          <p:cxnSp>
            <p:nvCxnSpPr>
              <p:cNvPr id="88" name="SCHEM_line-0086"/>
              <p:cNvCxnSpPr/>
              <p:nvPr/>
            </p:nvCxnSpPr>
            <p:spPr>
              <a:xfrm>
                <a:off x="3520800" y="4694400"/>
                <a:ext cx="216000" cy="1"/>
              </a:xfrm>
              <a:prstGeom prst="line">
                <a:avLst/>
              </a:prstGeom>
              <a:noFill/>
              <a:ln w="21600" cap="flat">
                <a:solidFill>
                  <a:srgbClr val="2685B5"/>
                </a:solidFill>
                <a:tailEnd type="triangle" w="med" len="med"/>
              </a:ln>
              <a:effectLst/>
            </p:spPr>
          </p:cxnSp>
        </p:grpSp>
        <p:sp>
          <p:nvSpPr>
            <p:cNvPr id="89" name="SCHEM_text-0087"/>
            <p:cNvSpPr txBox="1"/>
            <p:nvPr/>
          </p:nvSpPr>
          <p:spPr>
            <a:xfrm>
              <a:off x="1900800" y="5644800"/>
              <a:ext cx="2592000" cy="3178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64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Free inflation</a:t>
              </a:r>
              <a:endParaRPr lang="en-US" sz="1644"/>
            </a:p>
          </p:txBody>
        </p:sp>
        <p:sp>
          <p:nvSpPr>
            <p:cNvPr id="90" name="SCHEM_text-0088"/>
            <p:cNvSpPr txBox="1"/>
            <p:nvPr/>
          </p:nvSpPr>
          <p:spPr>
            <a:xfrm>
              <a:off x="4276800" y="4190400"/>
              <a:ext cx="1836000" cy="8524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Contact changes the</a:t>
              </a:r>
              <a:endParaRPr lang="en-US" sz="1587"/>
            </a:p>
            <a:p>
              <a:pPr algn="ctr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pressure-volume</a:t>
              </a:r>
              <a:endParaRPr lang="en-US" sz="1587"/>
            </a:p>
            <a:p>
              <a:pPr algn="ctr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response</a:t>
              </a:r>
              <a:endParaRPr lang="en-US" sz="1587"/>
            </a:p>
          </p:txBody>
        </p:sp>
        <p:cxnSp>
          <p:nvCxnSpPr>
            <p:cNvPr id="91" name="SCHEM_line-0089"/>
            <p:cNvCxnSpPr/>
            <p:nvPr/>
          </p:nvCxnSpPr>
          <p:spPr>
            <a:xfrm>
              <a:off x="4478400" y="5097600"/>
              <a:ext cx="1396800" cy="1"/>
            </a:xfrm>
            <a:prstGeom prst="line">
              <a:avLst/>
            </a:prstGeom>
            <a:noFill/>
            <a:ln w="17280" cap="flat">
              <a:solidFill>
                <a:srgbClr val="292929"/>
              </a:solidFill>
              <a:tailEnd type="triangle" w="med" len="med"/>
            </a:ln>
            <a:effectLst/>
          </p:spPr>
        </p:cxnSp>
        <p:grpSp>
          <p:nvGrpSpPr>
            <p:cNvPr id="92" name="SCHEM_contact-constrained"/>
            <p:cNvGrpSpPr/>
            <p:nvPr/>
          </p:nvGrpSpPr>
          <p:grpSpPr>
            <a:xfrm>
              <a:off x="6156000" y="4017600"/>
              <a:ext cx="3254400" cy="1533600"/>
              <a:chOff x="6156000" y="4017600"/>
              <a:chExt cx="3254400" cy="1533600"/>
            </a:xfrm>
          </p:grpSpPr>
          <p:sp>
            <p:nvSpPr>
              <p:cNvPr id="93" name="SCHEM_path-0091"/>
              <p:cNvSpPr/>
              <p:nvPr/>
            </p:nvSpPr>
            <p:spPr>
              <a:xfrm>
                <a:off x="6156000" y="4824000"/>
                <a:ext cx="432000" cy="1"/>
              </a:xfrm>
              <a:custGeom>
                <a:avLst/>
                <a:gdLst/>
                <a:ahLst/>
                <a:cxnLst/>
                <a:rect l="0" t="0" r="r" b="b"/>
                <a:pathLst>
                  <a:path w="432000" h="1">
                    <a:moveTo>
                      <a:pt x="0" y="0"/>
                    </a:moveTo>
                    <a:lnTo>
                      <a:pt x="432000" y="0"/>
                    </a:lnTo>
                  </a:path>
                </a:pathLst>
              </a:custGeom>
              <a:noFill/>
              <a:ln w="1224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4" name="SCHEM_path-0092"/>
              <p:cNvSpPr/>
              <p:nvPr/>
            </p:nvSpPr>
            <p:spPr>
              <a:xfrm>
                <a:off x="6156000" y="4824000"/>
                <a:ext cx="432000" cy="1"/>
              </a:xfrm>
              <a:custGeom>
                <a:avLst/>
                <a:gdLst/>
                <a:ahLst/>
                <a:cxnLst/>
                <a:rect l="0" t="0" r="r" b="b"/>
                <a:pathLst>
                  <a:path w="432000" h="1">
                    <a:moveTo>
                      <a:pt x="0" y="0"/>
                    </a:moveTo>
                    <a:lnTo>
                      <a:pt x="432000" y="0"/>
                    </a:lnTo>
                  </a:path>
                </a:pathLst>
              </a:custGeom>
              <a:noFill/>
              <a:ln w="108000" cap="flat">
                <a:solidFill>
                  <a:srgbClr val="6CB9DF"/>
                </a:solidFill>
              </a:ln>
              <a:effectLst/>
            </p:spPr>
          </p:sp>
          <p:sp>
            <p:nvSpPr>
              <p:cNvPr id="95" name="SCHEM_rect-0093"/>
              <p:cNvSpPr/>
              <p:nvPr/>
            </p:nvSpPr>
            <p:spPr>
              <a:xfrm>
                <a:off x="6494400" y="4716000"/>
                <a:ext cx="172800" cy="216000"/>
              </a:xfrm>
              <a:prstGeom prst="rect">
                <a:avLst/>
              </a:prstGeom>
              <a:solidFill>
                <a:srgbClr val="D4D5D1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96" name="SCHEM_rect-0094"/>
              <p:cNvSpPr/>
              <p:nvPr/>
            </p:nvSpPr>
            <p:spPr>
              <a:xfrm>
                <a:off x="6660000" y="4680000"/>
                <a:ext cx="194400" cy="288000"/>
              </a:xfrm>
              <a:prstGeom prst="rect">
                <a:avLst/>
              </a:prstGeom>
              <a:solidFill>
                <a:srgbClr val="C5C8C2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97" name="SCHEM_path-0095"/>
              <p:cNvSpPr/>
              <p:nvPr/>
            </p:nvSpPr>
            <p:spPr>
              <a:xfrm>
                <a:off x="6825600" y="4248000"/>
                <a:ext cx="2376000" cy="1173600"/>
              </a:xfrm>
              <a:custGeom>
                <a:avLst/>
                <a:gdLst/>
                <a:ahLst/>
                <a:cxnLst/>
                <a:rect l="0" t="0" r="r" b="b"/>
                <a:pathLst>
                  <a:path w="2376000" h="1173600">
                    <a:moveTo>
                      <a:pt x="0" y="586800"/>
                    </a:moveTo>
                    <a:cubicBezTo>
                      <a:pt x="36000" y="234720"/>
                      <a:pt x="902880" y="0"/>
                      <a:pt x="2217600" y="0"/>
                    </a:cubicBezTo>
                    <a:cubicBezTo>
                      <a:pt x="2376000" y="0"/>
                      <a:pt x="2376000" y="86400"/>
                      <a:pt x="2376000" y="201600"/>
                    </a:cubicBezTo>
                    <a:lnTo>
                      <a:pt x="2376000" y="972000"/>
                    </a:lnTo>
                    <a:cubicBezTo>
                      <a:pt x="2376000" y="1116000"/>
                      <a:pt x="2354400" y="1173600"/>
                      <a:pt x="2217600" y="1173600"/>
                    </a:cubicBezTo>
                    <a:cubicBezTo>
                      <a:pt x="831600" y="1173600"/>
                      <a:pt x="36000" y="1021032"/>
                      <a:pt x="0" y="586800"/>
                    </a:cubicBezTo>
                    <a:close/>
                  </a:path>
                </a:pathLst>
              </a:custGeom>
              <a:solidFill>
                <a:srgbClr val="C6C6C4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8" name="SCHEM_path-0096"/>
              <p:cNvSpPr/>
              <p:nvPr/>
            </p:nvSpPr>
            <p:spPr>
              <a:xfrm>
                <a:off x="6919200" y="4334400"/>
                <a:ext cx="2188800" cy="1000800"/>
              </a:xfrm>
              <a:custGeom>
                <a:avLst/>
                <a:gdLst/>
                <a:ahLst/>
                <a:cxnLst/>
                <a:rect l="0" t="0" r="r" b="b"/>
                <a:pathLst>
                  <a:path w="2188800" h="1000800">
                    <a:moveTo>
                      <a:pt x="0" y="500400"/>
                    </a:moveTo>
                    <a:cubicBezTo>
                      <a:pt x="36000" y="183528"/>
                      <a:pt x="809280" y="0"/>
                      <a:pt x="2088000" y="0"/>
                    </a:cubicBezTo>
                    <a:cubicBezTo>
                      <a:pt x="2188800" y="0"/>
                      <a:pt x="2188800" y="79200"/>
                      <a:pt x="2188800" y="158400"/>
                    </a:cubicBezTo>
                    <a:lnTo>
                      <a:pt x="2188800" y="842400"/>
                    </a:lnTo>
                    <a:cubicBezTo>
                      <a:pt x="2188800" y="986400"/>
                      <a:pt x="2181600" y="1000800"/>
                      <a:pt x="2088000" y="1000800"/>
                    </a:cubicBezTo>
                    <a:cubicBezTo>
                      <a:pt x="738000" y="1000800"/>
                      <a:pt x="36000" y="887688"/>
                      <a:pt x="0" y="5004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A6D3E7"/>
                  </a:gs>
                  <a:gs pos="50000">
                    <a:srgbClr val="B8DCEC"/>
                  </a:gs>
                  <a:gs pos="100000">
                    <a:srgbClr val="88BDD8"/>
                  </a:gs>
                </a:gsLst>
                <a:lin ang="5400000" scaled="1"/>
              </a:gradFill>
              <a:ln w="7200" cap="flat">
                <a:solidFill>
                  <a:srgbClr val="5A7C8F"/>
                </a:solidFill>
              </a:ln>
              <a:effectLst/>
            </p:spPr>
          </p:sp>
          <p:sp>
            <p:nvSpPr>
              <p:cNvPr id="99" name="SCHEM_rect-0097"/>
              <p:cNvSpPr/>
              <p:nvPr/>
            </p:nvSpPr>
            <p:spPr>
              <a:xfrm>
                <a:off x="9201600" y="4017600"/>
                <a:ext cx="208800" cy="1533600"/>
              </a:xfrm>
              <a:prstGeom prst="rect">
                <a:avLst/>
              </a:prstGeom>
              <a:solidFill>
                <a:srgbClr val="DDDDDA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00" name="SCHEM_line-0098"/>
              <p:cNvCxnSpPr/>
              <p:nvPr/>
            </p:nvCxnSpPr>
            <p:spPr>
              <a:xfrm flipV="1">
                <a:off x="9208800" y="4024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01" name="SCHEM_line-0099"/>
              <p:cNvCxnSpPr/>
              <p:nvPr/>
            </p:nvCxnSpPr>
            <p:spPr>
              <a:xfrm flipV="1">
                <a:off x="9208800" y="4096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02" name="SCHEM_line-0100"/>
              <p:cNvCxnSpPr/>
              <p:nvPr/>
            </p:nvCxnSpPr>
            <p:spPr>
              <a:xfrm flipV="1">
                <a:off x="9208800" y="4168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03" name="SCHEM_line-0101"/>
              <p:cNvCxnSpPr/>
              <p:nvPr/>
            </p:nvCxnSpPr>
            <p:spPr>
              <a:xfrm flipV="1">
                <a:off x="9208800" y="4240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04" name="SCHEM_line-0102"/>
              <p:cNvCxnSpPr/>
              <p:nvPr/>
            </p:nvCxnSpPr>
            <p:spPr>
              <a:xfrm flipV="1">
                <a:off x="9208800" y="4312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05" name="SCHEM_line-0103"/>
              <p:cNvCxnSpPr/>
              <p:nvPr/>
            </p:nvCxnSpPr>
            <p:spPr>
              <a:xfrm flipV="1">
                <a:off x="9208800" y="4384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06" name="SCHEM_line-0104"/>
              <p:cNvCxnSpPr/>
              <p:nvPr/>
            </p:nvCxnSpPr>
            <p:spPr>
              <a:xfrm flipV="1">
                <a:off x="9208800" y="4456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07" name="SCHEM_line-0105"/>
              <p:cNvCxnSpPr/>
              <p:nvPr/>
            </p:nvCxnSpPr>
            <p:spPr>
              <a:xfrm flipV="1">
                <a:off x="9208800" y="4528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08" name="SCHEM_line-0106"/>
              <p:cNvCxnSpPr/>
              <p:nvPr/>
            </p:nvCxnSpPr>
            <p:spPr>
              <a:xfrm flipV="1">
                <a:off x="9208800" y="4600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09" name="SCHEM_line-0107"/>
              <p:cNvCxnSpPr/>
              <p:nvPr/>
            </p:nvCxnSpPr>
            <p:spPr>
              <a:xfrm flipV="1">
                <a:off x="9208800" y="4672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10" name="SCHEM_line-0108"/>
              <p:cNvCxnSpPr/>
              <p:nvPr/>
            </p:nvCxnSpPr>
            <p:spPr>
              <a:xfrm flipV="1">
                <a:off x="9208800" y="4744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11" name="SCHEM_line-0109"/>
              <p:cNvCxnSpPr/>
              <p:nvPr/>
            </p:nvCxnSpPr>
            <p:spPr>
              <a:xfrm flipV="1">
                <a:off x="9208800" y="4816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12" name="SCHEM_line-0110"/>
              <p:cNvCxnSpPr/>
              <p:nvPr/>
            </p:nvCxnSpPr>
            <p:spPr>
              <a:xfrm flipV="1">
                <a:off x="9208800" y="4888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13" name="SCHEM_line-0111"/>
              <p:cNvCxnSpPr/>
              <p:nvPr/>
            </p:nvCxnSpPr>
            <p:spPr>
              <a:xfrm flipV="1">
                <a:off x="9208800" y="4960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14" name="SCHEM_line-0112"/>
              <p:cNvCxnSpPr/>
              <p:nvPr/>
            </p:nvCxnSpPr>
            <p:spPr>
              <a:xfrm flipV="1">
                <a:off x="9208800" y="5032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15" name="SCHEM_line-0113"/>
              <p:cNvCxnSpPr/>
              <p:nvPr/>
            </p:nvCxnSpPr>
            <p:spPr>
              <a:xfrm flipV="1">
                <a:off x="9208800" y="5104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16" name="SCHEM_line-0114"/>
              <p:cNvCxnSpPr/>
              <p:nvPr/>
            </p:nvCxnSpPr>
            <p:spPr>
              <a:xfrm flipV="1">
                <a:off x="9208800" y="5176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17" name="SCHEM_line-0115"/>
              <p:cNvCxnSpPr/>
              <p:nvPr/>
            </p:nvCxnSpPr>
            <p:spPr>
              <a:xfrm flipV="1">
                <a:off x="9208800" y="5248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18" name="SCHEM_line-0116"/>
              <p:cNvCxnSpPr/>
              <p:nvPr/>
            </p:nvCxnSpPr>
            <p:spPr>
              <a:xfrm flipV="1">
                <a:off x="9208800" y="5320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19" name="SCHEM_line-0117"/>
              <p:cNvCxnSpPr/>
              <p:nvPr/>
            </p:nvCxnSpPr>
            <p:spPr>
              <a:xfrm flipV="1">
                <a:off x="9208800" y="5392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20" name="SCHEM_line-0118"/>
              <p:cNvCxnSpPr/>
              <p:nvPr/>
            </p:nvCxnSpPr>
            <p:spPr>
              <a:xfrm flipV="1">
                <a:off x="8229600" y="4456800"/>
                <a:ext cx="1" cy="151200"/>
              </a:xfrm>
              <a:prstGeom prst="line">
                <a:avLst/>
              </a:prstGeom>
              <a:noFill/>
              <a:ln w="20160" cap="flat">
                <a:solidFill>
                  <a:srgbClr val="2685B5"/>
                </a:solidFill>
                <a:tailEnd type="triangle" w="med" len="med"/>
              </a:ln>
              <a:effectLst/>
            </p:spPr>
          </p:cxnSp>
          <p:cxnSp>
            <p:nvCxnSpPr>
              <p:cNvPr id="121" name="SCHEM_line-0119"/>
              <p:cNvCxnSpPr/>
              <p:nvPr/>
            </p:nvCxnSpPr>
            <p:spPr>
              <a:xfrm>
                <a:off x="8229600" y="5047200"/>
                <a:ext cx="1" cy="151200"/>
              </a:xfrm>
              <a:prstGeom prst="line">
                <a:avLst/>
              </a:prstGeom>
              <a:noFill/>
              <a:ln w="20160" cap="flat">
                <a:solidFill>
                  <a:srgbClr val="2685B5"/>
                </a:solidFill>
                <a:tailEnd type="triangle" w="med" len="med"/>
              </a:ln>
              <a:effectLst/>
            </p:spPr>
          </p:cxnSp>
          <p:cxnSp>
            <p:nvCxnSpPr>
              <p:cNvPr id="122" name="SCHEM_line-0120"/>
              <p:cNvCxnSpPr/>
              <p:nvPr/>
            </p:nvCxnSpPr>
            <p:spPr>
              <a:xfrm flipH="1">
                <a:off x="7804800" y="4824000"/>
                <a:ext cx="144000" cy="1"/>
              </a:xfrm>
              <a:prstGeom prst="line">
                <a:avLst/>
              </a:prstGeom>
              <a:noFill/>
              <a:ln w="20160" cap="flat">
                <a:solidFill>
                  <a:srgbClr val="2685B5"/>
                </a:solidFill>
                <a:tailEnd type="triangle" w="med" len="med"/>
              </a:ln>
              <a:effectLst/>
            </p:spPr>
          </p:cxnSp>
        </p:grpSp>
        <p:sp>
          <p:nvSpPr>
            <p:cNvPr id="123" name="SCHEM_text-0121"/>
            <p:cNvSpPr txBox="1"/>
            <p:nvPr/>
          </p:nvSpPr>
          <p:spPr>
            <a:xfrm>
              <a:off x="7401600" y="3844800"/>
              <a:ext cx="2160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Cavity volume changes</a:t>
              </a:r>
              <a:endParaRPr lang="en-US" sz="1531"/>
            </a:p>
          </p:txBody>
        </p:sp>
        <p:cxnSp>
          <p:nvCxnSpPr>
            <p:cNvPr id="124" name="SCHEM_line-0122"/>
            <p:cNvCxnSpPr/>
            <p:nvPr/>
          </p:nvCxnSpPr>
          <p:spPr>
            <a:xfrm>
              <a:off x="8373600" y="4068000"/>
              <a:ext cx="403200" cy="5616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25" name="SCHEM_ellipse-0123"/>
            <p:cNvSpPr/>
            <p:nvPr/>
          </p:nvSpPr>
          <p:spPr>
            <a:xfrm>
              <a:off x="8755200" y="46080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126" name="SCHEM_text-0124"/>
            <p:cNvSpPr txBox="1"/>
            <p:nvPr/>
          </p:nvSpPr>
          <p:spPr>
            <a:xfrm>
              <a:off x="6696000" y="5637600"/>
              <a:ext cx="3024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Contact-constrained inflation</a:t>
              </a:r>
              <a:endParaRPr lang="en-US" sz="1531"/>
            </a:p>
          </p:txBody>
        </p:sp>
        <p:grpSp>
          <p:nvGrpSpPr>
            <p:cNvPr id="127" name="SCHEM_contact-detail"/>
            <p:cNvGrpSpPr/>
            <p:nvPr/>
          </p:nvGrpSpPr>
          <p:grpSpPr>
            <a:xfrm>
              <a:off x="9864000" y="4053600"/>
              <a:ext cx="1519200" cy="1706400"/>
              <a:chOff x="9864000" y="4053600"/>
              <a:chExt cx="1519200" cy="1706400"/>
            </a:xfrm>
          </p:grpSpPr>
          <p:sp>
            <p:nvSpPr>
              <p:cNvPr id="128" name="SCHEM_rect-0126"/>
              <p:cNvSpPr/>
              <p:nvPr/>
            </p:nvSpPr>
            <p:spPr>
              <a:xfrm>
                <a:off x="9864000" y="4053600"/>
                <a:ext cx="1519200" cy="1706400"/>
              </a:xfrm>
              <a:prstGeom prst="rect">
                <a:avLst/>
              </a:prstGeom>
              <a:noFill/>
              <a:ln w="7200" cap="flat">
                <a:solidFill>
                  <a:srgbClr val="777777"/>
                </a:solidFill>
                <a:prstDash val="dash"/>
              </a:ln>
              <a:effectLst/>
            </p:spPr>
          </p:sp>
          <p:sp>
            <p:nvSpPr>
              <p:cNvPr id="129" name="SCHEM_rect-0127"/>
              <p:cNvSpPr/>
              <p:nvPr/>
            </p:nvSpPr>
            <p:spPr>
              <a:xfrm>
                <a:off x="9900000" y="4809600"/>
                <a:ext cx="648000" cy="792000"/>
              </a:xfrm>
              <a:prstGeom prst="rect">
                <a:avLst/>
              </a:prstGeom>
              <a:solidFill>
                <a:srgbClr val="AAD4E8"/>
              </a:solidFill>
              <a:ln w="9360" cap="flat">
                <a:noFill/>
              </a:ln>
              <a:effectLst/>
            </p:spPr>
          </p:sp>
          <p:sp>
            <p:nvSpPr>
              <p:cNvPr id="130" name="SCHEM_path-0128"/>
              <p:cNvSpPr/>
              <p:nvPr/>
            </p:nvSpPr>
            <p:spPr>
              <a:xfrm>
                <a:off x="10476000" y="4809600"/>
                <a:ext cx="439200" cy="792000"/>
              </a:xfrm>
              <a:custGeom>
                <a:avLst/>
                <a:gdLst/>
                <a:ahLst/>
                <a:cxnLst/>
                <a:rect l="0" t="0" r="r" b="b"/>
                <a:pathLst>
                  <a:path w="439200" h="792000">
                    <a:moveTo>
                      <a:pt x="0" y="0"/>
                    </a:moveTo>
                    <a:cubicBezTo>
                      <a:pt x="36000" y="216000"/>
                      <a:pt x="208800" y="460800"/>
                      <a:pt x="21600" y="792000"/>
                    </a:cubicBezTo>
                    <a:lnTo>
                      <a:pt x="230400" y="792000"/>
                    </a:lnTo>
                    <a:cubicBezTo>
                      <a:pt x="439200" y="460800"/>
                      <a:pt x="266400" y="216000"/>
                      <a:pt x="230400" y="0"/>
                    </a:cubicBezTo>
                    <a:close/>
                  </a:path>
                </a:pathLst>
              </a:custGeom>
              <a:solidFill>
                <a:srgbClr val="C8C8C4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31" name="SCHEM_rect-0129"/>
              <p:cNvSpPr/>
              <p:nvPr/>
            </p:nvSpPr>
            <p:spPr>
              <a:xfrm>
                <a:off x="10728000" y="4168800"/>
                <a:ext cx="165600" cy="1432800"/>
              </a:xfrm>
              <a:prstGeom prst="rect">
                <a:avLst/>
              </a:prstGeom>
              <a:solidFill>
                <a:srgbClr val="DDDDD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32" name="SCHEM_line-0130"/>
              <p:cNvCxnSpPr/>
              <p:nvPr/>
            </p:nvCxnSpPr>
            <p:spPr>
              <a:xfrm flipV="1">
                <a:off x="10742400" y="4190400"/>
                <a:ext cx="136800" cy="504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33" name="SCHEM_line-0131"/>
              <p:cNvCxnSpPr/>
              <p:nvPr/>
            </p:nvCxnSpPr>
            <p:spPr>
              <a:xfrm flipV="1">
                <a:off x="10742400" y="4291200"/>
                <a:ext cx="136800" cy="504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34" name="SCHEM_line-0132"/>
              <p:cNvCxnSpPr/>
              <p:nvPr/>
            </p:nvCxnSpPr>
            <p:spPr>
              <a:xfrm flipV="1">
                <a:off x="10742400" y="4392000"/>
                <a:ext cx="136800" cy="504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35" name="SCHEM_line-0133"/>
              <p:cNvCxnSpPr/>
              <p:nvPr/>
            </p:nvCxnSpPr>
            <p:spPr>
              <a:xfrm flipV="1">
                <a:off x="10742400" y="4492800"/>
                <a:ext cx="136800" cy="504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36" name="SCHEM_line-0134"/>
              <p:cNvCxnSpPr/>
              <p:nvPr/>
            </p:nvCxnSpPr>
            <p:spPr>
              <a:xfrm flipV="1">
                <a:off x="10742400" y="4593600"/>
                <a:ext cx="136800" cy="504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37" name="SCHEM_line-0135"/>
              <p:cNvCxnSpPr/>
              <p:nvPr/>
            </p:nvCxnSpPr>
            <p:spPr>
              <a:xfrm flipV="1">
                <a:off x="10742400" y="4694400"/>
                <a:ext cx="136800" cy="504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38" name="SCHEM_line-0136"/>
              <p:cNvCxnSpPr/>
              <p:nvPr/>
            </p:nvCxnSpPr>
            <p:spPr>
              <a:xfrm flipV="1">
                <a:off x="10742400" y="4795200"/>
                <a:ext cx="136800" cy="504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39" name="SCHEM_line-0137"/>
              <p:cNvCxnSpPr/>
              <p:nvPr/>
            </p:nvCxnSpPr>
            <p:spPr>
              <a:xfrm flipV="1">
                <a:off x="10742400" y="4896000"/>
                <a:ext cx="136800" cy="504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40" name="SCHEM_line-0138"/>
              <p:cNvCxnSpPr/>
              <p:nvPr/>
            </p:nvCxnSpPr>
            <p:spPr>
              <a:xfrm flipV="1">
                <a:off x="10742400" y="4996800"/>
                <a:ext cx="136800" cy="504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41" name="SCHEM_line-0139"/>
              <p:cNvCxnSpPr/>
              <p:nvPr/>
            </p:nvCxnSpPr>
            <p:spPr>
              <a:xfrm flipV="1">
                <a:off x="10742400" y="5097600"/>
                <a:ext cx="136800" cy="504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42" name="SCHEM_line-0140"/>
              <p:cNvCxnSpPr/>
              <p:nvPr/>
            </p:nvCxnSpPr>
            <p:spPr>
              <a:xfrm flipV="1">
                <a:off x="10742400" y="5198400"/>
                <a:ext cx="136800" cy="504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43" name="SCHEM_line-0141"/>
              <p:cNvCxnSpPr/>
              <p:nvPr/>
            </p:nvCxnSpPr>
            <p:spPr>
              <a:xfrm flipV="1">
                <a:off x="10742400" y="5299200"/>
                <a:ext cx="136800" cy="504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44" name="SCHEM_line-0142"/>
              <p:cNvCxnSpPr/>
              <p:nvPr/>
            </p:nvCxnSpPr>
            <p:spPr>
              <a:xfrm flipV="1">
                <a:off x="10742400" y="5400000"/>
                <a:ext cx="136800" cy="504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45" name="SCHEM_line-0143"/>
              <p:cNvCxnSpPr/>
              <p:nvPr/>
            </p:nvCxnSpPr>
            <p:spPr>
              <a:xfrm flipV="1">
                <a:off x="10742400" y="5500800"/>
                <a:ext cx="136800" cy="504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</p:grpSp>
        <p:sp>
          <p:nvSpPr>
            <p:cNvPr id="146" name="SCHEM_text-0144"/>
            <p:cNvSpPr txBox="1"/>
            <p:nvPr/>
          </p:nvSpPr>
          <p:spPr>
            <a:xfrm>
              <a:off x="9907200" y="4248000"/>
              <a:ext cx="792000" cy="3470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90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Deformable</a:t>
              </a:r>
              <a:endParaRPr lang="en-US" sz="907"/>
            </a:p>
            <a:p>
              <a:pPr algn="ctr">
                <a:buNone/>
              </a:pPr>
              <a:r>
                <a:rPr lang="en-US" sz="90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chamber wall</a:t>
              </a:r>
              <a:endParaRPr lang="en-US" sz="907"/>
            </a:p>
          </p:txBody>
        </p:sp>
        <p:cxnSp>
          <p:nvCxnSpPr>
            <p:cNvPr id="147" name="SCHEM_line-0145"/>
            <p:cNvCxnSpPr/>
            <p:nvPr/>
          </p:nvCxnSpPr>
          <p:spPr>
            <a:xfrm>
              <a:off x="10324800" y="4586400"/>
              <a:ext cx="374400" cy="2232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48" name="SCHEM_ellipse-0146"/>
            <p:cNvSpPr/>
            <p:nvPr/>
          </p:nvSpPr>
          <p:spPr>
            <a:xfrm>
              <a:off x="10677600" y="47880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149" name="SCHEM_text-0147"/>
            <p:cNvSpPr txBox="1"/>
            <p:nvPr/>
          </p:nvSpPr>
          <p:spPr>
            <a:xfrm>
              <a:off x="10908000" y="4953600"/>
              <a:ext cx="576000" cy="3470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90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Rigid</a:t>
              </a:r>
              <a:endParaRPr lang="en-US" sz="907"/>
            </a:p>
            <a:p>
              <a:pPr algn="l">
                <a:buNone/>
              </a:pPr>
              <a:r>
                <a:rPr lang="en-US" sz="90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boundary</a:t>
              </a:r>
              <a:endParaRPr lang="en-US" sz="907"/>
            </a:p>
          </p:txBody>
        </p:sp>
        <p:cxnSp>
          <p:nvCxnSpPr>
            <p:cNvPr id="150" name="SCHEM_line-0148"/>
            <p:cNvCxnSpPr/>
            <p:nvPr/>
          </p:nvCxnSpPr>
          <p:spPr>
            <a:xfrm flipH="1">
              <a:off x="10843200" y="5277600"/>
              <a:ext cx="136800" cy="936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51" name="SCHEM_ellipse-0149"/>
            <p:cNvSpPr/>
            <p:nvPr/>
          </p:nvSpPr>
          <p:spPr>
            <a:xfrm>
              <a:off x="10821600" y="53496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152" name="SCHEM_text-0150"/>
            <p:cNvSpPr txBox="1"/>
            <p:nvPr/>
          </p:nvSpPr>
          <p:spPr>
            <a:xfrm>
              <a:off x="201600" y="6228000"/>
              <a:ext cx="11088000" cy="2304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Nature Communications (2024) | doi:10.1038/s41467-023-44517-z | Conceptual geometry; not to scale.</a:t>
              </a:r>
              <a:endParaRPr lang="en-US" sz="1134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cientific">
  <a:themeElements>
    <a:clrScheme name="Scientific">
      <a:dk1>
        <a:srgbClr val="202020"/>
      </a:dk1>
      <a:lt1>
        <a:srgbClr val="FFFFFF"/>
      </a:lt1>
      <a:dk2>
        <a:srgbClr val="505050"/>
      </a:dk2>
      <a:lt2>
        <a:srgbClr val="EEEEEE"/>
      </a:lt2>
      <a:accent1>
        <a:srgbClr val="159DDD"/>
      </a:accent1>
      <a:accent2>
        <a:srgbClr val="E04746"/>
      </a:accent2>
      <a:accent3>
        <a:srgbClr val="AAB568"/>
      </a:accent3>
      <a:accent4>
        <a:srgbClr val="DDE5C8"/>
      </a:accent4>
      <a:accent5>
        <a:srgbClr val="999999"/>
      </a:accent5>
      <a:accent6>
        <a:srgbClr val="777777"/>
      </a:accent6>
      <a:hlink>
        <a:srgbClr val="0563C1"/>
      </a:hlink>
      <a:folHlink>
        <a:srgbClr val="954F72"/>
      </a:folHlink>
    </a:clrScheme>
    <a:fontScheme name="Scientific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Scientif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