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520000" cy="6480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21887" y="50400"/>
            <a:ext cx="11390913" cy="6412320"/>
            <a:chOff x="121887" y="50400"/>
            <a:chExt cx="11390913" cy="6412320"/>
          </a:xfrm>
        </p:grpSpPr>
        <p:sp>
          <p:nvSpPr>
            <p:cNvPr id="3" name="SCHEM_text-0001"/>
            <p:cNvSpPr txBox="1"/>
            <p:nvPr/>
          </p:nvSpPr>
          <p:spPr>
            <a:xfrm>
              <a:off x="3168000" y="50400"/>
              <a:ext cx="5328000" cy="3567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87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Lime-clast reservoirs and crack sealing</a:t>
              </a:r>
              <a:endParaRPr lang="en-US" sz="1871"/>
            </a:p>
          </p:txBody>
        </p:sp>
        <p:sp>
          <p:nvSpPr>
            <p:cNvPr id="4" name="SCHEM_text-0002"/>
            <p:cNvSpPr txBox="1"/>
            <p:nvPr/>
          </p:nvSpPr>
          <p:spPr>
            <a:xfrm>
              <a:off x="201600" y="568800"/>
              <a:ext cx="2592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Hot mixing with quicklime</a:t>
              </a:r>
              <a:endParaRPr lang="en-US" sz="1361"/>
            </a:p>
          </p:txBody>
        </p:sp>
        <p:sp>
          <p:nvSpPr>
            <p:cNvPr id="5" name="SCHEM_text-0003"/>
            <p:cNvSpPr txBox="1"/>
            <p:nvPr/>
          </p:nvSpPr>
          <p:spPr>
            <a:xfrm>
              <a:off x="3038400" y="554400"/>
              <a:ext cx="4680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Modern mortar section (lime-clast specimen)</a:t>
              </a:r>
              <a:endParaRPr lang="en-US" sz="1361"/>
            </a:p>
          </p:txBody>
        </p:sp>
        <p:sp>
          <p:nvSpPr>
            <p:cNvPr id="6" name="SCHEM_text-0004"/>
            <p:cNvSpPr txBox="1"/>
            <p:nvPr/>
          </p:nvSpPr>
          <p:spPr>
            <a:xfrm>
              <a:off x="8071200" y="568800"/>
              <a:ext cx="34344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Hydraulic response (after flow exposure)</a:t>
              </a:r>
              <a:endParaRPr lang="en-US" sz="1361"/>
            </a:p>
          </p:txBody>
        </p:sp>
        <p:grpSp>
          <p:nvGrpSpPr>
            <p:cNvPr id="7" name="SCHEM_hot-mixing-ingredients"/>
            <p:cNvGrpSpPr/>
            <p:nvPr/>
          </p:nvGrpSpPr>
          <p:grpSpPr>
            <a:xfrm>
              <a:off x="121887" y="892800"/>
              <a:ext cx="2570913" cy="455513"/>
              <a:chOff x="121887" y="892800"/>
              <a:chExt cx="2570913" cy="455513"/>
            </a:xfrm>
          </p:grpSpPr>
          <p:sp>
            <p:nvSpPr>
              <p:cNvPr id="8" name="SCHEM_path-0006"/>
              <p:cNvSpPr/>
              <p:nvPr/>
            </p:nvSpPr>
            <p:spPr>
              <a:xfrm>
                <a:off x="376798" y="918533"/>
                <a:ext cx="266934" cy="345604"/>
              </a:xfrm>
              <a:custGeom>
                <a:avLst/>
                <a:gdLst/>
                <a:ahLst/>
                <a:cxnLst/>
                <a:rect l="0" t="0" r="r" b="b"/>
                <a:pathLst>
                  <a:path w="266934" h="345604">
                    <a:moveTo>
                      <a:pt x="266434" y="161467"/>
                    </a:moveTo>
                    <a:cubicBezTo>
                      <a:pt x="265934" y="204771"/>
                      <a:pt x="256751" y="260221"/>
                      <a:pt x="230191" y="289216"/>
                    </a:cubicBezTo>
                    <a:cubicBezTo>
                      <a:pt x="203631" y="318212"/>
                      <a:pt x="141929" y="345604"/>
                      <a:pt x="107073" y="335439"/>
                    </a:cubicBezTo>
                    <a:cubicBezTo>
                      <a:pt x="72218" y="325273"/>
                      <a:pt x="36389" y="268897"/>
                      <a:pt x="21059" y="228225"/>
                    </a:cubicBezTo>
                    <a:cubicBezTo>
                      <a:pt x="5729" y="187552"/>
                      <a:pt x="0" y="127718"/>
                      <a:pt x="15091" y="91403"/>
                    </a:cubicBezTo>
                    <a:cubicBezTo>
                      <a:pt x="30183" y="55089"/>
                      <a:pt x="75257" y="20671"/>
                      <a:pt x="111607" y="10335"/>
                    </a:cubicBezTo>
                    <a:cubicBezTo>
                      <a:pt x="147956" y="0"/>
                      <a:pt x="207385" y="4203"/>
                      <a:pt x="233190" y="29392"/>
                    </a:cubicBezTo>
                    <a:cubicBezTo>
                      <a:pt x="258995" y="54580"/>
                      <a:pt x="266934" y="118162"/>
                      <a:pt x="266434" y="161467"/>
                    </a:cubicBezTo>
                    <a:close/>
                  </a:path>
                </a:pathLst>
              </a:custGeom>
              <a:solidFill>
                <a:srgbClr val="F0F0EE"/>
              </a:solidFill>
              <a:ln w="7200" cap="flat">
                <a:solidFill>
                  <a:srgbClr val="8E8D88"/>
                </a:solidFill>
              </a:ln>
              <a:effectLst/>
            </p:spPr>
          </p:sp>
          <p:sp>
            <p:nvSpPr>
              <p:cNvPr id="9" name="SCHEM_path-0007"/>
              <p:cNvSpPr/>
              <p:nvPr/>
            </p:nvSpPr>
            <p:spPr>
              <a:xfrm>
                <a:off x="432000" y="997200"/>
                <a:ext cx="144000" cy="165600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65600">
                    <a:moveTo>
                      <a:pt x="0" y="115920"/>
                    </a:moveTo>
                    <a:lnTo>
                      <a:pt x="86400" y="0"/>
                    </a:lnTo>
                    <a:lnTo>
                      <a:pt x="144000" y="165600"/>
                    </a:lnTo>
                  </a:path>
                </a:pathLst>
              </a:custGeom>
              <a:noFill/>
              <a:ln w="10800" cap="flat">
                <a:solidFill>
                  <a:srgbClr val="C3C4C0"/>
                </a:solidFill>
              </a:ln>
              <a:effectLst/>
            </p:spPr>
          </p:sp>
          <p:sp>
            <p:nvSpPr>
              <p:cNvPr id="10" name="SCHEM_path-0008"/>
              <p:cNvSpPr/>
              <p:nvPr/>
            </p:nvSpPr>
            <p:spPr>
              <a:xfrm>
                <a:off x="203831" y="1049548"/>
                <a:ext cx="274852" cy="192736"/>
              </a:xfrm>
              <a:custGeom>
                <a:avLst/>
                <a:gdLst/>
                <a:ahLst/>
                <a:cxnLst/>
                <a:rect l="0" t="0" r="r" b="b"/>
                <a:pathLst>
                  <a:path w="274852" h="192736">
                    <a:moveTo>
                      <a:pt x="273584" y="95252"/>
                    </a:moveTo>
                    <a:cubicBezTo>
                      <a:pt x="274852" y="120658"/>
                      <a:pt x="259262" y="159687"/>
                      <a:pt x="233818" y="175049"/>
                    </a:cubicBezTo>
                    <a:cubicBezTo>
                      <a:pt x="208373" y="190412"/>
                      <a:pt x="157180" y="192736"/>
                      <a:pt x="120918" y="187426"/>
                    </a:cubicBezTo>
                    <a:cubicBezTo>
                      <a:pt x="84656" y="182116"/>
                      <a:pt x="32495" y="166107"/>
                      <a:pt x="16247" y="143188"/>
                    </a:cubicBezTo>
                    <a:cubicBezTo>
                      <a:pt x="0" y="120269"/>
                      <a:pt x="5914" y="73017"/>
                      <a:pt x="23434" y="49911"/>
                    </a:cubicBezTo>
                    <a:cubicBezTo>
                      <a:pt x="40954" y="26804"/>
                      <a:pt x="87570" y="9100"/>
                      <a:pt x="121366" y="4550"/>
                    </a:cubicBezTo>
                    <a:cubicBezTo>
                      <a:pt x="155162" y="0"/>
                      <a:pt x="200840" y="7492"/>
                      <a:pt x="226209" y="22609"/>
                    </a:cubicBezTo>
                    <a:cubicBezTo>
                      <a:pt x="251579" y="37726"/>
                      <a:pt x="272316" y="69845"/>
                      <a:pt x="273584" y="95252"/>
                    </a:cubicBezTo>
                    <a:close/>
                  </a:path>
                </a:pathLst>
              </a:custGeom>
              <a:solidFill>
                <a:srgbClr val="F0F0EE"/>
              </a:solidFill>
              <a:ln w="7200" cap="flat">
                <a:solidFill>
                  <a:srgbClr val="8E8D88"/>
                </a:solidFill>
              </a:ln>
              <a:effectLst/>
            </p:spPr>
          </p:sp>
          <p:sp>
            <p:nvSpPr>
              <p:cNvPr id="11" name="SCHEM_path-0009"/>
              <p:cNvSpPr/>
              <p:nvPr/>
            </p:nvSpPr>
            <p:spPr>
              <a:xfrm>
                <a:off x="266400" y="1090800"/>
                <a:ext cx="144000" cy="108000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08000">
                    <a:moveTo>
                      <a:pt x="0" y="75600"/>
                    </a:moveTo>
                    <a:lnTo>
                      <a:pt x="86400" y="0"/>
                    </a:lnTo>
                    <a:lnTo>
                      <a:pt x="144000" y="108000"/>
                    </a:lnTo>
                  </a:path>
                </a:pathLst>
              </a:custGeom>
              <a:noFill/>
              <a:ln w="10800" cap="flat">
                <a:solidFill>
                  <a:srgbClr val="C3C4C0"/>
                </a:solidFill>
              </a:ln>
              <a:effectLst/>
            </p:spPr>
          </p:sp>
          <p:sp>
            <p:nvSpPr>
              <p:cNvPr id="12" name="SCHEM_path-0010"/>
              <p:cNvSpPr/>
              <p:nvPr/>
            </p:nvSpPr>
            <p:spPr>
              <a:xfrm>
                <a:off x="460720" y="1070738"/>
                <a:ext cx="330971" cy="277344"/>
              </a:xfrm>
              <a:custGeom>
                <a:avLst/>
                <a:gdLst/>
                <a:ahLst/>
                <a:cxnLst/>
                <a:rect l="0" t="0" r="r" b="b"/>
                <a:pathLst>
                  <a:path w="330971" h="277344">
                    <a:moveTo>
                      <a:pt x="330183" y="124462"/>
                    </a:moveTo>
                    <a:cubicBezTo>
                      <a:pt x="330971" y="158960"/>
                      <a:pt x="318630" y="206306"/>
                      <a:pt x="286695" y="230301"/>
                    </a:cubicBezTo>
                    <a:cubicBezTo>
                      <a:pt x="254760" y="254296"/>
                      <a:pt x="179236" y="277344"/>
                      <a:pt x="138572" y="268433"/>
                    </a:cubicBezTo>
                    <a:cubicBezTo>
                      <a:pt x="97909" y="259521"/>
                      <a:pt x="62936" y="211177"/>
                      <a:pt x="42712" y="176834"/>
                    </a:cubicBezTo>
                    <a:cubicBezTo>
                      <a:pt x="22487" y="142491"/>
                      <a:pt x="0" y="90763"/>
                      <a:pt x="17227" y="62375"/>
                    </a:cubicBezTo>
                    <a:cubicBezTo>
                      <a:pt x="34454" y="33988"/>
                      <a:pt x="101950" y="13019"/>
                      <a:pt x="146073" y="6510"/>
                    </a:cubicBezTo>
                    <a:cubicBezTo>
                      <a:pt x="190197" y="0"/>
                      <a:pt x="251282" y="3658"/>
                      <a:pt x="281967" y="23317"/>
                    </a:cubicBezTo>
                    <a:cubicBezTo>
                      <a:pt x="312652" y="42976"/>
                      <a:pt x="329395" y="89965"/>
                      <a:pt x="330183" y="124462"/>
                    </a:cubicBezTo>
                    <a:close/>
                  </a:path>
                </a:pathLst>
              </a:custGeom>
              <a:solidFill>
                <a:srgbClr val="F0F0EE"/>
              </a:solidFill>
              <a:ln w="7200" cap="flat">
                <a:solidFill>
                  <a:srgbClr val="8E8D88"/>
                </a:solidFill>
              </a:ln>
              <a:effectLst/>
            </p:spPr>
          </p:sp>
          <p:sp>
            <p:nvSpPr>
              <p:cNvPr id="13" name="SCHEM_path-0011"/>
              <p:cNvSpPr/>
              <p:nvPr/>
            </p:nvSpPr>
            <p:spPr>
              <a:xfrm>
                <a:off x="537120" y="1126800"/>
                <a:ext cx="172800" cy="136800"/>
              </a:xfrm>
              <a:custGeom>
                <a:avLst/>
                <a:gdLst/>
                <a:ahLst/>
                <a:cxnLst/>
                <a:rect l="0" t="0" r="r" b="b"/>
                <a:pathLst>
                  <a:path w="172800" h="136800">
                    <a:moveTo>
                      <a:pt x="0" y="95760"/>
                    </a:moveTo>
                    <a:lnTo>
                      <a:pt x="103680" y="0"/>
                    </a:lnTo>
                    <a:lnTo>
                      <a:pt x="172800" y="136800"/>
                    </a:lnTo>
                  </a:path>
                </a:pathLst>
              </a:custGeom>
              <a:noFill/>
              <a:ln w="10800" cap="flat">
                <a:solidFill>
                  <a:srgbClr val="C3C4C0"/>
                </a:solidFill>
              </a:ln>
              <a:effectLst/>
            </p:spPr>
          </p:sp>
          <p:sp>
            <p:nvSpPr>
              <p:cNvPr id="14" name="SCHEM_path-0012"/>
              <p:cNvSpPr/>
              <p:nvPr/>
            </p:nvSpPr>
            <p:spPr>
              <a:xfrm>
                <a:off x="121887" y="1118754"/>
                <a:ext cx="187565" cy="201517"/>
              </a:xfrm>
              <a:custGeom>
                <a:avLst/>
                <a:gdLst/>
                <a:ahLst/>
                <a:cxnLst/>
                <a:rect l="0" t="0" r="r" b="b"/>
                <a:pathLst>
                  <a:path w="187565" h="201517">
                    <a:moveTo>
                      <a:pt x="187278" y="98046"/>
                    </a:moveTo>
                    <a:cubicBezTo>
                      <a:pt x="186990" y="123084"/>
                      <a:pt x="174201" y="155499"/>
                      <a:pt x="156358" y="172001"/>
                    </a:cubicBezTo>
                    <a:cubicBezTo>
                      <a:pt x="138515" y="188503"/>
                      <a:pt x="104642" y="201517"/>
                      <a:pt x="80221" y="197058"/>
                    </a:cubicBezTo>
                    <a:cubicBezTo>
                      <a:pt x="55800" y="192599"/>
                      <a:pt x="19667" y="168637"/>
                      <a:pt x="9833" y="145247"/>
                    </a:cubicBezTo>
                    <a:cubicBezTo>
                      <a:pt x="0" y="121858"/>
                      <a:pt x="9249" y="79958"/>
                      <a:pt x="21221" y="56721"/>
                    </a:cubicBezTo>
                    <a:cubicBezTo>
                      <a:pt x="33193" y="33484"/>
                      <a:pt x="58857" y="11650"/>
                      <a:pt x="81667" y="5825"/>
                    </a:cubicBezTo>
                    <a:cubicBezTo>
                      <a:pt x="104478" y="0"/>
                      <a:pt x="140482" y="6402"/>
                      <a:pt x="158084" y="21772"/>
                    </a:cubicBezTo>
                    <a:cubicBezTo>
                      <a:pt x="175686" y="37143"/>
                      <a:pt x="187565" y="73008"/>
                      <a:pt x="187278" y="98046"/>
                    </a:cubicBezTo>
                    <a:close/>
                  </a:path>
                </a:pathLst>
              </a:custGeom>
              <a:solidFill>
                <a:srgbClr val="F0F0EE"/>
              </a:solidFill>
              <a:ln w="7200" cap="flat">
                <a:solidFill>
                  <a:srgbClr val="8E8D88"/>
                </a:solidFill>
              </a:ln>
              <a:effectLst/>
            </p:spPr>
          </p:sp>
          <p:sp>
            <p:nvSpPr>
              <p:cNvPr id="15" name="SCHEM_path-0013"/>
              <p:cNvSpPr/>
              <p:nvPr/>
            </p:nvSpPr>
            <p:spPr>
              <a:xfrm>
                <a:off x="162720" y="1162800"/>
                <a:ext cx="100800" cy="108000"/>
              </a:xfrm>
              <a:custGeom>
                <a:avLst/>
                <a:gdLst/>
                <a:ahLst/>
                <a:cxnLst/>
                <a:rect l="0" t="0" r="r" b="b"/>
                <a:pathLst>
                  <a:path w="100800" h="108000">
                    <a:moveTo>
                      <a:pt x="0" y="75600"/>
                    </a:moveTo>
                    <a:lnTo>
                      <a:pt x="60480" y="0"/>
                    </a:lnTo>
                    <a:lnTo>
                      <a:pt x="100800" y="108000"/>
                    </a:lnTo>
                  </a:path>
                </a:pathLst>
              </a:custGeom>
              <a:noFill/>
              <a:ln w="10800" cap="flat">
                <a:solidFill>
                  <a:srgbClr val="C3C4C0"/>
                </a:solidFill>
              </a:ln>
              <a:effectLst/>
            </p:spPr>
          </p:sp>
          <p:sp>
            <p:nvSpPr>
              <p:cNvPr id="16" name="SCHEM_path-0014"/>
              <p:cNvSpPr/>
              <p:nvPr/>
            </p:nvSpPr>
            <p:spPr>
              <a:xfrm>
                <a:off x="322972" y="1173569"/>
                <a:ext cx="289924" cy="174744"/>
              </a:xfrm>
              <a:custGeom>
                <a:avLst/>
                <a:gdLst/>
                <a:ahLst/>
                <a:cxnLst/>
                <a:rect l="0" t="0" r="r" b="b"/>
                <a:pathLst>
                  <a:path w="289924" h="174744">
                    <a:moveTo>
                      <a:pt x="289448" y="93631"/>
                    </a:moveTo>
                    <a:cubicBezTo>
                      <a:pt x="288972" y="115347"/>
                      <a:pt x="274243" y="145072"/>
                      <a:pt x="246047" y="157801"/>
                    </a:cubicBezTo>
                    <a:cubicBezTo>
                      <a:pt x="217851" y="170529"/>
                      <a:pt x="158564" y="174744"/>
                      <a:pt x="120272" y="170001"/>
                    </a:cubicBezTo>
                    <a:cubicBezTo>
                      <a:pt x="81979" y="165257"/>
                      <a:pt x="32585" y="147745"/>
                      <a:pt x="16293" y="129338"/>
                    </a:cubicBezTo>
                    <a:cubicBezTo>
                      <a:pt x="0" y="110931"/>
                      <a:pt x="6017" y="80225"/>
                      <a:pt x="22516" y="59559"/>
                    </a:cubicBezTo>
                    <a:cubicBezTo>
                      <a:pt x="39015" y="38893"/>
                      <a:pt x="77553" y="10684"/>
                      <a:pt x="115284" y="5342"/>
                    </a:cubicBezTo>
                    <a:cubicBezTo>
                      <a:pt x="153016" y="0"/>
                      <a:pt x="219878" y="12791"/>
                      <a:pt x="248905" y="27506"/>
                    </a:cubicBezTo>
                    <a:cubicBezTo>
                      <a:pt x="277933" y="42221"/>
                      <a:pt x="289924" y="71915"/>
                      <a:pt x="289448" y="93631"/>
                    </a:cubicBezTo>
                    <a:close/>
                  </a:path>
                </a:pathLst>
              </a:custGeom>
              <a:solidFill>
                <a:srgbClr val="F0F0EE"/>
              </a:solidFill>
              <a:ln w="7200" cap="flat">
                <a:solidFill>
                  <a:srgbClr val="8E8D88"/>
                </a:solidFill>
              </a:ln>
              <a:effectLst/>
            </p:spPr>
          </p:sp>
          <p:sp>
            <p:nvSpPr>
              <p:cNvPr id="17" name="SCHEM_path-0015"/>
              <p:cNvSpPr/>
              <p:nvPr/>
            </p:nvSpPr>
            <p:spPr>
              <a:xfrm>
                <a:off x="380160" y="1224000"/>
                <a:ext cx="1584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158400" h="86400">
                    <a:moveTo>
                      <a:pt x="0" y="60480"/>
                    </a:moveTo>
                    <a:lnTo>
                      <a:pt x="95040" y="0"/>
                    </a:lnTo>
                    <a:lnTo>
                      <a:pt x="158400" y="86400"/>
                    </a:lnTo>
                  </a:path>
                </a:pathLst>
              </a:custGeom>
              <a:noFill/>
              <a:ln w="10800" cap="flat">
                <a:solidFill>
                  <a:srgbClr val="C3C4C0"/>
                </a:solidFill>
              </a:ln>
              <a:effectLst/>
            </p:spPr>
          </p:sp>
          <p:sp>
            <p:nvSpPr>
              <p:cNvPr id="18" name="SCHEM_polygon-0016"/>
              <p:cNvSpPr/>
              <p:nvPr/>
            </p:nvSpPr>
            <p:spPr>
              <a:xfrm>
                <a:off x="1000800" y="892800"/>
                <a:ext cx="784800" cy="446400"/>
              </a:xfrm>
              <a:custGeom>
                <a:avLst/>
                <a:gdLst/>
                <a:ahLst/>
                <a:cxnLst/>
                <a:rect l="0" t="0" r="r" b="b"/>
                <a:pathLst>
                  <a:path w="784800" h="446400">
                    <a:moveTo>
                      <a:pt x="0" y="360000"/>
                    </a:moveTo>
                    <a:lnTo>
                      <a:pt x="381600" y="0"/>
                    </a:lnTo>
                    <a:lnTo>
                      <a:pt x="784800" y="374400"/>
                    </a:lnTo>
                    <a:lnTo>
                      <a:pt x="518400" y="446400"/>
                    </a:lnTo>
                    <a:lnTo>
                      <a:pt x="187200" y="417600"/>
                    </a:lnTo>
                    <a:close/>
                  </a:path>
                </a:pathLst>
              </a:custGeom>
              <a:solidFill>
                <a:srgbClr val="CBC2B6"/>
              </a:solidFill>
              <a:ln w="7200" cap="flat">
                <a:solidFill>
                  <a:srgbClr val="766F65"/>
                </a:solidFill>
              </a:ln>
              <a:effectLst/>
            </p:spPr>
          </p:sp>
          <p:sp>
            <p:nvSpPr>
              <p:cNvPr id="19" name="SCHEM_ellipse-0017"/>
              <p:cNvSpPr/>
              <p:nvPr/>
            </p:nvSpPr>
            <p:spPr>
              <a:xfrm>
                <a:off x="1295074" y="1140134"/>
                <a:ext cx="10802" cy="1080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0" name="SCHEM_ellipse-0018"/>
              <p:cNvSpPr/>
              <p:nvPr/>
            </p:nvSpPr>
            <p:spPr>
              <a:xfrm>
                <a:off x="1351109" y="1115590"/>
                <a:ext cx="12883" cy="1288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1" name="SCHEM_ellipse-0019"/>
              <p:cNvSpPr/>
              <p:nvPr/>
            </p:nvSpPr>
            <p:spPr>
              <a:xfrm>
                <a:off x="1228086" y="1193067"/>
                <a:ext cx="7288" cy="7288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2" name="SCHEM_ellipse-0020"/>
              <p:cNvSpPr/>
              <p:nvPr/>
            </p:nvSpPr>
            <p:spPr>
              <a:xfrm>
                <a:off x="1256435" y="1093160"/>
                <a:ext cx="8426" cy="842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3" name="SCHEM_ellipse-0021"/>
              <p:cNvSpPr/>
              <p:nvPr/>
            </p:nvSpPr>
            <p:spPr>
              <a:xfrm>
                <a:off x="1549181" y="1082098"/>
                <a:ext cx="14019" cy="1401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4" name="SCHEM_ellipse-0022"/>
              <p:cNvSpPr/>
              <p:nvPr/>
            </p:nvSpPr>
            <p:spPr>
              <a:xfrm>
                <a:off x="1650232" y="1247406"/>
                <a:ext cx="12966" cy="1296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5" name="SCHEM_ellipse-0023"/>
              <p:cNvSpPr/>
              <p:nvPr/>
            </p:nvSpPr>
            <p:spPr>
              <a:xfrm>
                <a:off x="1473502" y="1079941"/>
                <a:ext cx="9138" cy="9138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6" name="SCHEM_ellipse-0024"/>
              <p:cNvSpPr/>
              <p:nvPr/>
            </p:nvSpPr>
            <p:spPr>
              <a:xfrm>
                <a:off x="1258832" y="1064924"/>
                <a:ext cx="14007" cy="1400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7" name="SCHEM_ellipse-0025"/>
              <p:cNvSpPr/>
              <p:nvPr/>
            </p:nvSpPr>
            <p:spPr>
              <a:xfrm>
                <a:off x="1284896" y="1120161"/>
                <a:ext cx="12756" cy="1275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8" name="SCHEM_ellipse-0026"/>
              <p:cNvSpPr/>
              <p:nvPr/>
            </p:nvSpPr>
            <p:spPr>
              <a:xfrm>
                <a:off x="1080670" y="1301754"/>
                <a:ext cx="14393" cy="1439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9" name="SCHEM_ellipse-0027"/>
              <p:cNvSpPr/>
              <p:nvPr/>
            </p:nvSpPr>
            <p:spPr>
              <a:xfrm>
                <a:off x="1582991" y="1155127"/>
                <a:ext cx="9229" cy="922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0" name="SCHEM_ellipse-0028"/>
              <p:cNvSpPr/>
              <p:nvPr/>
            </p:nvSpPr>
            <p:spPr>
              <a:xfrm>
                <a:off x="1360386" y="1001550"/>
                <a:ext cx="13242" cy="1324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1" name="SCHEM_ellipse-0029"/>
              <p:cNvSpPr/>
              <p:nvPr/>
            </p:nvSpPr>
            <p:spPr>
              <a:xfrm>
                <a:off x="1614921" y="1141626"/>
                <a:ext cx="15138" cy="15138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2" name="SCHEM_ellipse-0030"/>
              <p:cNvSpPr/>
              <p:nvPr/>
            </p:nvSpPr>
            <p:spPr>
              <a:xfrm>
                <a:off x="1370950" y="1244386"/>
                <a:ext cx="11125" cy="1112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3" name="SCHEM_ellipse-0031"/>
              <p:cNvSpPr/>
              <p:nvPr/>
            </p:nvSpPr>
            <p:spPr>
              <a:xfrm>
                <a:off x="1465185" y="1148047"/>
                <a:ext cx="7397" cy="739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4" name="SCHEM_ellipse-0032"/>
              <p:cNvSpPr/>
              <p:nvPr/>
            </p:nvSpPr>
            <p:spPr>
              <a:xfrm>
                <a:off x="1324473" y="1102766"/>
                <a:ext cx="11859" cy="1185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5" name="SCHEM_ellipse-0033"/>
              <p:cNvSpPr/>
              <p:nvPr/>
            </p:nvSpPr>
            <p:spPr>
              <a:xfrm>
                <a:off x="1494932" y="1113904"/>
                <a:ext cx="9959" cy="995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6" name="SCHEM_ellipse-0034"/>
              <p:cNvSpPr/>
              <p:nvPr/>
            </p:nvSpPr>
            <p:spPr>
              <a:xfrm>
                <a:off x="1393666" y="1294974"/>
                <a:ext cx="13964" cy="13964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7" name="SCHEM_ellipse-0035"/>
              <p:cNvSpPr/>
              <p:nvPr/>
            </p:nvSpPr>
            <p:spPr>
              <a:xfrm>
                <a:off x="1492674" y="1252402"/>
                <a:ext cx="9168" cy="9168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8" name="SCHEM_ellipse-0036"/>
              <p:cNvSpPr/>
              <p:nvPr/>
            </p:nvSpPr>
            <p:spPr>
              <a:xfrm>
                <a:off x="1473198" y="1286600"/>
                <a:ext cx="8182" cy="818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9" name="SCHEM_ellipse-0037"/>
              <p:cNvSpPr/>
              <p:nvPr/>
            </p:nvSpPr>
            <p:spPr>
              <a:xfrm>
                <a:off x="1511375" y="1291013"/>
                <a:ext cx="13813" cy="1381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0" name="SCHEM_ellipse-0038"/>
              <p:cNvSpPr/>
              <p:nvPr/>
            </p:nvSpPr>
            <p:spPr>
              <a:xfrm>
                <a:off x="1156266" y="1193119"/>
                <a:ext cx="9407" cy="940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1" name="SCHEM_ellipse-0039"/>
              <p:cNvSpPr/>
              <p:nvPr/>
            </p:nvSpPr>
            <p:spPr>
              <a:xfrm>
                <a:off x="1406161" y="1286718"/>
                <a:ext cx="8099" cy="809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2" name="SCHEM_ellipse-0040"/>
              <p:cNvSpPr/>
              <p:nvPr/>
            </p:nvSpPr>
            <p:spPr>
              <a:xfrm>
                <a:off x="1153224" y="1111249"/>
                <a:ext cx="7533" cy="753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3" name="SCHEM_ellipse-0041"/>
              <p:cNvSpPr/>
              <p:nvPr/>
            </p:nvSpPr>
            <p:spPr>
              <a:xfrm>
                <a:off x="1363810" y="1222669"/>
                <a:ext cx="11181" cy="1118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4" name="SCHEM_ellipse-0042"/>
              <p:cNvSpPr/>
              <p:nvPr/>
            </p:nvSpPr>
            <p:spPr>
              <a:xfrm>
                <a:off x="1183521" y="1199768"/>
                <a:ext cx="15191" cy="1519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5" name="SCHEM_ellipse-0043"/>
              <p:cNvSpPr/>
              <p:nvPr/>
            </p:nvSpPr>
            <p:spPr>
              <a:xfrm>
                <a:off x="1390572" y="1016077"/>
                <a:ext cx="9066" cy="906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6" name="SCHEM_ellipse-0044"/>
              <p:cNvSpPr/>
              <p:nvPr/>
            </p:nvSpPr>
            <p:spPr>
              <a:xfrm>
                <a:off x="1332815" y="1018149"/>
                <a:ext cx="8201" cy="820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7" name="SCHEM_ellipse-0045"/>
              <p:cNvSpPr/>
              <p:nvPr/>
            </p:nvSpPr>
            <p:spPr>
              <a:xfrm>
                <a:off x="1344376" y="1260155"/>
                <a:ext cx="9252" cy="925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8" name="SCHEM_ellipse-0046"/>
              <p:cNvSpPr/>
              <p:nvPr/>
            </p:nvSpPr>
            <p:spPr>
              <a:xfrm>
                <a:off x="1644149" y="1271092"/>
                <a:ext cx="10940" cy="10940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9" name="SCHEM_ellipse-0047"/>
              <p:cNvSpPr/>
              <p:nvPr/>
            </p:nvSpPr>
            <p:spPr>
              <a:xfrm>
                <a:off x="1497995" y="1252553"/>
                <a:ext cx="14635" cy="1463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0" name="SCHEM_ellipse-0048"/>
              <p:cNvSpPr/>
              <p:nvPr/>
            </p:nvSpPr>
            <p:spPr>
              <a:xfrm>
                <a:off x="1194455" y="1123992"/>
                <a:ext cx="7390" cy="7390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1" name="SCHEM_ellipse-0049"/>
              <p:cNvSpPr/>
              <p:nvPr/>
            </p:nvSpPr>
            <p:spPr>
              <a:xfrm>
                <a:off x="1258264" y="1079955"/>
                <a:ext cx="8269" cy="826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2" name="SCHEM_ellipse-0050"/>
              <p:cNvSpPr/>
              <p:nvPr/>
            </p:nvSpPr>
            <p:spPr>
              <a:xfrm>
                <a:off x="1104508" y="1310445"/>
                <a:ext cx="9835" cy="983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3" name="SCHEM_ellipse-0051"/>
              <p:cNvSpPr/>
              <p:nvPr/>
            </p:nvSpPr>
            <p:spPr>
              <a:xfrm>
                <a:off x="1386880" y="1157742"/>
                <a:ext cx="11280" cy="11280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4" name="SCHEM_ellipse-0052"/>
              <p:cNvSpPr/>
              <p:nvPr/>
            </p:nvSpPr>
            <p:spPr>
              <a:xfrm>
                <a:off x="1447397" y="1147091"/>
                <a:ext cx="11436" cy="1143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5" name="SCHEM_ellipse-0053"/>
              <p:cNvSpPr/>
              <p:nvPr/>
            </p:nvSpPr>
            <p:spPr>
              <a:xfrm>
                <a:off x="1105167" y="1189388"/>
                <a:ext cx="12978" cy="12978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6" name="SCHEM_ellipse-0054"/>
              <p:cNvSpPr/>
              <p:nvPr/>
            </p:nvSpPr>
            <p:spPr>
              <a:xfrm>
                <a:off x="1537577" y="1084556"/>
                <a:ext cx="11195" cy="1119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7" name="SCHEM_ellipse-0055"/>
              <p:cNvSpPr/>
              <p:nvPr/>
            </p:nvSpPr>
            <p:spPr>
              <a:xfrm>
                <a:off x="1594477" y="1223647"/>
                <a:ext cx="7653" cy="765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8" name="SCHEM_ellipse-0056"/>
              <p:cNvSpPr/>
              <p:nvPr/>
            </p:nvSpPr>
            <p:spPr>
              <a:xfrm>
                <a:off x="1275935" y="1036518"/>
                <a:ext cx="13343" cy="1334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9" name="SCHEM_ellipse-0057"/>
              <p:cNvSpPr/>
              <p:nvPr/>
            </p:nvSpPr>
            <p:spPr>
              <a:xfrm>
                <a:off x="1323278" y="1111394"/>
                <a:ext cx="9126" cy="912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0" name="SCHEM_ellipse-0058"/>
              <p:cNvSpPr/>
              <p:nvPr/>
            </p:nvSpPr>
            <p:spPr>
              <a:xfrm>
                <a:off x="1356151" y="1217998"/>
                <a:ext cx="12652" cy="1265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1" name="SCHEM_ellipse-0059"/>
              <p:cNvSpPr/>
              <p:nvPr/>
            </p:nvSpPr>
            <p:spPr>
              <a:xfrm>
                <a:off x="1200522" y="1110991"/>
                <a:ext cx="12584" cy="12584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2" name="SCHEM_ellipse-0060"/>
              <p:cNvSpPr/>
              <p:nvPr/>
            </p:nvSpPr>
            <p:spPr>
              <a:xfrm>
                <a:off x="1091849" y="1281559"/>
                <a:ext cx="7398" cy="7398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3" name="SCHEM_ellipse-0061"/>
              <p:cNvSpPr/>
              <p:nvPr/>
            </p:nvSpPr>
            <p:spPr>
              <a:xfrm>
                <a:off x="1469203" y="1027457"/>
                <a:ext cx="15463" cy="1546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4" name="SCHEM_ellipse-0062"/>
              <p:cNvSpPr/>
              <p:nvPr/>
            </p:nvSpPr>
            <p:spPr>
              <a:xfrm>
                <a:off x="1515873" y="1054342"/>
                <a:ext cx="11551" cy="1155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5" name="SCHEM_ellipse-0063"/>
              <p:cNvSpPr/>
              <p:nvPr/>
            </p:nvSpPr>
            <p:spPr>
              <a:xfrm>
                <a:off x="1618049" y="1262809"/>
                <a:ext cx="12927" cy="1292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6" name="SCHEM_ellipse-0064"/>
              <p:cNvSpPr/>
              <p:nvPr/>
            </p:nvSpPr>
            <p:spPr>
              <a:xfrm>
                <a:off x="1478377" y="1224715"/>
                <a:ext cx="15110" cy="15110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7" name="SCHEM_ellipse-0065"/>
              <p:cNvSpPr/>
              <p:nvPr/>
            </p:nvSpPr>
            <p:spPr>
              <a:xfrm>
                <a:off x="1395363" y="1183104"/>
                <a:ext cx="14097" cy="1409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8" name="SCHEM_ellipse-0066"/>
              <p:cNvSpPr/>
              <p:nvPr/>
            </p:nvSpPr>
            <p:spPr>
              <a:xfrm>
                <a:off x="1394255" y="1052714"/>
                <a:ext cx="12216" cy="1221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9" name="SCHEM_ellipse-0067"/>
              <p:cNvSpPr/>
              <p:nvPr/>
            </p:nvSpPr>
            <p:spPr>
              <a:xfrm>
                <a:off x="1285481" y="1216104"/>
                <a:ext cx="13663" cy="1366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0" name="SCHEM_ellipse-0068"/>
              <p:cNvSpPr/>
              <p:nvPr/>
            </p:nvSpPr>
            <p:spPr>
              <a:xfrm>
                <a:off x="1066685" y="1288084"/>
                <a:ext cx="13511" cy="1351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1" name="SCHEM_ellipse-0069"/>
              <p:cNvSpPr/>
              <p:nvPr/>
            </p:nvSpPr>
            <p:spPr>
              <a:xfrm>
                <a:off x="1718561" y="1248225"/>
                <a:ext cx="15437" cy="1543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2" name="SCHEM_ellipse-0070"/>
              <p:cNvSpPr/>
              <p:nvPr/>
            </p:nvSpPr>
            <p:spPr>
              <a:xfrm>
                <a:off x="1464698" y="1233327"/>
                <a:ext cx="8216" cy="821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3" name="SCHEM_ellipse-0071"/>
              <p:cNvSpPr/>
              <p:nvPr/>
            </p:nvSpPr>
            <p:spPr>
              <a:xfrm>
                <a:off x="1190320" y="1126509"/>
                <a:ext cx="8773" cy="877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4" name="SCHEM_ellipse-0072"/>
              <p:cNvSpPr/>
              <p:nvPr/>
            </p:nvSpPr>
            <p:spPr>
              <a:xfrm>
                <a:off x="1506368" y="1237771"/>
                <a:ext cx="13876" cy="1387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5" name="SCHEM_ellipse-0073"/>
              <p:cNvSpPr/>
              <p:nvPr/>
            </p:nvSpPr>
            <p:spPr>
              <a:xfrm>
                <a:off x="1333855" y="1231651"/>
                <a:ext cx="8195" cy="819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6" name="SCHEM_ellipse-0074"/>
              <p:cNvSpPr/>
              <p:nvPr/>
            </p:nvSpPr>
            <p:spPr>
              <a:xfrm>
                <a:off x="1182764" y="1227258"/>
                <a:ext cx="10433" cy="1043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7" name="SCHEM_ellipse-0075"/>
              <p:cNvSpPr/>
              <p:nvPr/>
            </p:nvSpPr>
            <p:spPr>
              <a:xfrm>
                <a:off x="1106676" y="1296170"/>
                <a:ext cx="10752" cy="1075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8" name="SCHEM_ellipse-0076"/>
              <p:cNvSpPr/>
              <p:nvPr/>
            </p:nvSpPr>
            <p:spPr>
              <a:xfrm>
                <a:off x="1577627" y="1177600"/>
                <a:ext cx="10763" cy="1076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9" name="SCHEM_ellipse-0077"/>
              <p:cNvSpPr/>
              <p:nvPr/>
            </p:nvSpPr>
            <p:spPr>
              <a:xfrm>
                <a:off x="1544862" y="1165744"/>
                <a:ext cx="7576" cy="757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0" name="SCHEM_ellipse-0078"/>
              <p:cNvSpPr/>
              <p:nvPr/>
            </p:nvSpPr>
            <p:spPr>
              <a:xfrm>
                <a:off x="1487036" y="1116735"/>
                <a:ext cx="15515" cy="1551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1" name="SCHEM_ellipse-0079"/>
              <p:cNvSpPr/>
              <p:nvPr/>
            </p:nvSpPr>
            <p:spPr>
              <a:xfrm>
                <a:off x="1618765" y="1126971"/>
                <a:ext cx="15247" cy="1524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2" name="SCHEM_ellipse-0080"/>
              <p:cNvSpPr/>
              <p:nvPr/>
            </p:nvSpPr>
            <p:spPr>
              <a:xfrm>
                <a:off x="1149873" y="1302045"/>
                <a:ext cx="8649" cy="864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3" name="SCHEM_ellipse-0081"/>
              <p:cNvSpPr/>
              <p:nvPr/>
            </p:nvSpPr>
            <p:spPr>
              <a:xfrm>
                <a:off x="1440566" y="1181995"/>
                <a:ext cx="15591" cy="1559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4" name="SCHEM_ellipse-0082"/>
              <p:cNvSpPr/>
              <p:nvPr/>
            </p:nvSpPr>
            <p:spPr>
              <a:xfrm>
                <a:off x="1330474" y="1261542"/>
                <a:ext cx="7644" cy="7644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5" name="SCHEM_ellipse-0083"/>
              <p:cNvSpPr/>
              <p:nvPr/>
            </p:nvSpPr>
            <p:spPr>
              <a:xfrm>
                <a:off x="1654574" y="1152212"/>
                <a:ext cx="11842" cy="1184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6" name="SCHEM_ellipse-0084"/>
              <p:cNvSpPr/>
              <p:nvPr/>
            </p:nvSpPr>
            <p:spPr>
              <a:xfrm>
                <a:off x="1464796" y="1175778"/>
                <a:ext cx="9814" cy="9814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7" name="SCHEM_ellipse-0085"/>
              <p:cNvSpPr/>
              <p:nvPr/>
            </p:nvSpPr>
            <p:spPr>
              <a:xfrm>
                <a:off x="1151752" y="1123744"/>
                <a:ext cx="9644" cy="9644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8" name="SCHEM_ellipse-0086"/>
              <p:cNvSpPr/>
              <p:nvPr/>
            </p:nvSpPr>
            <p:spPr>
              <a:xfrm>
                <a:off x="1462869" y="1117743"/>
                <a:ext cx="7911" cy="791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9" name="SCHEM_ellipse-0087"/>
              <p:cNvSpPr/>
              <p:nvPr/>
            </p:nvSpPr>
            <p:spPr>
              <a:xfrm>
                <a:off x="1513878" y="1286082"/>
                <a:ext cx="12530" cy="12530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90" name="SCHEM_ellipse-0088"/>
              <p:cNvSpPr/>
              <p:nvPr/>
            </p:nvSpPr>
            <p:spPr>
              <a:xfrm>
                <a:off x="1250029" y="1079057"/>
                <a:ext cx="15475" cy="1547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91" name="SCHEM_ellipse-0089"/>
              <p:cNvSpPr/>
              <p:nvPr/>
            </p:nvSpPr>
            <p:spPr>
              <a:xfrm>
                <a:off x="1351930" y="1222544"/>
                <a:ext cx="7844" cy="7844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92" name="SCHEM_ellipse-0090"/>
              <p:cNvSpPr/>
              <p:nvPr/>
            </p:nvSpPr>
            <p:spPr>
              <a:xfrm>
                <a:off x="1598680" y="1277601"/>
                <a:ext cx="9453" cy="945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93" name="SCHEM_ellipse-0091"/>
              <p:cNvSpPr/>
              <p:nvPr/>
            </p:nvSpPr>
            <p:spPr>
              <a:xfrm>
                <a:off x="1256229" y="1194017"/>
                <a:ext cx="15433" cy="1543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94" name="SCHEM_ellipse-0092"/>
              <p:cNvSpPr/>
              <p:nvPr/>
            </p:nvSpPr>
            <p:spPr>
              <a:xfrm>
                <a:off x="1987200" y="1080000"/>
                <a:ext cx="705600" cy="165600"/>
              </a:xfrm>
              <a:prstGeom prst="ellipse">
                <a:avLst/>
              </a:prstGeom>
              <a:solidFill>
                <a:srgbClr val="B9D6E8"/>
              </a:solidFill>
              <a:ln w="7200" cap="flat">
                <a:solidFill>
                  <a:srgbClr val="657F91"/>
                </a:solidFill>
              </a:ln>
              <a:effectLst/>
            </p:spPr>
          </p:sp>
          <p:sp>
            <p:nvSpPr>
              <p:cNvPr id="95" name="SCHEM_ellipse-0093"/>
              <p:cNvSpPr/>
              <p:nvPr/>
            </p:nvSpPr>
            <p:spPr>
              <a:xfrm>
                <a:off x="2088000" y="1116000"/>
                <a:ext cx="468000" cy="72000"/>
              </a:xfrm>
              <a:prstGeom prst="ellipse">
                <a:avLst/>
              </a:prstGeom>
              <a:solidFill>
                <a:srgbClr val="D6E8F0"/>
              </a:solidFill>
              <a:ln w="9360" cap="flat">
                <a:noFill/>
              </a:ln>
              <a:effectLst/>
            </p:spPr>
          </p:sp>
        </p:grpSp>
        <p:sp>
          <p:nvSpPr>
            <p:cNvPr id="96" name="SCHEM_text-0094"/>
            <p:cNvSpPr txBox="1"/>
            <p:nvPr/>
          </p:nvSpPr>
          <p:spPr>
            <a:xfrm>
              <a:off x="871200" y="1065600"/>
              <a:ext cx="180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  <a:endParaRPr lang="en-US" sz="1417"/>
            </a:p>
          </p:txBody>
        </p:sp>
        <p:sp>
          <p:nvSpPr>
            <p:cNvPr id="97" name="SCHEM_text-0095"/>
            <p:cNvSpPr txBox="1"/>
            <p:nvPr/>
          </p:nvSpPr>
          <p:spPr>
            <a:xfrm>
              <a:off x="1800000" y="1065600"/>
              <a:ext cx="180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  <a:endParaRPr lang="en-US" sz="1417"/>
            </a:p>
          </p:txBody>
        </p:sp>
        <p:sp>
          <p:nvSpPr>
            <p:cNvPr id="98" name="SCHEM_text-0096"/>
            <p:cNvSpPr txBox="1"/>
            <p:nvPr/>
          </p:nvSpPr>
          <p:spPr>
            <a:xfrm>
              <a:off x="172800" y="1411200"/>
              <a:ext cx="684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Quicklime</a:t>
              </a:r>
              <a:endParaRPr lang="en-US" sz="1247"/>
            </a:p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(CaO)</a:t>
              </a:r>
              <a:endParaRPr lang="en-US" sz="1247"/>
            </a:p>
          </p:txBody>
        </p:sp>
        <p:sp>
          <p:nvSpPr>
            <p:cNvPr id="99" name="SCHEM_text-0097"/>
            <p:cNvSpPr txBox="1"/>
            <p:nvPr/>
          </p:nvSpPr>
          <p:spPr>
            <a:xfrm>
              <a:off x="1015200" y="1411200"/>
              <a:ext cx="7848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Siliceous</a:t>
              </a:r>
              <a:endParaRPr lang="en-US" sz="1247"/>
            </a:p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materials</a:t>
              </a:r>
              <a:endParaRPr lang="en-US" sz="1247"/>
            </a:p>
          </p:txBody>
        </p:sp>
        <p:sp>
          <p:nvSpPr>
            <p:cNvPr id="100" name="SCHEM_text-0098"/>
            <p:cNvSpPr txBox="1"/>
            <p:nvPr/>
          </p:nvSpPr>
          <p:spPr>
            <a:xfrm>
              <a:off x="2059200" y="1432800"/>
              <a:ext cx="648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Water</a:t>
              </a:r>
              <a:endParaRPr lang="en-US" sz="1247"/>
            </a:p>
          </p:txBody>
        </p:sp>
        <p:cxnSp>
          <p:nvCxnSpPr>
            <p:cNvPr id="101" name="SCHEM_line-0099"/>
            <p:cNvCxnSpPr/>
            <p:nvPr/>
          </p:nvCxnSpPr>
          <p:spPr>
            <a:xfrm>
              <a:off x="1389600" y="1814400"/>
              <a:ext cx="1" cy="2448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tailEnd type="triangle" w="med" len="med"/>
            </a:ln>
            <a:effectLst/>
          </p:spPr>
        </p:cxnSp>
        <p:grpSp>
          <p:nvGrpSpPr>
            <p:cNvPr id="102" name="SCHEM_fresh-mortar"/>
            <p:cNvGrpSpPr/>
            <p:nvPr/>
          </p:nvGrpSpPr>
          <p:grpSpPr>
            <a:xfrm>
              <a:off x="334623" y="2123748"/>
              <a:ext cx="2083988" cy="995118"/>
              <a:chOff x="334623" y="2123748"/>
              <a:chExt cx="2083988" cy="995118"/>
            </a:xfrm>
          </p:grpSpPr>
          <p:sp>
            <p:nvSpPr>
              <p:cNvPr id="103" name="SCHEM_path-0101"/>
              <p:cNvSpPr/>
              <p:nvPr/>
            </p:nvSpPr>
            <p:spPr>
              <a:xfrm>
                <a:off x="334623" y="2123748"/>
                <a:ext cx="2083988" cy="995118"/>
              </a:xfrm>
              <a:custGeom>
                <a:avLst/>
                <a:gdLst/>
                <a:ahLst/>
                <a:cxnLst/>
                <a:rect l="0" t="0" r="r" b="b"/>
                <a:pathLst>
                  <a:path w="2083988" h="995118">
                    <a:moveTo>
                      <a:pt x="2077290" y="482652"/>
                    </a:moveTo>
                    <a:cubicBezTo>
                      <a:pt x="2070592" y="549381"/>
                      <a:pt x="1909653" y="612286"/>
                      <a:pt x="1833053" y="677931"/>
                    </a:cubicBezTo>
                    <a:cubicBezTo>
                      <a:pt x="1756453" y="743576"/>
                      <a:pt x="1729234" y="825772"/>
                      <a:pt x="1617692" y="876523"/>
                    </a:cubicBezTo>
                    <a:cubicBezTo>
                      <a:pt x="1506150" y="927273"/>
                      <a:pt x="1325035" y="969751"/>
                      <a:pt x="1163803" y="982434"/>
                    </a:cubicBezTo>
                    <a:cubicBezTo>
                      <a:pt x="1002571" y="995118"/>
                      <a:pt x="797301" y="984288"/>
                      <a:pt x="650300" y="952624"/>
                    </a:cubicBezTo>
                    <a:cubicBezTo>
                      <a:pt x="503300" y="920960"/>
                      <a:pt x="384919" y="851633"/>
                      <a:pt x="281802" y="792451"/>
                    </a:cubicBezTo>
                    <a:cubicBezTo>
                      <a:pt x="178685" y="733270"/>
                      <a:pt x="63196" y="667159"/>
                      <a:pt x="31598" y="597537"/>
                    </a:cubicBezTo>
                    <a:cubicBezTo>
                      <a:pt x="0" y="527915"/>
                      <a:pt x="50901" y="445659"/>
                      <a:pt x="92215" y="374719"/>
                    </a:cubicBezTo>
                    <a:cubicBezTo>
                      <a:pt x="133529" y="303779"/>
                      <a:pt x="176226" y="219672"/>
                      <a:pt x="279481" y="171897"/>
                    </a:cubicBezTo>
                    <a:cubicBezTo>
                      <a:pt x="382737" y="124122"/>
                      <a:pt x="565125" y="116655"/>
                      <a:pt x="711750" y="88069"/>
                    </a:cubicBezTo>
                    <a:cubicBezTo>
                      <a:pt x="858375" y="59483"/>
                      <a:pt x="1008630" y="0"/>
                      <a:pt x="1159234" y="380"/>
                    </a:cubicBezTo>
                    <a:cubicBezTo>
                      <a:pt x="1309837" y="760"/>
                      <a:pt x="1496368" y="44151"/>
                      <a:pt x="1615369" y="90348"/>
                    </a:cubicBezTo>
                    <a:cubicBezTo>
                      <a:pt x="1734370" y="136545"/>
                      <a:pt x="1796253" y="212177"/>
                      <a:pt x="1873239" y="277561"/>
                    </a:cubicBezTo>
                    <a:cubicBezTo>
                      <a:pt x="1950226" y="342945"/>
                      <a:pt x="2083988" y="415924"/>
                      <a:pt x="2077290" y="482652"/>
                    </a:cubicBezTo>
                    <a:close/>
                  </a:path>
                </a:pathLst>
              </a:custGeom>
              <a:solidFill>
                <a:srgbClr val="E9E7E1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4" name="SCHEM_ellipse-0102"/>
              <p:cNvSpPr/>
              <p:nvPr/>
            </p:nvSpPr>
            <p:spPr>
              <a:xfrm>
                <a:off x="698596" y="2647517"/>
                <a:ext cx="122976" cy="12297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05" name="SCHEM_ellipse-0103"/>
              <p:cNvSpPr/>
              <p:nvPr/>
            </p:nvSpPr>
            <p:spPr>
              <a:xfrm>
                <a:off x="1299455" y="2395265"/>
                <a:ext cx="61250" cy="6125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06" name="SCHEM_ellipse-0104"/>
              <p:cNvSpPr/>
              <p:nvPr/>
            </p:nvSpPr>
            <p:spPr>
              <a:xfrm>
                <a:off x="1903399" y="2579872"/>
                <a:ext cx="46344" cy="463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07" name="SCHEM_ellipse-0105"/>
              <p:cNvSpPr/>
              <p:nvPr/>
            </p:nvSpPr>
            <p:spPr>
              <a:xfrm>
                <a:off x="1088832" y="2601418"/>
                <a:ext cx="90390" cy="903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08" name="SCHEM_ellipse-0106"/>
              <p:cNvSpPr/>
              <p:nvPr/>
            </p:nvSpPr>
            <p:spPr>
              <a:xfrm>
                <a:off x="1884870" y="2419483"/>
                <a:ext cx="32223" cy="3222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09" name="SCHEM_ellipse-0107"/>
              <p:cNvSpPr/>
              <p:nvPr/>
            </p:nvSpPr>
            <p:spPr>
              <a:xfrm>
                <a:off x="1775031" y="2793680"/>
                <a:ext cx="52088" cy="5208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0" name="SCHEM_ellipse-0108"/>
              <p:cNvSpPr/>
              <p:nvPr/>
            </p:nvSpPr>
            <p:spPr>
              <a:xfrm>
                <a:off x="1328804" y="2331253"/>
                <a:ext cx="69510" cy="6951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1" name="SCHEM_ellipse-0109"/>
              <p:cNvSpPr/>
              <p:nvPr/>
            </p:nvSpPr>
            <p:spPr>
              <a:xfrm>
                <a:off x="1098040" y="2358046"/>
                <a:ext cx="62540" cy="6254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2" name="SCHEM_ellipse-0110"/>
              <p:cNvSpPr/>
              <p:nvPr/>
            </p:nvSpPr>
            <p:spPr>
              <a:xfrm>
                <a:off x="1229879" y="2573601"/>
                <a:ext cx="106152" cy="10615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3" name="SCHEM_ellipse-0111"/>
              <p:cNvSpPr/>
              <p:nvPr/>
            </p:nvSpPr>
            <p:spPr>
              <a:xfrm>
                <a:off x="1329204" y="2397454"/>
                <a:ext cx="22085" cy="2208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4" name="SCHEM_ellipse-0112"/>
              <p:cNvSpPr/>
              <p:nvPr/>
            </p:nvSpPr>
            <p:spPr>
              <a:xfrm>
                <a:off x="2001558" y="2406852"/>
                <a:ext cx="60609" cy="606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5" name="SCHEM_ellipse-0113"/>
              <p:cNvSpPr/>
              <p:nvPr/>
            </p:nvSpPr>
            <p:spPr>
              <a:xfrm>
                <a:off x="2017643" y="2682696"/>
                <a:ext cx="130337" cy="13033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6" name="SCHEM_ellipse-0114"/>
              <p:cNvSpPr/>
              <p:nvPr/>
            </p:nvSpPr>
            <p:spPr>
              <a:xfrm>
                <a:off x="1501287" y="2719648"/>
                <a:ext cx="26509" cy="265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7" name="SCHEM_ellipse-0115"/>
              <p:cNvSpPr/>
              <p:nvPr/>
            </p:nvSpPr>
            <p:spPr>
              <a:xfrm>
                <a:off x="1309753" y="2775734"/>
                <a:ext cx="30584" cy="305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8" name="SCHEM_ellipse-0116"/>
              <p:cNvSpPr/>
              <p:nvPr/>
            </p:nvSpPr>
            <p:spPr>
              <a:xfrm>
                <a:off x="1147783" y="2458858"/>
                <a:ext cx="112396" cy="11239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9" name="SCHEM_ellipse-0117"/>
              <p:cNvSpPr/>
              <p:nvPr/>
            </p:nvSpPr>
            <p:spPr>
              <a:xfrm>
                <a:off x="1140655" y="2871218"/>
                <a:ext cx="40201" cy="4020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0" name="SCHEM_ellipse-0118"/>
              <p:cNvSpPr/>
              <p:nvPr/>
            </p:nvSpPr>
            <p:spPr>
              <a:xfrm>
                <a:off x="1301710" y="2531492"/>
                <a:ext cx="118105" cy="11810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1" name="SCHEM_ellipse-0119"/>
              <p:cNvSpPr/>
              <p:nvPr/>
            </p:nvSpPr>
            <p:spPr>
              <a:xfrm>
                <a:off x="1792428" y="2403624"/>
                <a:ext cx="51725" cy="517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2" name="SCHEM_ellipse-0120"/>
              <p:cNvSpPr/>
              <p:nvPr/>
            </p:nvSpPr>
            <p:spPr>
              <a:xfrm>
                <a:off x="1455727" y="2654116"/>
                <a:ext cx="29526" cy="2952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3" name="SCHEM_ellipse-0121"/>
              <p:cNvSpPr/>
              <p:nvPr/>
            </p:nvSpPr>
            <p:spPr>
              <a:xfrm>
                <a:off x="735305" y="2470779"/>
                <a:ext cx="68219" cy="6821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4" name="SCHEM_ellipse-0122"/>
              <p:cNvSpPr/>
              <p:nvPr/>
            </p:nvSpPr>
            <p:spPr>
              <a:xfrm>
                <a:off x="1037665" y="2601678"/>
                <a:ext cx="104061" cy="10406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5" name="SCHEM_ellipse-0123"/>
              <p:cNvSpPr/>
              <p:nvPr/>
            </p:nvSpPr>
            <p:spPr>
              <a:xfrm>
                <a:off x="1917373" y="2741350"/>
                <a:ext cx="39594" cy="3959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6" name="SCHEM_ellipse-0124"/>
              <p:cNvSpPr/>
              <p:nvPr/>
            </p:nvSpPr>
            <p:spPr>
              <a:xfrm>
                <a:off x="1667299" y="2667345"/>
                <a:ext cx="66748" cy="6674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7" name="SCHEM_ellipse-0125"/>
              <p:cNvSpPr/>
              <p:nvPr/>
            </p:nvSpPr>
            <p:spPr>
              <a:xfrm>
                <a:off x="1509433" y="2801778"/>
                <a:ext cx="45609" cy="456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8" name="SCHEM_ellipse-0126"/>
              <p:cNvSpPr/>
              <p:nvPr/>
            </p:nvSpPr>
            <p:spPr>
              <a:xfrm>
                <a:off x="1109427" y="2411742"/>
                <a:ext cx="65579" cy="6557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9" name="SCHEM_ellipse-0127"/>
              <p:cNvSpPr/>
              <p:nvPr/>
            </p:nvSpPr>
            <p:spPr>
              <a:xfrm>
                <a:off x="1899299" y="2736689"/>
                <a:ext cx="45208" cy="4520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0" name="SCHEM_ellipse-0128"/>
              <p:cNvSpPr/>
              <p:nvPr/>
            </p:nvSpPr>
            <p:spPr>
              <a:xfrm>
                <a:off x="907918" y="2449074"/>
                <a:ext cx="41910" cy="4191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1" name="SCHEM_ellipse-0129"/>
              <p:cNvSpPr/>
              <p:nvPr/>
            </p:nvSpPr>
            <p:spPr>
              <a:xfrm>
                <a:off x="1038646" y="2798558"/>
                <a:ext cx="71142" cy="7114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2" name="SCHEM_ellipse-0130"/>
              <p:cNvSpPr/>
              <p:nvPr/>
            </p:nvSpPr>
            <p:spPr>
              <a:xfrm>
                <a:off x="1797449" y="2566417"/>
                <a:ext cx="33235" cy="3323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3" name="SCHEM_ellipse-0131"/>
              <p:cNvSpPr/>
              <p:nvPr/>
            </p:nvSpPr>
            <p:spPr>
              <a:xfrm>
                <a:off x="814927" y="2767054"/>
                <a:ext cx="61384" cy="613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4" name="SCHEM_ellipse-0132"/>
              <p:cNvSpPr/>
              <p:nvPr/>
            </p:nvSpPr>
            <p:spPr>
              <a:xfrm>
                <a:off x="2038984" y="2635046"/>
                <a:ext cx="42248" cy="4224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5" name="SCHEM_ellipse-0133"/>
              <p:cNvSpPr/>
              <p:nvPr/>
            </p:nvSpPr>
            <p:spPr>
              <a:xfrm>
                <a:off x="1497157" y="2786304"/>
                <a:ext cx="36126" cy="3612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6" name="SCHEM_ellipse-0134"/>
              <p:cNvSpPr/>
              <p:nvPr/>
            </p:nvSpPr>
            <p:spPr>
              <a:xfrm>
                <a:off x="1364971" y="2396401"/>
                <a:ext cx="130652" cy="13065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7" name="SCHEM_ellipse-0135"/>
              <p:cNvSpPr/>
              <p:nvPr/>
            </p:nvSpPr>
            <p:spPr>
              <a:xfrm>
                <a:off x="1505829" y="2649414"/>
                <a:ext cx="64311" cy="6431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8" name="SCHEM_ellipse-0136"/>
              <p:cNvSpPr/>
              <p:nvPr/>
            </p:nvSpPr>
            <p:spPr>
              <a:xfrm>
                <a:off x="1466145" y="2395619"/>
                <a:ext cx="109763" cy="10976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9" name="SCHEM_ellipse-0137"/>
              <p:cNvSpPr/>
              <p:nvPr/>
            </p:nvSpPr>
            <p:spPr>
              <a:xfrm>
                <a:off x="1203395" y="2312778"/>
                <a:ext cx="136359" cy="1363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0" name="SCHEM_ellipse-0138"/>
              <p:cNvSpPr/>
              <p:nvPr/>
            </p:nvSpPr>
            <p:spPr>
              <a:xfrm>
                <a:off x="1625777" y="2348371"/>
                <a:ext cx="48084" cy="480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1" name="SCHEM_ellipse-0139"/>
              <p:cNvSpPr/>
              <p:nvPr/>
            </p:nvSpPr>
            <p:spPr>
              <a:xfrm>
                <a:off x="1033396" y="2576163"/>
                <a:ext cx="31544" cy="315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2" name="SCHEM_ellipse-0140"/>
              <p:cNvSpPr/>
              <p:nvPr/>
            </p:nvSpPr>
            <p:spPr>
              <a:xfrm>
                <a:off x="742264" y="2386852"/>
                <a:ext cx="39746" cy="3974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3" name="SCHEM_ellipse-0141"/>
              <p:cNvSpPr/>
              <p:nvPr/>
            </p:nvSpPr>
            <p:spPr>
              <a:xfrm>
                <a:off x="1704449" y="2580971"/>
                <a:ext cx="89060" cy="8906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4" name="SCHEM_ellipse-0142"/>
              <p:cNvSpPr/>
              <p:nvPr/>
            </p:nvSpPr>
            <p:spPr>
              <a:xfrm>
                <a:off x="1720465" y="2788876"/>
                <a:ext cx="60297" cy="6029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5" name="SCHEM_ellipse-0143"/>
              <p:cNvSpPr/>
              <p:nvPr/>
            </p:nvSpPr>
            <p:spPr>
              <a:xfrm>
                <a:off x="1272583" y="2304862"/>
                <a:ext cx="59762" cy="5976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6" name="SCHEM_path-0144"/>
              <p:cNvSpPr/>
              <p:nvPr/>
            </p:nvSpPr>
            <p:spPr>
              <a:xfrm>
                <a:off x="515953" y="2405836"/>
                <a:ext cx="186452" cy="150813"/>
              </a:xfrm>
              <a:custGeom>
                <a:avLst/>
                <a:gdLst/>
                <a:ahLst/>
                <a:cxnLst/>
                <a:rect l="0" t="0" r="r" b="b"/>
                <a:pathLst>
                  <a:path w="186452" h="150813">
                    <a:moveTo>
                      <a:pt x="186354" y="78164"/>
                    </a:moveTo>
                    <a:cubicBezTo>
                      <a:pt x="186452" y="93401"/>
                      <a:pt x="185105" y="113714"/>
                      <a:pt x="172605" y="124050"/>
                    </a:cubicBezTo>
                    <a:cubicBezTo>
                      <a:pt x="160106" y="134386"/>
                      <a:pt x="133005" y="136832"/>
                      <a:pt x="111357" y="140181"/>
                    </a:cubicBezTo>
                    <a:cubicBezTo>
                      <a:pt x="89708" y="143531"/>
                      <a:pt x="59382" y="150813"/>
                      <a:pt x="42714" y="144146"/>
                    </a:cubicBezTo>
                    <a:cubicBezTo>
                      <a:pt x="26047" y="137480"/>
                      <a:pt x="17554" y="115105"/>
                      <a:pt x="11350" y="100184"/>
                    </a:cubicBezTo>
                    <a:cubicBezTo>
                      <a:pt x="5145" y="85263"/>
                      <a:pt x="0" y="68967"/>
                      <a:pt x="5486" y="54620"/>
                    </a:cubicBezTo>
                    <a:cubicBezTo>
                      <a:pt x="10972" y="40273"/>
                      <a:pt x="26085" y="22692"/>
                      <a:pt x="44267" y="14103"/>
                    </a:cubicBezTo>
                    <a:cubicBezTo>
                      <a:pt x="62449" y="5514"/>
                      <a:pt x="93288" y="0"/>
                      <a:pt x="114580" y="3088"/>
                    </a:cubicBezTo>
                    <a:cubicBezTo>
                      <a:pt x="135873" y="6175"/>
                      <a:pt x="160060" y="20115"/>
                      <a:pt x="172022" y="32628"/>
                    </a:cubicBezTo>
                    <a:cubicBezTo>
                      <a:pt x="183984" y="45141"/>
                      <a:pt x="186257" y="62927"/>
                      <a:pt x="186354" y="78164"/>
                    </a:cubicBezTo>
                    <a:close/>
                  </a:path>
                </a:pathLst>
              </a:custGeom>
              <a:solidFill>
                <a:srgbClr val="EBCBC0"/>
              </a:solidFill>
              <a:ln w="4320" cap="flat">
                <a:solidFill>
                  <a:srgbClr val="CCB0A5"/>
                </a:solidFill>
              </a:ln>
              <a:effectLst/>
            </p:spPr>
          </p:sp>
          <p:sp>
            <p:nvSpPr>
              <p:cNvPr id="147" name="SCHEM_path-0145"/>
              <p:cNvSpPr/>
              <p:nvPr/>
            </p:nvSpPr>
            <p:spPr>
              <a:xfrm>
                <a:off x="992440" y="2310068"/>
                <a:ext cx="270702" cy="166565"/>
              </a:xfrm>
              <a:custGeom>
                <a:avLst/>
                <a:gdLst/>
                <a:ahLst/>
                <a:cxnLst/>
                <a:rect l="0" t="0" r="r" b="b"/>
                <a:pathLst>
                  <a:path w="270702" h="166565">
                    <a:moveTo>
                      <a:pt x="269315" y="87532"/>
                    </a:moveTo>
                    <a:cubicBezTo>
                      <a:pt x="270702" y="106354"/>
                      <a:pt x="266391" y="133232"/>
                      <a:pt x="247078" y="146093"/>
                    </a:cubicBezTo>
                    <a:cubicBezTo>
                      <a:pt x="227765" y="158954"/>
                      <a:pt x="184011" y="162833"/>
                      <a:pt x="153438" y="164699"/>
                    </a:cubicBezTo>
                    <a:cubicBezTo>
                      <a:pt x="122864" y="166565"/>
                      <a:pt x="87744" y="165710"/>
                      <a:pt x="63637" y="157288"/>
                    </a:cubicBezTo>
                    <a:cubicBezTo>
                      <a:pt x="39531" y="148866"/>
                      <a:pt x="17599" y="130157"/>
                      <a:pt x="8799" y="114166"/>
                    </a:cubicBezTo>
                    <a:cubicBezTo>
                      <a:pt x="0" y="98175"/>
                      <a:pt x="3248" y="79016"/>
                      <a:pt x="10841" y="61344"/>
                    </a:cubicBezTo>
                    <a:cubicBezTo>
                      <a:pt x="18434" y="43671"/>
                      <a:pt x="30699" y="16265"/>
                      <a:pt x="54358" y="8133"/>
                    </a:cubicBezTo>
                    <a:cubicBezTo>
                      <a:pt x="78017" y="0"/>
                      <a:pt x="122063" y="8377"/>
                      <a:pt x="152796" y="12548"/>
                    </a:cubicBezTo>
                    <a:cubicBezTo>
                      <a:pt x="183530" y="16719"/>
                      <a:pt x="219339" y="20662"/>
                      <a:pt x="238759" y="33159"/>
                    </a:cubicBezTo>
                    <a:cubicBezTo>
                      <a:pt x="258179" y="45656"/>
                      <a:pt x="267929" y="68710"/>
                      <a:pt x="269315" y="87532"/>
                    </a:cubicBezTo>
                    <a:close/>
                  </a:path>
                </a:pathLst>
              </a:custGeom>
              <a:solidFill>
                <a:srgbClr val="EBCBC0"/>
              </a:solidFill>
              <a:ln w="4320" cap="flat">
                <a:solidFill>
                  <a:srgbClr val="CCB0A5"/>
                </a:solidFill>
              </a:ln>
              <a:effectLst/>
            </p:spPr>
          </p:sp>
          <p:sp>
            <p:nvSpPr>
              <p:cNvPr id="148" name="SCHEM_path-0146"/>
              <p:cNvSpPr/>
              <p:nvPr/>
            </p:nvSpPr>
            <p:spPr>
              <a:xfrm>
                <a:off x="1849484" y="2391572"/>
                <a:ext cx="232699" cy="195191"/>
              </a:xfrm>
              <a:custGeom>
                <a:avLst/>
                <a:gdLst/>
                <a:ahLst/>
                <a:cxnLst/>
                <a:rect l="0" t="0" r="r" b="b"/>
                <a:pathLst>
                  <a:path w="232699" h="195191">
                    <a:moveTo>
                      <a:pt x="231424" y="106828"/>
                    </a:moveTo>
                    <a:cubicBezTo>
                      <a:pt x="232699" y="126140"/>
                      <a:pt x="225955" y="153176"/>
                      <a:pt x="210984" y="167408"/>
                    </a:cubicBezTo>
                    <a:cubicBezTo>
                      <a:pt x="196013" y="181640"/>
                      <a:pt x="165373" y="189246"/>
                      <a:pt x="141599" y="192218"/>
                    </a:cubicBezTo>
                    <a:cubicBezTo>
                      <a:pt x="117826" y="195191"/>
                      <a:pt x="90594" y="193718"/>
                      <a:pt x="68342" y="185242"/>
                    </a:cubicBezTo>
                    <a:cubicBezTo>
                      <a:pt x="46090" y="176767"/>
                      <a:pt x="16170" y="159606"/>
                      <a:pt x="8085" y="141367"/>
                    </a:cubicBezTo>
                    <a:cubicBezTo>
                      <a:pt x="0" y="123128"/>
                      <a:pt x="11110" y="96519"/>
                      <a:pt x="19832" y="75809"/>
                    </a:cubicBezTo>
                    <a:cubicBezTo>
                      <a:pt x="28555" y="55100"/>
                      <a:pt x="39564" y="28789"/>
                      <a:pt x="60418" y="17110"/>
                    </a:cubicBezTo>
                    <a:cubicBezTo>
                      <a:pt x="81273" y="5432"/>
                      <a:pt x="121142" y="0"/>
                      <a:pt x="144961" y="5738"/>
                    </a:cubicBezTo>
                    <a:cubicBezTo>
                      <a:pt x="168779" y="11475"/>
                      <a:pt x="188920" y="34688"/>
                      <a:pt x="203330" y="51536"/>
                    </a:cubicBezTo>
                    <a:cubicBezTo>
                      <a:pt x="217741" y="68384"/>
                      <a:pt x="230148" y="87516"/>
                      <a:pt x="231424" y="106828"/>
                    </a:cubicBezTo>
                    <a:close/>
                  </a:path>
                </a:pathLst>
              </a:custGeom>
              <a:solidFill>
                <a:srgbClr val="EBCBC0"/>
              </a:solidFill>
              <a:ln w="4320" cap="flat">
                <a:solidFill>
                  <a:srgbClr val="CCB0A5"/>
                </a:solidFill>
              </a:ln>
              <a:effectLst/>
            </p:spPr>
          </p:sp>
          <p:sp>
            <p:nvSpPr>
              <p:cNvPr id="149" name="SCHEM_path-0147"/>
              <p:cNvSpPr/>
              <p:nvPr/>
            </p:nvSpPr>
            <p:spPr>
              <a:xfrm>
                <a:off x="1496520" y="2628096"/>
                <a:ext cx="209842" cy="226194"/>
              </a:xfrm>
              <a:custGeom>
                <a:avLst/>
                <a:gdLst/>
                <a:ahLst/>
                <a:cxnLst/>
                <a:rect l="0" t="0" r="r" b="b"/>
                <a:pathLst>
                  <a:path w="209842" h="226194">
                    <a:moveTo>
                      <a:pt x="209129" y="115104"/>
                    </a:moveTo>
                    <a:cubicBezTo>
                      <a:pt x="208417" y="139218"/>
                      <a:pt x="201508" y="167759"/>
                      <a:pt x="187772" y="185536"/>
                    </a:cubicBezTo>
                    <a:cubicBezTo>
                      <a:pt x="174035" y="203312"/>
                      <a:pt x="148579" y="217330"/>
                      <a:pt x="126711" y="221762"/>
                    </a:cubicBezTo>
                    <a:cubicBezTo>
                      <a:pt x="104843" y="226194"/>
                      <a:pt x="75834" y="223565"/>
                      <a:pt x="56563" y="212129"/>
                    </a:cubicBezTo>
                    <a:cubicBezTo>
                      <a:pt x="37293" y="200694"/>
                      <a:pt x="19337" y="175918"/>
                      <a:pt x="11089" y="153147"/>
                    </a:cubicBezTo>
                    <a:cubicBezTo>
                      <a:pt x="2841" y="130376"/>
                      <a:pt x="0" y="98943"/>
                      <a:pt x="7076" y="75502"/>
                    </a:cubicBezTo>
                    <a:cubicBezTo>
                      <a:pt x="14152" y="52061"/>
                      <a:pt x="33503" y="24298"/>
                      <a:pt x="53545" y="12502"/>
                    </a:cubicBezTo>
                    <a:cubicBezTo>
                      <a:pt x="73587" y="705"/>
                      <a:pt x="104243" y="0"/>
                      <a:pt x="127326" y="4724"/>
                    </a:cubicBezTo>
                    <a:cubicBezTo>
                      <a:pt x="150410" y="9448"/>
                      <a:pt x="178411" y="22450"/>
                      <a:pt x="192045" y="40847"/>
                    </a:cubicBezTo>
                    <a:cubicBezTo>
                      <a:pt x="205679" y="59243"/>
                      <a:pt x="209842" y="90989"/>
                      <a:pt x="209129" y="115104"/>
                    </a:cubicBezTo>
                    <a:close/>
                  </a:path>
                </a:pathLst>
              </a:custGeom>
              <a:solidFill>
                <a:srgbClr val="EBCBC0"/>
              </a:solidFill>
              <a:ln w="4320" cap="flat">
                <a:solidFill>
                  <a:srgbClr val="CCB0A5"/>
                </a:solidFill>
              </a:ln>
              <a:effectLst/>
            </p:spPr>
          </p:sp>
          <p:sp>
            <p:nvSpPr>
              <p:cNvPr id="150" name="SCHEM_path-0148"/>
              <p:cNvSpPr/>
              <p:nvPr/>
            </p:nvSpPr>
            <p:spPr>
              <a:xfrm>
                <a:off x="815988" y="2736774"/>
                <a:ext cx="258322" cy="157038"/>
              </a:xfrm>
              <a:custGeom>
                <a:avLst/>
                <a:gdLst/>
                <a:ahLst/>
                <a:cxnLst/>
                <a:rect l="0" t="0" r="r" b="b"/>
                <a:pathLst>
                  <a:path w="258322" h="157038">
                    <a:moveTo>
                      <a:pt x="256866" y="78426"/>
                    </a:moveTo>
                    <a:cubicBezTo>
                      <a:pt x="258322" y="92307"/>
                      <a:pt x="244556" y="109620"/>
                      <a:pt x="228109" y="122105"/>
                    </a:cubicBezTo>
                    <a:cubicBezTo>
                      <a:pt x="211663" y="134590"/>
                      <a:pt x="185215" y="149637"/>
                      <a:pt x="158188" y="153337"/>
                    </a:cubicBezTo>
                    <a:cubicBezTo>
                      <a:pt x="131161" y="157038"/>
                      <a:pt x="88596" y="153013"/>
                      <a:pt x="65947" y="144307"/>
                    </a:cubicBezTo>
                    <a:cubicBezTo>
                      <a:pt x="43298" y="135600"/>
                      <a:pt x="32097" y="116367"/>
                      <a:pt x="22293" y="101097"/>
                    </a:cubicBezTo>
                    <a:cubicBezTo>
                      <a:pt x="12490" y="85827"/>
                      <a:pt x="0" y="67591"/>
                      <a:pt x="7126" y="52688"/>
                    </a:cubicBezTo>
                    <a:cubicBezTo>
                      <a:pt x="14252" y="37786"/>
                      <a:pt x="39927" y="19710"/>
                      <a:pt x="65050" y="11683"/>
                    </a:cubicBezTo>
                    <a:cubicBezTo>
                      <a:pt x="90174" y="3655"/>
                      <a:pt x="132148" y="0"/>
                      <a:pt x="157868" y="4523"/>
                    </a:cubicBezTo>
                    <a:cubicBezTo>
                      <a:pt x="183587" y="9046"/>
                      <a:pt x="202868" y="26505"/>
                      <a:pt x="219368" y="38822"/>
                    </a:cubicBezTo>
                    <a:cubicBezTo>
                      <a:pt x="235868" y="51140"/>
                      <a:pt x="255409" y="64546"/>
                      <a:pt x="256866" y="78426"/>
                    </a:cubicBezTo>
                    <a:close/>
                  </a:path>
                </a:pathLst>
              </a:custGeom>
              <a:solidFill>
                <a:srgbClr val="EBCBC0"/>
              </a:solidFill>
              <a:ln w="4320" cap="flat">
                <a:solidFill>
                  <a:srgbClr val="CCB0A5"/>
                </a:solidFill>
              </a:ln>
              <a:effectLst/>
            </p:spPr>
          </p:sp>
          <p:sp>
            <p:nvSpPr>
              <p:cNvPr id="151" name="SCHEM_path-0149"/>
              <p:cNvSpPr/>
              <p:nvPr/>
            </p:nvSpPr>
            <p:spPr>
              <a:xfrm>
                <a:off x="615473" y="2654701"/>
                <a:ext cx="135890" cy="146085"/>
              </a:xfrm>
              <a:custGeom>
                <a:avLst/>
                <a:gdLst/>
                <a:ahLst/>
                <a:cxnLst/>
                <a:rect l="0" t="0" r="r" b="b"/>
                <a:pathLst>
                  <a:path w="135890" h="146085">
                    <a:moveTo>
                      <a:pt x="134937" y="66899"/>
                    </a:moveTo>
                    <a:cubicBezTo>
                      <a:pt x="135890" y="80947"/>
                      <a:pt x="125631" y="98952"/>
                      <a:pt x="116587" y="111707"/>
                    </a:cubicBezTo>
                    <a:cubicBezTo>
                      <a:pt x="107543" y="124463"/>
                      <a:pt x="93942" y="140777"/>
                      <a:pt x="80672" y="143431"/>
                    </a:cubicBezTo>
                    <a:cubicBezTo>
                      <a:pt x="67402" y="146085"/>
                      <a:pt x="49803" y="136017"/>
                      <a:pt x="36969" y="127633"/>
                    </a:cubicBezTo>
                    <a:cubicBezTo>
                      <a:pt x="24134" y="119250"/>
                      <a:pt x="7332" y="106862"/>
                      <a:pt x="3666" y="93130"/>
                    </a:cubicBezTo>
                    <a:cubicBezTo>
                      <a:pt x="0" y="79398"/>
                      <a:pt x="9365" y="59627"/>
                      <a:pt x="14972" y="45241"/>
                    </a:cubicBezTo>
                    <a:cubicBezTo>
                      <a:pt x="20578" y="30855"/>
                      <a:pt x="26726" y="13629"/>
                      <a:pt x="37306" y="6814"/>
                    </a:cubicBezTo>
                    <a:cubicBezTo>
                      <a:pt x="47886" y="0"/>
                      <a:pt x="66192" y="919"/>
                      <a:pt x="78453" y="4354"/>
                    </a:cubicBezTo>
                    <a:cubicBezTo>
                      <a:pt x="90713" y="7789"/>
                      <a:pt x="101454" y="17000"/>
                      <a:pt x="110868" y="27424"/>
                    </a:cubicBezTo>
                    <a:cubicBezTo>
                      <a:pt x="120282" y="37848"/>
                      <a:pt x="133983" y="52852"/>
                      <a:pt x="134937" y="66899"/>
                    </a:cubicBezTo>
                    <a:close/>
                  </a:path>
                </a:pathLst>
              </a:custGeom>
              <a:solidFill>
                <a:srgbClr val="EBCBC0"/>
              </a:solidFill>
              <a:ln w="4320" cap="flat">
                <a:solidFill>
                  <a:srgbClr val="CCB0A5"/>
                </a:solidFill>
              </a:ln>
              <a:effectLst/>
            </p:spPr>
          </p:sp>
        </p:grpSp>
        <p:sp>
          <p:nvSpPr>
            <p:cNvPr id="152" name="SCHEM_text-0150"/>
            <p:cNvSpPr txBox="1"/>
            <p:nvPr/>
          </p:nvSpPr>
          <p:spPr>
            <a:xfrm>
              <a:off x="338400" y="3175200"/>
              <a:ext cx="23976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Fresh mortar with lime clasts</a:t>
              </a:r>
              <a:endParaRPr lang="en-US" sz="1304"/>
            </a:p>
          </p:txBody>
        </p:sp>
        <p:grpSp>
          <p:nvGrpSpPr>
            <p:cNvPr id="153" name="SCHEM_ancient-mortar-section"/>
            <p:cNvGrpSpPr/>
            <p:nvPr/>
          </p:nvGrpSpPr>
          <p:grpSpPr>
            <a:xfrm>
              <a:off x="274927" y="4151588"/>
              <a:ext cx="1571998" cy="1123760"/>
              <a:chOff x="274927" y="4151588"/>
              <a:chExt cx="1571998" cy="1123760"/>
            </a:xfrm>
          </p:grpSpPr>
          <p:sp>
            <p:nvSpPr>
              <p:cNvPr id="154" name="SCHEM_path-0152"/>
              <p:cNvSpPr/>
              <p:nvPr/>
            </p:nvSpPr>
            <p:spPr>
              <a:xfrm>
                <a:off x="274927" y="4151588"/>
                <a:ext cx="1571998" cy="1123760"/>
              </a:xfrm>
              <a:custGeom>
                <a:avLst/>
                <a:gdLst/>
                <a:ahLst/>
                <a:cxnLst/>
                <a:rect l="0" t="0" r="r" b="b"/>
                <a:pathLst>
                  <a:path w="1571998" h="1123760">
                    <a:moveTo>
                      <a:pt x="1536064" y="542812"/>
                    </a:moveTo>
                    <a:cubicBezTo>
                      <a:pt x="1534905" y="623021"/>
                      <a:pt x="1551266" y="706940"/>
                      <a:pt x="1515982" y="782386"/>
                    </a:cubicBezTo>
                    <a:cubicBezTo>
                      <a:pt x="1480699" y="857832"/>
                      <a:pt x="1416618" y="952775"/>
                      <a:pt x="1324362" y="995488"/>
                    </a:cubicBezTo>
                    <a:cubicBezTo>
                      <a:pt x="1232105" y="1038201"/>
                      <a:pt x="1077123" y="1017359"/>
                      <a:pt x="962443" y="1038664"/>
                    </a:cubicBezTo>
                    <a:cubicBezTo>
                      <a:pt x="847763" y="1059969"/>
                      <a:pt x="746145" y="1122880"/>
                      <a:pt x="636283" y="1123320"/>
                    </a:cubicBezTo>
                    <a:cubicBezTo>
                      <a:pt x="526422" y="1123760"/>
                      <a:pt x="401196" y="1082215"/>
                      <a:pt x="303274" y="1041304"/>
                    </a:cubicBezTo>
                    <a:cubicBezTo>
                      <a:pt x="205352" y="1000393"/>
                      <a:pt x="97502" y="943681"/>
                      <a:pt x="48751" y="877852"/>
                    </a:cubicBezTo>
                    <a:cubicBezTo>
                      <a:pt x="0" y="812023"/>
                      <a:pt x="14492" y="719045"/>
                      <a:pt x="10768" y="646329"/>
                    </a:cubicBezTo>
                    <a:cubicBezTo>
                      <a:pt x="7043" y="573614"/>
                      <a:pt x="12895" y="511098"/>
                      <a:pt x="26405" y="441558"/>
                    </a:cubicBezTo>
                    <a:cubicBezTo>
                      <a:pt x="39916" y="372018"/>
                      <a:pt x="46363" y="296091"/>
                      <a:pt x="91832" y="229088"/>
                    </a:cubicBezTo>
                    <a:cubicBezTo>
                      <a:pt x="137302" y="162085"/>
                      <a:pt x="206762" y="72866"/>
                      <a:pt x="299224" y="39542"/>
                    </a:cubicBezTo>
                    <a:cubicBezTo>
                      <a:pt x="391685" y="6218"/>
                      <a:pt x="533965" y="32303"/>
                      <a:pt x="646599" y="29144"/>
                    </a:cubicBezTo>
                    <a:cubicBezTo>
                      <a:pt x="759233" y="25984"/>
                      <a:pt x="875842" y="0"/>
                      <a:pt x="975026" y="20585"/>
                    </a:cubicBezTo>
                    <a:cubicBezTo>
                      <a:pt x="1074211" y="41170"/>
                      <a:pt x="1150386" y="105898"/>
                      <a:pt x="1241705" y="152655"/>
                    </a:cubicBezTo>
                    <a:cubicBezTo>
                      <a:pt x="1333023" y="199412"/>
                      <a:pt x="1473878" y="236103"/>
                      <a:pt x="1522938" y="301129"/>
                    </a:cubicBezTo>
                    <a:cubicBezTo>
                      <a:pt x="1571998" y="366155"/>
                      <a:pt x="1537224" y="462602"/>
                      <a:pt x="1536064" y="542812"/>
                    </a:cubicBezTo>
                    <a:close/>
                  </a:path>
                </a:pathLst>
              </a:custGeom>
              <a:solidFill>
                <a:srgbClr val="C5C8AF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55" name="SCHEM_ellipse-0153"/>
              <p:cNvSpPr/>
              <p:nvPr/>
            </p:nvSpPr>
            <p:spPr>
              <a:xfrm>
                <a:off x="814342" y="486570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56" name="SCHEM_ellipse-0154"/>
              <p:cNvSpPr/>
              <p:nvPr/>
            </p:nvSpPr>
            <p:spPr>
              <a:xfrm>
                <a:off x="572016" y="494161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57" name="SCHEM_ellipse-0155"/>
              <p:cNvSpPr/>
              <p:nvPr/>
            </p:nvSpPr>
            <p:spPr>
              <a:xfrm>
                <a:off x="445009" y="492417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58" name="SCHEM_ellipse-0156"/>
              <p:cNvSpPr/>
              <p:nvPr/>
            </p:nvSpPr>
            <p:spPr>
              <a:xfrm>
                <a:off x="1219628" y="430222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59" name="SCHEM_ellipse-0157"/>
              <p:cNvSpPr/>
              <p:nvPr/>
            </p:nvSpPr>
            <p:spPr>
              <a:xfrm>
                <a:off x="1029264" y="462260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0" name="SCHEM_ellipse-0158"/>
              <p:cNvSpPr/>
              <p:nvPr/>
            </p:nvSpPr>
            <p:spPr>
              <a:xfrm>
                <a:off x="1637414" y="4576473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1" name="SCHEM_ellipse-0159"/>
              <p:cNvSpPr/>
              <p:nvPr/>
            </p:nvSpPr>
            <p:spPr>
              <a:xfrm>
                <a:off x="521899" y="450168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2" name="SCHEM_ellipse-0160"/>
              <p:cNvSpPr/>
              <p:nvPr/>
            </p:nvSpPr>
            <p:spPr>
              <a:xfrm>
                <a:off x="539708" y="438494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3" name="SCHEM_ellipse-0161"/>
              <p:cNvSpPr/>
              <p:nvPr/>
            </p:nvSpPr>
            <p:spPr>
              <a:xfrm>
                <a:off x="1103359" y="472518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4" name="SCHEM_ellipse-0162"/>
              <p:cNvSpPr/>
              <p:nvPr/>
            </p:nvSpPr>
            <p:spPr>
              <a:xfrm>
                <a:off x="758163" y="437149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5" name="SCHEM_ellipse-0163"/>
              <p:cNvSpPr/>
              <p:nvPr/>
            </p:nvSpPr>
            <p:spPr>
              <a:xfrm>
                <a:off x="1529902" y="483202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6" name="SCHEM_ellipse-0164"/>
              <p:cNvSpPr/>
              <p:nvPr/>
            </p:nvSpPr>
            <p:spPr>
              <a:xfrm>
                <a:off x="551787" y="4981773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7" name="SCHEM_ellipse-0165"/>
              <p:cNvSpPr/>
              <p:nvPr/>
            </p:nvSpPr>
            <p:spPr>
              <a:xfrm>
                <a:off x="1321431" y="436114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8" name="SCHEM_ellipse-0166"/>
              <p:cNvSpPr/>
              <p:nvPr/>
            </p:nvSpPr>
            <p:spPr>
              <a:xfrm>
                <a:off x="1187604" y="438727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9" name="SCHEM_ellipse-0167"/>
              <p:cNvSpPr/>
              <p:nvPr/>
            </p:nvSpPr>
            <p:spPr>
              <a:xfrm>
                <a:off x="726319" y="4569493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0" name="SCHEM_ellipse-0168"/>
              <p:cNvSpPr/>
              <p:nvPr/>
            </p:nvSpPr>
            <p:spPr>
              <a:xfrm>
                <a:off x="1196450" y="502252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1" name="SCHEM_ellipse-0169"/>
              <p:cNvSpPr/>
              <p:nvPr/>
            </p:nvSpPr>
            <p:spPr>
              <a:xfrm>
                <a:off x="684140" y="434311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2" name="SCHEM_ellipse-0170"/>
              <p:cNvSpPr/>
              <p:nvPr/>
            </p:nvSpPr>
            <p:spPr>
              <a:xfrm>
                <a:off x="1161822" y="472357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3" name="SCHEM_ellipse-0171"/>
              <p:cNvSpPr/>
              <p:nvPr/>
            </p:nvSpPr>
            <p:spPr>
              <a:xfrm>
                <a:off x="1128171" y="487755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4" name="SCHEM_ellipse-0172"/>
              <p:cNvSpPr/>
              <p:nvPr/>
            </p:nvSpPr>
            <p:spPr>
              <a:xfrm>
                <a:off x="367127" y="4572588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5" name="SCHEM_ellipse-0173"/>
              <p:cNvSpPr/>
              <p:nvPr/>
            </p:nvSpPr>
            <p:spPr>
              <a:xfrm>
                <a:off x="1592708" y="483015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6" name="SCHEM_ellipse-0174"/>
              <p:cNvSpPr/>
              <p:nvPr/>
            </p:nvSpPr>
            <p:spPr>
              <a:xfrm>
                <a:off x="907583" y="498584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7" name="SCHEM_ellipse-0175"/>
              <p:cNvSpPr/>
              <p:nvPr/>
            </p:nvSpPr>
            <p:spPr>
              <a:xfrm>
                <a:off x="892349" y="4973866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8" name="SCHEM_ellipse-0176"/>
              <p:cNvSpPr/>
              <p:nvPr/>
            </p:nvSpPr>
            <p:spPr>
              <a:xfrm>
                <a:off x="1068415" y="428313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9" name="SCHEM_ellipse-0177"/>
              <p:cNvSpPr/>
              <p:nvPr/>
            </p:nvSpPr>
            <p:spPr>
              <a:xfrm>
                <a:off x="727629" y="4896178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0" name="SCHEM_ellipse-0178"/>
              <p:cNvSpPr/>
              <p:nvPr/>
            </p:nvSpPr>
            <p:spPr>
              <a:xfrm>
                <a:off x="1508433" y="465136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1" name="SCHEM_ellipse-0179"/>
              <p:cNvSpPr/>
              <p:nvPr/>
            </p:nvSpPr>
            <p:spPr>
              <a:xfrm>
                <a:off x="972813" y="497337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2" name="SCHEM_ellipse-0180"/>
              <p:cNvSpPr/>
              <p:nvPr/>
            </p:nvSpPr>
            <p:spPr>
              <a:xfrm>
                <a:off x="641537" y="4545023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3" name="SCHEM_ellipse-0181"/>
              <p:cNvSpPr/>
              <p:nvPr/>
            </p:nvSpPr>
            <p:spPr>
              <a:xfrm>
                <a:off x="1145223" y="481665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4" name="SCHEM_ellipse-0182"/>
              <p:cNvSpPr/>
              <p:nvPr/>
            </p:nvSpPr>
            <p:spPr>
              <a:xfrm>
                <a:off x="430759" y="490819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5" name="SCHEM_ellipse-0183"/>
              <p:cNvSpPr/>
              <p:nvPr/>
            </p:nvSpPr>
            <p:spPr>
              <a:xfrm>
                <a:off x="1378196" y="442389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6" name="SCHEM_ellipse-0184"/>
              <p:cNvSpPr/>
              <p:nvPr/>
            </p:nvSpPr>
            <p:spPr>
              <a:xfrm>
                <a:off x="787786" y="4452483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7" name="SCHEM_ellipse-0185"/>
              <p:cNvSpPr/>
              <p:nvPr/>
            </p:nvSpPr>
            <p:spPr>
              <a:xfrm>
                <a:off x="533952" y="436063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8" name="SCHEM_ellipse-0186"/>
              <p:cNvSpPr/>
              <p:nvPr/>
            </p:nvSpPr>
            <p:spPr>
              <a:xfrm>
                <a:off x="1458230" y="446916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9" name="SCHEM_ellipse-0187"/>
              <p:cNvSpPr/>
              <p:nvPr/>
            </p:nvSpPr>
            <p:spPr>
              <a:xfrm>
                <a:off x="499820" y="462991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0" name="SCHEM_ellipse-0188"/>
              <p:cNvSpPr/>
              <p:nvPr/>
            </p:nvSpPr>
            <p:spPr>
              <a:xfrm>
                <a:off x="1268938" y="470150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1" name="SCHEM_ellipse-0189"/>
              <p:cNvSpPr/>
              <p:nvPr/>
            </p:nvSpPr>
            <p:spPr>
              <a:xfrm>
                <a:off x="1516910" y="457488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2" name="SCHEM_ellipse-0190"/>
              <p:cNvSpPr/>
              <p:nvPr/>
            </p:nvSpPr>
            <p:spPr>
              <a:xfrm>
                <a:off x="1011775" y="489992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3" name="SCHEM_ellipse-0191"/>
              <p:cNvSpPr/>
              <p:nvPr/>
            </p:nvSpPr>
            <p:spPr>
              <a:xfrm>
                <a:off x="917727" y="489983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4" name="SCHEM_ellipse-0192"/>
              <p:cNvSpPr/>
              <p:nvPr/>
            </p:nvSpPr>
            <p:spPr>
              <a:xfrm>
                <a:off x="925787" y="429919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5" name="SCHEM_ellipse-0193"/>
              <p:cNvSpPr/>
              <p:nvPr/>
            </p:nvSpPr>
            <p:spPr>
              <a:xfrm>
                <a:off x="1261705" y="475850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6" name="SCHEM_ellipse-0194"/>
              <p:cNvSpPr/>
              <p:nvPr/>
            </p:nvSpPr>
            <p:spPr>
              <a:xfrm>
                <a:off x="401986" y="459905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7" name="SCHEM_ellipse-0195"/>
              <p:cNvSpPr/>
              <p:nvPr/>
            </p:nvSpPr>
            <p:spPr>
              <a:xfrm>
                <a:off x="434820" y="455357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8" name="SCHEM_ellipse-0196"/>
              <p:cNvSpPr/>
              <p:nvPr/>
            </p:nvSpPr>
            <p:spPr>
              <a:xfrm>
                <a:off x="685467" y="459971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9" name="SCHEM_ellipse-0197"/>
              <p:cNvSpPr/>
              <p:nvPr/>
            </p:nvSpPr>
            <p:spPr>
              <a:xfrm>
                <a:off x="1293245" y="471918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0" name="SCHEM_ellipse-0198"/>
              <p:cNvSpPr/>
              <p:nvPr/>
            </p:nvSpPr>
            <p:spPr>
              <a:xfrm>
                <a:off x="588487" y="496348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1" name="SCHEM_ellipse-0199"/>
              <p:cNvSpPr/>
              <p:nvPr/>
            </p:nvSpPr>
            <p:spPr>
              <a:xfrm>
                <a:off x="1329394" y="5013308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2" name="SCHEM_ellipse-0200"/>
              <p:cNvSpPr/>
              <p:nvPr/>
            </p:nvSpPr>
            <p:spPr>
              <a:xfrm>
                <a:off x="527407" y="4999563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3" name="SCHEM_ellipse-0201"/>
              <p:cNvSpPr/>
              <p:nvPr/>
            </p:nvSpPr>
            <p:spPr>
              <a:xfrm>
                <a:off x="770772" y="457476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4" name="SCHEM_ellipse-0202"/>
              <p:cNvSpPr/>
              <p:nvPr/>
            </p:nvSpPr>
            <p:spPr>
              <a:xfrm>
                <a:off x="1453580" y="455712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5" name="SCHEM_ellipse-0203"/>
              <p:cNvSpPr/>
              <p:nvPr/>
            </p:nvSpPr>
            <p:spPr>
              <a:xfrm>
                <a:off x="521819" y="438233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6" name="SCHEM_ellipse-0204"/>
              <p:cNvSpPr/>
              <p:nvPr/>
            </p:nvSpPr>
            <p:spPr>
              <a:xfrm>
                <a:off x="743276" y="4880126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7" name="SCHEM_ellipse-0205"/>
              <p:cNvSpPr/>
              <p:nvPr/>
            </p:nvSpPr>
            <p:spPr>
              <a:xfrm>
                <a:off x="777351" y="495548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8" name="SCHEM_ellipse-0206"/>
              <p:cNvSpPr/>
              <p:nvPr/>
            </p:nvSpPr>
            <p:spPr>
              <a:xfrm>
                <a:off x="1163587" y="465532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9" name="SCHEM_ellipse-0207"/>
              <p:cNvSpPr/>
              <p:nvPr/>
            </p:nvSpPr>
            <p:spPr>
              <a:xfrm>
                <a:off x="975373" y="512471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0" name="SCHEM_ellipse-0208"/>
              <p:cNvSpPr/>
              <p:nvPr/>
            </p:nvSpPr>
            <p:spPr>
              <a:xfrm>
                <a:off x="640563" y="434854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1" name="SCHEM_ellipse-0209"/>
              <p:cNvSpPr/>
              <p:nvPr/>
            </p:nvSpPr>
            <p:spPr>
              <a:xfrm>
                <a:off x="670344" y="464940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2" name="SCHEM_ellipse-0210"/>
              <p:cNvSpPr/>
              <p:nvPr/>
            </p:nvSpPr>
            <p:spPr>
              <a:xfrm>
                <a:off x="794541" y="494163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3" name="SCHEM_ellipse-0211"/>
              <p:cNvSpPr/>
              <p:nvPr/>
            </p:nvSpPr>
            <p:spPr>
              <a:xfrm>
                <a:off x="1095075" y="457699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4" name="SCHEM_ellipse-0212"/>
              <p:cNvSpPr/>
              <p:nvPr/>
            </p:nvSpPr>
            <p:spPr>
              <a:xfrm>
                <a:off x="1392650" y="440169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5" name="SCHEM_ellipse-0213"/>
              <p:cNvSpPr/>
              <p:nvPr/>
            </p:nvSpPr>
            <p:spPr>
              <a:xfrm>
                <a:off x="1133898" y="503316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6" name="SCHEM_ellipse-0214"/>
              <p:cNvSpPr/>
              <p:nvPr/>
            </p:nvSpPr>
            <p:spPr>
              <a:xfrm>
                <a:off x="1037187" y="4490796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7" name="SCHEM_ellipse-0215"/>
              <p:cNvSpPr/>
              <p:nvPr/>
            </p:nvSpPr>
            <p:spPr>
              <a:xfrm>
                <a:off x="367659" y="475271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8" name="SCHEM_ellipse-0216"/>
              <p:cNvSpPr/>
              <p:nvPr/>
            </p:nvSpPr>
            <p:spPr>
              <a:xfrm>
                <a:off x="505478" y="454584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9" name="SCHEM_ellipse-0217"/>
              <p:cNvSpPr/>
              <p:nvPr/>
            </p:nvSpPr>
            <p:spPr>
              <a:xfrm>
                <a:off x="1236491" y="4696296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20" name="SCHEM_ellipse-0218"/>
              <p:cNvSpPr/>
              <p:nvPr/>
            </p:nvSpPr>
            <p:spPr>
              <a:xfrm>
                <a:off x="1514847" y="447934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21" name="SCHEM_ellipse-0219"/>
              <p:cNvSpPr/>
              <p:nvPr/>
            </p:nvSpPr>
            <p:spPr>
              <a:xfrm>
                <a:off x="806525" y="485884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22" name="SCHEM_path-0220"/>
              <p:cNvSpPr/>
              <p:nvPr/>
            </p:nvSpPr>
            <p:spPr>
              <a:xfrm>
                <a:off x="462653" y="4316493"/>
                <a:ext cx="1165447" cy="782364"/>
              </a:xfrm>
              <a:custGeom>
                <a:avLst/>
                <a:gdLst/>
                <a:ahLst/>
                <a:cxnLst/>
                <a:rect l="0" t="0" r="r" b="b"/>
                <a:pathLst>
                  <a:path w="1165447" h="782364">
                    <a:moveTo>
                      <a:pt x="1138806" y="377907"/>
                    </a:moveTo>
                    <a:cubicBezTo>
                      <a:pt x="1137947" y="433749"/>
                      <a:pt x="1150077" y="492173"/>
                      <a:pt x="1123918" y="544699"/>
                    </a:cubicBezTo>
                    <a:cubicBezTo>
                      <a:pt x="1097759" y="597225"/>
                      <a:pt x="1050252" y="663324"/>
                      <a:pt x="981855" y="693061"/>
                    </a:cubicBezTo>
                    <a:cubicBezTo>
                      <a:pt x="913457" y="722798"/>
                      <a:pt x="798557" y="708288"/>
                      <a:pt x="713535" y="723121"/>
                    </a:cubicBezTo>
                    <a:cubicBezTo>
                      <a:pt x="628514" y="737953"/>
                      <a:pt x="553176" y="781752"/>
                      <a:pt x="471727" y="782058"/>
                    </a:cubicBezTo>
                    <a:cubicBezTo>
                      <a:pt x="390278" y="782364"/>
                      <a:pt x="297439" y="753441"/>
                      <a:pt x="224841" y="724958"/>
                    </a:cubicBezTo>
                    <a:cubicBezTo>
                      <a:pt x="152244" y="696476"/>
                      <a:pt x="72286" y="656993"/>
                      <a:pt x="36143" y="611163"/>
                    </a:cubicBezTo>
                    <a:cubicBezTo>
                      <a:pt x="0" y="565333"/>
                      <a:pt x="10744" y="500601"/>
                      <a:pt x="7983" y="449976"/>
                    </a:cubicBezTo>
                    <a:cubicBezTo>
                      <a:pt x="5222" y="399351"/>
                      <a:pt x="9560" y="355828"/>
                      <a:pt x="19576" y="307414"/>
                    </a:cubicBezTo>
                    <a:cubicBezTo>
                      <a:pt x="29593" y="259000"/>
                      <a:pt x="34372" y="206139"/>
                      <a:pt x="68083" y="159492"/>
                    </a:cubicBezTo>
                    <a:cubicBezTo>
                      <a:pt x="101793" y="112844"/>
                      <a:pt x="153289" y="50729"/>
                      <a:pt x="221838" y="27529"/>
                    </a:cubicBezTo>
                    <a:cubicBezTo>
                      <a:pt x="290387" y="4329"/>
                      <a:pt x="395871" y="22489"/>
                      <a:pt x="479375" y="20290"/>
                    </a:cubicBezTo>
                    <a:cubicBezTo>
                      <a:pt x="562879" y="18090"/>
                      <a:pt x="649331" y="0"/>
                      <a:pt x="722864" y="14331"/>
                    </a:cubicBezTo>
                    <a:cubicBezTo>
                      <a:pt x="796398" y="28663"/>
                      <a:pt x="852872" y="73726"/>
                      <a:pt x="920574" y="106279"/>
                    </a:cubicBezTo>
                    <a:cubicBezTo>
                      <a:pt x="988276" y="138831"/>
                      <a:pt x="1092703" y="164375"/>
                      <a:pt x="1129075" y="209647"/>
                    </a:cubicBezTo>
                    <a:cubicBezTo>
                      <a:pt x="1165447" y="254918"/>
                      <a:pt x="1139666" y="322065"/>
                      <a:pt x="1138806" y="377907"/>
                    </a:cubicBezTo>
                    <a:close/>
                  </a:path>
                </a:pathLst>
              </a:custGeom>
              <a:solidFill>
                <a:srgbClr val="E7C2B7"/>
              </a:solidFill>
              <a:ln w="10080" cap="flat">
                <a:solidFill>
                  <a:srgbClr val="FFFFFF"/>
                </a:solidFill>
              </a:ln>
              <a:effectLst/>
            </p:spPr>
          </p:sp>
          <p:cxnSp>
            <p:nvCxnSpPr>
              <p:cNvPr id="223" name="SCHEM_line-0221"/>
              <p:cNvCxnSpPr/>
              <p:nvPr/>
            </p:nvCxnSpPr>
            <p:spPr>
              <a:xfrm>
                <a:off x="1055389" y="448517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24" name="SCHEM_line-0222"/>
              <p:cNvCxnSpPr/>
              <p:nvPr/>
            </p:nvCxnSpPr>
            <p:spPr>
              <a:xfrm>
                <a:off x="901401" y="491417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25" name="SCHEM_line-0223"/>
              <p:cNvCxnSpPr/>
              <p:nvPr/>
            </p:nvCxnSpPr>
            <p:spPr>
              <a:xfrm>
                <a:off x="720748" y="4830315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26" name="SCHEM_line-0224"/>
              <p:cNvCxnSpPr/>
              <p:nvPr/>
            </p:nvCxnSpPr>
            <p:spPr>
              <a:xfrm>
                <a:off x="1194671" y="4557941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27" name="SCHEM_line-0225"/>
              <p:cNvCxnSpPr/>
              <p:nvPr/>
            </p:nvCxnSpPr>
            <p:spPr>
              <a:xfrm>
                <a:off x="988287" y="5038728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28" name="SCHEM_line-0226"/>
              <p:cNvCxnSpPr/>
              <p:nvPr/>
            </p:nvCxnSpPr>
            <p:spPr>
              <a:xfrm>
                <a:off x="899489" y="4711041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29" name="SCHEM_line-0227"/>
              <p:cNvCxnSpPr/>
              <p:nvPr/>
            </p:nvCxnSpPr>
            <p:spPr>
              <a:xfrm>
                <a:off x="933297" y="442797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0" name="SCHEM_line-0228"/>
              <p:cNvCxnSpPr/>
              <p:nvPr/>
            </p:nvCxnSpPr>
            <p:spPr>
              <a:xfrm>
                <a:off x="932861" y="466937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1" name="SCHEM_line-0229"/>
              <p:cNvCxnSpPr/>
              <p:nvPr/>
            </p:nvCxnSpPr>
            <p:spPr>
              <a:xfrm>
                <a:off x="973653" y="481593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2" name="SCHEM_line-0230"/>
              <p:cNvCxnSpPr/>
              <p:nvPr/>
            </p:nvCxnSpPr>
            <p:spPr>
              <a:xfrm>
                <a:off x="1427125" y="491675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3" name="SCHEM_line-0231"/>
              <p:cNvCxnSpPr/>
              <p:nvPr/>
            </p:nvCxnSpPr>
            <p:spPr>
              <a:xfrm>
                <a:off x="1240920" y="4568745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4" name="SCHEM_line-0232"/>
              <p:cNvCxnSpPr/>
              <p:nvPr/>
            </p:nvCxnSpPr>
            <p:spPr>
              <a:xfrm>
                <a:off x="1071495" y="4975666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5" name="SCHEM_line-0233"/>
              <p:cNvCxnSpPr/>
              <p:nvPr/>
            </p:nvCxnSpPr>
            <p:spPr>
              <a:xfrm>
                <a:off x="806511" y="460458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6" name="SCHEM_line-0234"/>
              <p:cNvCxnSpPr/>
              <p:nvPr/>
            </p:nvCxnSpPr>
            <p:spPr>
              <a:xfrm>
                <a:off x="909220" y="5000408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7" name="SCHEM_line-0235"/>
              <p:cNvCxnSpPr/>
              <p:nvPr/>
            </p:nvCxnSpPr>
            <p:spPr>
              <a:xfrm>
                <a:off x="1194773" y="492513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8" name="SCHEM_line-0236"/>
              <p:cNvCxnSpPr/>
              <p:nvPr/>
            </p:nvCxnSpPr>
            <p:spPr>
              <a:xfrm>
                <a:off x="502468" y="484781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9" name="SCHEM_line-0237"/>
              <p:cNvCxnSpPr/>
              <p:nvPr/>
            </p:nvCxnSpPr>
            <p:spPr>
              <a:xfrm>
                <a:off x="944598" y="461337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0" name="SCHEM_line-0238"/>
              <p:cNvCxnSpPr/>
              <p:nvPr/>
            </p:nvCxnSpPr>
            <p:spPr>
              <a:xfrm>
                <a:off x="1336845" y="485133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1" name="SCHEM_line-0239"/>
              <p:cNvCxnSpPr/>
              <p:nvPr/>
            </p:nvCxnSpPr>
            <p:spPr>
              <a:xfrm>
                <a:off x="1437550" y="485362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2" name="SCHEM_line-0240"/>
              <p:cNvCxnSpPr/>
              <p:nvPr/>
            </p:nvCxnSpPr>
            <p:spPr>
              <a:xfrm>
                <a:off x="1437056" y="463236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3" name="SCHEM_line-0241"/>
              <p:cNvCxnSpPr/>
              <p:nvPr/>
            </p:nvCxnSpPr>
            <p:spPr>
              <a:xfrm>
                <a:off x="1057387" y="488657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4" name="SCHEM_line-0242"/>
              <p:cNvCxnSpPr/>
              <p:nvPr/>
            </p:nvCxnSpPr>
            <p:spPr>
              <a:xfrm>
                <a:off x="947406" y="4425055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5" name="SCHEM_line-0243"/>
              <p:cNvCxnSpPr/>
              <p:nvPr/>
            </p:nvCxnSpPr>
            <p:spPr>
              <a:xfrm>
                <a:off x="1088875" y="494819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6" name="SCHEM_line-0244"/>
              <p:cNvCxnSpPr/>
              <p:nvPr/>
            </p:nvCxnSpPr>
            <p:spPr>
              <a:xfrm>
                <a:off x="869625" y="449013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7" name="SCHEM_line-0245"/>
              <p:cNvCxnSpPr/>
              <p:nvPr/>
            </p:nvCxnSpPr>
            <p:spPr>
              <a:xfrm>
                <a:off x="826631" y="501112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8" name="SCHEM_line-0246"/>
              <p:cNvCxnSpPr/>
              <p:nvPr/>
            </p:nvCxnSpPr>
            <p:spPr>
              <a:xfrm>
                <a:off x="912540" y="455045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9" name="SCHEM_line-0247"/>
              <p:cNvCxnSpPr/>
              <p:nvPr/>
            </p:nvCxnSpPr>
            <p:spPr>
              <a:xfrm>
                <a:off x="753200" y="464109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0" name="SCHEM_line-0248"/>
              <p:cNvCxnSpPr/>
              <p:nvPr/>
            </p:nvCxnSpPr>
            <p:spPr>
              <a:xfrm>
                <a:off x="1179259" y="4571373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1" name="SCHEM_line-0249"/>
              <p:cNvCxnSpPr/>
              <p:nvPr/>
            </p:nvCxnSpPr>
            <p:spPr>
              <a:xfrm>
                <a:off x="660627" y="448836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2" name="SCHEM_line-0250"/>
              <p:cNvCxnSpPr/>
              <p:nvPr/>
            </p:nvCxnSpPr>
            <p:spPr>
              <a:xfrm>
                <a:off x="739657" y="4973158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3" name="SCHEM_line-0251"/>
              <p:cNvCxnSpPr/>
              <p:nvPr/>
            </p:nvCxnSpPr>
            <p:spPr>
              <a:xfrm>
                <a:off x="642570" y="4864663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4" name="SCHEM_line-0252"/>
              <p:cNvCxnSpPr/>
              <p:nvPr/>
            </p:nvCxnSpPr>
            <p:spPr>
              <a:xfrm>
                <a:off x="576863" y="4887400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5" name="SCHEM_line-0253"/>
              <p:cNvCxnSpPr/>
              <p:nvPr/>
            </p:nvCxnSpPr>
            <p:spPr>
              <a:xfrm>
                <a:off x="746147" y="4882888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6" name="SCHEM_line-0254"/>
              <p:cNvCxnSpPr/>
              <p:nvPr/>
            </p:nvCxnSpPr>
            <p:spPr>
              <a:xfrm>
                <a:off x="924361" y="438295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7" name="SCHEM_line-0255"/>
              <p:cNvCxnSpPr/>
              <p:nvPr/>
            </p:nvCxnSpPr>
            <p:spPr>
              <a:xfrm>
                <a:off x="562179" y="489735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8" name="SCHEM_line-0256"/>
              <p:cNvCxnSpPr/>
              <p:nvPr/>
            </p:nvCxnSpPr>
            <p:spPr>
              <a:xfrm>
                <a:off x="1042220" y="4673616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9" name="SCHEM_line-0257"/>
              <p:cNvCxnSpPr/>
              <p:nvPr/>
            </p:nvCxnSpPr>
            <p:spPr>
              <a:xfrm>
                <a:off x="838642" y="4820001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0" name="SCHEM_line-0258"/>
              <p:cNvCxnSpPr/>
              <p:nvPr/>
            </p:nvCxnSpPr>
            <p:spPr>
              <a:xfrm>
                <a:off x="978254" y="437140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1" name="SCHEM_line-0259"/>
              <p:cNvCxnSpPr/>
              <p:nvPr/>
            </p:nvCxnSpPr>
            <p:spPr>
              <a:xfrm>
                <a:off x="1105518" y="455078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2" name="SCHEM_line-0260"/>
              <p:cNvCxnSpPr/>
              <p:nvPr/>
            </p:nvCxnSpPr>
            <p:spPr>
              <a:xfrm>
                <a:off x="1369097" y="4718536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3" name="SCHEM_line-0261"/>
              <p:cNvCxnSpPr/>
              <p:nvPr/>
            </p:nvCxnSpPr>
            <p:spPr>
              <a:xfrm>
                <a:off x="1290934" y="4412865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4" name="SCHEM_line-0262"/>
              <p:cNvCxnSpPr/>
              <p:nvPr/>
            </p:nvCxnSpPr>
            <p:spPr>
              <a:xfrm>
                <a:off x="1219347" y="4762353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5" name="SCHEM_line-0263"/>
              <p:cNvCxnSpPr/>
              <p:nvPr/>
            </p:nvCxnSpPr>
            <p:spPr>
              <a:xfrm>
                <a:off x="1052393" y="474924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6" name="SCHEM_line-0264"/>
              <p:cNvCxnSpPr/>
              <p:nvPr/>
            </p:nvCxnSpPr>
            <p:spPr>
              <a:xfrm>
                <a:off x="1283696" y="451522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7" name="SCHEM_line-0265"/>
              <p:cNvCxnSpPr/>
              <p:nvPr/>
            </p:nvCxnSpPr>
            <p:spPr>
              <a:xfrm>
                <a:off x="1045392" y="488806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8" name="SCHEM_line-0266"/>
              <p:cNvCxnSpPr/>
              <p:nvPr/>
            </p:nvCxnSpPr>
            <p:spPr>
              <a:xfrm>
                <a:off x="1098535" y="4713885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9" name="SCHEM_line-0267"/>
              <p:cNvCxnSpPr/>
              <p:nvPr/>
            </p:nvCxnSpPr>
            <p:spPr>
              <a:xfrm>
                <a:off x="1118885" y="4433036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0" name="SCHEM_line-0268"/>
              <p:cNvCxnSpPr/>
              <p:nvPr/>
            </p:nvCxnSpPr>
            <p:spPr>
              <a:xfrm>
                <a:off x="1501026" y="466548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1" name="SCHEM_line-0269"/>
              <p:cNvCxnSpPr/>
              <p:nvPr/>
            </p:nvCxnSpPr>
            <p:spPr>
              <a:xfrm>
                <a:off x="1033804" y="490981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2" name="SCHEM_line-0270"/>
              <p:cNvCxnSpPr/>
              <p:nvPr/>
            </p:nvCxnSpPr>
            <p:spPr>
              <a:xfrm>
                <a:off x="947177" y="445580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3" name="SCHEM_line-0271"/>
              <p:cNvCxnSpPr/>
              <p:nvPr/>
            </p:nvCxnSpPr>
            <p:spPr>
              <a:xfrm>
                <a:off x="954780" y="442218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4" name="SCHEM_line-0272"/>
              <p:cNvCxnSpPr/>
              <p:nvPr/>
            </p:nvCxnSpPr>
            <p:spPr>
              <a:xfrm>
                <a:off x="1401662" y="4580755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5" name="SCHEM_line-0273"/>
              <p:cNvCxnSpPr/>
              <p:nvPr/>
            </p:nvCxnSpPr>
            <p:spPr>
              <a:xfrm>
                <a:off x="878379" y="4966943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6" name="SCHEM_line-0274"/>
              <p:cNvCxnSpPr/>
              <p:nvPr/>
            </p:nvCxnSpPr>
            <p:spPr>
              <a:xfrm>
                <a:off x="1344117" y="4566713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7" name="SCHEM_line-0275"/>
              <p:cNvCxnSpPr/>
              <p:nvPr/>
            </p:nvCxnSpPr>
            <p:spPr>
              <a:xfrm>
                <a:off x="997184" y="4799930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8" name="SCHEM_line-0276"/>
              <p:cNvCxnSpPr/>
              <p:nvPr/>
            </p:nvCxnSpPr>
            <p:spPr>
              <a:xfrm>
                <a:off x="662311" y="442427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9" name="SCHEM_line-0277"/>
              <p:cNvCxnSpPr/>
              <p:nvPr/>
            </p:nvCxnSpPr>
            <p:spPr>
              <a:xfrm>
                <a:off x="1380678" y="4442740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80" name="SCHEM_line-0278"/>
              <p:cNvCxnSpPr/>
              <p:nvPr/>
            </p:nvCxnSpPr>
            <p:spPr>
              <a:xfrm>
                <a:off x="1220134" y="4853238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81" name="SCHEM_line-0279"/>
              <p:cNvCxnSpPr/>
              <p:nvPr/>
            </p:nvCxnSpPr>
            <p:spPr>
              <a:xfrm>
                <a:off x="1095442" y="457370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</p:grpSp>
        <p:sp>
          <p:nvSpPr>
            <p:cNvPr id="282" name="SCHEM_text-0280"/>
            <p:cNvSpPr txBox="1"/>
            <p:nvPr/>
          </p:nvSpPr>
          <p:spPr>
            <a:xfrm>
              <a:off x="165600" y="3852000"/>
              <a:ext cx="1080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Calcium-rich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core</a:t>
              </a:r>
              <a:endParaRPr lang="en-US" sz="1191"/>
            </a:p>
          </p:txBody>
        </p:sp>
        <p:cxnSp>
          <p:nvCxnSpPr>
            <p:cNvPr id="283" name="SCHEM_line-0281"/>
            <p:cNvCxnSpPr/>
            <p:nvPr/>
          </p:nvCxnSpPr>
          <p:spPr>
            <a:xfrm>
              <a:off x="360000" y="4132800"/>
              <a:ext cx="604800" cy="388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84" name="SCHEM_ellipse-0282"/>
            <p:cNvSpPr/>
            <p:nvPr/>
          </p:nvSpPr>
          <p:spPr>
            <a:xfrm>
              <a:off x="943200" y="4500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85" name="SCHEM_text-0283"/>
            <p:cNvSpPr txBox="1"/>
            <p:nvPr/>
          </p:nvSpPr>
          <p:spPr>
            <a:xfrm>
              <a:off x="2037600" y="4888800"/>
              <a:ext cx="7848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Si/Al-rich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rim</a:t>
              </a:r>
              <a:endParaRPr lang="en-US" sz="1191"/>
            </a:p>
          </p:txBody>
        </p:sp>
        <p:cxnSp>
          <p:nvCxnSpPr>
            <p:cNvPr id="286" name="SCHEM_line-0284"/>
            <p:cNvCxnSpPr/>
            <p:nvPr/>
          </p:nvCxnSpPr>
          <p:spPr>
            <a:xfrm flipH="1" flipV="1">
              <a:off x="1548000" y="4903200"/>
              <a:ext cx="432000" cy="108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87" name="SCHEM_ellipse-0285"/>
            <p:cNvSpPr/>
            <p:nvPr/>
          </p:nvSpPr>
          <p:spPr>
            <a:xfrm>
              <a:off x="1526400" y="4881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88" name="SCHEM_text-0286"/>
            <p:cNvSpPr txBox="1"/>
            <p:nvPr/>
          </p:nvSpPr>
          <p:spPr>
            <a:xfrm>
              <a:off x="201600" y="5328000"/>
              <a:ext cx="2556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Ancient mortar (section)</a:t>
              </a:r>
              <a:endParaRPr lang="en-US" sz="1361"/>
            </a:p>
          </p:txBody>
        </p:sp>
        <p:cxnSp>
          <p:nvCxnSpPr>
            <p:cNvPr id="289" name="SCHEM_line-0287"/>
            <p:cNvCxnSpPr/>
            <p:nvPr/>
          </p:nvCxnSpPr>
          <p:spPr>
            <a:xfrm flipV="1">
              <a:off x="1713600" y="3801600"/>
              <a:ext cx="1166400" cy="4608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290" name="SCHEM_text-0288"/>
            <p:cNvSpPr txBox="1"/>
            <p:nvPr/>
          </p:nvSpPr>
          <p:spPr>
            <a:xfrm>
              <a:off x="2030400" y="4168800"/>
              <a:ext cx="828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Mechanistic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interpretation</a:t>
              </a:r>
              <a:endParaRPr lang="en-US" sz="1191"/>
            </a:p>
          </p:txBody>
        </p:sp>
        <p:grpSp>
          <p:nvGrpSpPr>
            <p:cNvPr id="291" name="SCHEM_modern-mortar-matrix"/>
            <p:cNvGrpSpPr/>
            <p:nvPr/>
          </p:nvGrpSpPr>
          <p:grpSpPr>
            <a:xfrm>
              <a:off x="2916000" y="1382400"/>
              <a:ext cx="4968000" cy="4060800"/>
              <a:chOff x="2916000" y="1382400"/>
              <a:chExt cx="4968000" cy="4060800"/>
            </a:xfrm>
          </p:grpSpPr>
          <p:sp>
            <p:nvSpPr>
              <p:cNvPr id="292" name="SCHEM_path-0290"/>
              <p:cNvSpPr/>
              <p:nvPr/>
            </p:nvSpPr>
            <p:spPr>
              <a:xfrm>
                <a:off x="2916000" y="1382400"/>
                <a:ext cx="4968000" cy="4060800"/>
              </a:xfrm>
              <a:custGeom>
                <a:avLst/>
                <a:gdLst/>
                <a:ahLst/>
                <a:cxnLst/>
                <a:rect l="0" t="0" r="r" b="b"/>
                <a:pathLst>
                  <a:path w="4968000" h="4060800">
                    <a:moveTo>
                      <a:pt x="0" y="129600"/>
                    </a:moveTo>
                    <a:cubicBezTo>
                      <a:pt x="669600" y="7200"/>
                      <a:pt x="1699200" y="0"/>
                      <a:pt x="2462400" y="36000"/>
                    </a:cubicBezTo>
                    <a:lnTo>
                      <a:pt x="2808000" y="36000"/>
                    </a:lnTo>
                    <a:cubicBezTo>
                      <a:pt x="3549600" y="36000"/>
                      <a:pt x="4320000" y="86400"/>
                      <a:pt x="4968000" y="172800"/>
                    </a:cubicBezTo>
                    <a:lnTo>
                      <a:pt x="4968000" y="4060800"/>
                    </a:lnTo>
                    <a:cubicBezTo>
                      <a:pt x="3844800" y="4032000"/>
                      <a:pt x="3362400" y="3988800"/>
                      <a:pt x="2800800" y="3996000"/>
                    </a:cubicBezTo>
                    <a:lnTo>
                      <a:pt x="2556000" y="3996000"/>
                    </a:lnTo>
                    <a:cubicBezTo>
                      <a:pt x="1576800" y="4032000"/>
                      <a:pt x="892800" y="3960000"/>
                      <a:pt x="0" y="4053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6E5E0"/>
                  </a:gs>
                  <a:gs pos="100000">
                    <a:srgbClr val="F0EFEB"/>
                  </a:gs>
                </a:gsLst>
                <a:lin ang="5400000" scaled="1"/>
              </a:gra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293" name="SCHEM_ellipse-0291"/>
              <p:cNvSpPr/>
              <p:nvPr/>
            </p:nvSpPr>
            <p:spPr>
              <a:xfrm>
                <a:off x="6370951" y="4649519"/>
                <a:ext cx="96917" cy="9691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294" name="SCHEM_ellipse-0292"/>
              <p:cNvSpPr/>
              <p:nvPr/>
            </p:nvSpPr>
            <p:spPr>
              <a:xfrm>
                <a:off x="7740431" y="2276237"/>
                <a:ext cx="54939" cy="5493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295" name="SCHEM_ellipse-0293"/>
              <p:cNvSpPr/>
              <p:nvPr/>
            </p:nvSpPr>
            <p:spPr>
              <a:xfrm>
                <a:off x="3478864" y="4379687"/>
                <a:ext cx="28003" cy="2800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296" name="SCHEM_ellipse-0294"/>
              <p:cNvSpPr/>
              <p:nvPr/>
            </p:nvSpPr>
            <p:spPr>
              <a:xfrm>
                <a:off x="6362226" y="4240325"/>
                <a:ext cx="59866" cy="598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297" name="SCHEM_ellipse-0295"/>
              <p:cNvSpPr/>
              <p:nvPr/>
            </p:nvSpPr>
            <p:spPr>
              <a:xfrm>
                <a:off x="7695501" y="1989144"/>
                <a:ext cx="46956" cy="4695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298" name="SCHEM_ellipse-0296"/>
              <p:cNvSpPr/>
              <p:nvPr/>
            </p:nvSpPr>
            <p:spPr>
              <a:xfrm>
                <a:off x="7557093" y="4303173"/>
                <a:ext cx="43188" cy="4318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299" name="SCHEM_ellipse-0297"/>
              <p:cNvSpPr/>
              <p:nvPr/>
            </p:nvSpPr>
            <p:spPr>
              <a:xfrm>
                <a:off x="4484212" y="5105554"/>
                <a:ext cx="24573" cy="2457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0" name="SCHEM_ellipse-0298"/>
              <p:cNvSpPr/>
              <p:nvPr/>
            </p:nvSpPr>
            <p:spPr>
              <a:xfrm>
                <a:off x="6599040" y="4663047"/>
                <a:ext cx="95484" cy="954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1" name="SCHEM_ellipse-0299"/>
              <p:cNvSpPr/>
              <p:nvPr/>
            </p:nvSpPr>
            <p:spPr>
              <a:xfrm>
                <a:off x="7256370" y="4994261"/>
                <a:ext cx="36550" cy="3655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2" name="SCHEM_ellipse-0300"/>
              <p:cNvSpPr/>
              <p:nvPr/>
            </p:nvSpPr>
            <p:spPr>
              <a:xfrm>
                <a:off x="7233791" y="1796125"/>
                <a:ext cx="91982" cy="9198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3" name="SCHEM_ellipse-0301"/>
              <p:cNvSpPr/>
              <p:nvPr/>
            </p:nvSpPr>
            <p:spPr>
              <a:xfrm>
                <a:off x="6165442" y="4515643"/>
                <a:ext cx="62625" cy="626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4" name="SCHEM_ellipse-0302"/>
              <p:cNvSpPr/>
              <p:nvPr/>
            </p:nvSpPr>
            <p:spPr>
              <a:xfrm>
                <a:off x="7721183" y="4754881"/>
                <a:ext cx="33971" cy="3397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5" name="SCHEM_ellipse-0303"/>
              <p:cNvSpPr/>
              <p:nvPr/>
            </p:nvSpPr>
            <p:spPr>
              <a:xfrm>
                <a:off x="6550468" y="5000110"/>
                <a:ext cx="25012" cy="2501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6" name="SCHEM_ellipse-0304"/>
              <p:cNvSpPr/>
              <p:nvPr/>
            </p:nvSpPr>
            <p:spPr>
              <a:xfrm>
                <a:off x="5344395" y="2108740"/>
                <a:ext cx="94643" cy="9464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7" name="SCHEM_ellipse-0305"/>
              <p:cNvSpPr/>
              <p:nvPr/>
            </p:nvSpPr>
            <p:spPr>
              <a:xfrm>
                <a:off x="7629058" y="2047861"/>
                <a:ext cx="46362" cy="4636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8" name="SCHEM_ellipse-0306"/>
              <p:cNvSpPr/>
              <p:nvPr/>
            </p:nvSpPr>
            <p:spPr>
              <a:xfrm>
                <a:off x="7739703" y="4396772"/>
                <a:ext cx="47744" cy="477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9" name="SCHEM_ellipse-0307"/>
              <p:cNvSpPr/>
              <p:nvPr/>
            </p:nvSpPr>
            <p:spPr>
              <a:xfrm>
                <a:off x="6785911" y="3058070"/>
                <a:ext cx="44467" cy="444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0" name="SCHEM_ellipse-0308"/>
              <p:cNvSpPr/>
              <p:nvPr/>
            </p:nvSpPr>
            <p:spPr>
              <a:xfrm>
                <a:off x="6933408" y="2464407"/>
                <a:ext cx="97085" cy="9708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1" name="SCHEM_ellipse-0309"/>
              <p:cNvSpPr/>
              <p:nvPr/>
            </p:nvSpPr>
            <p:spPr>
              <a:xfrm>
                <a:off x="7162857" y="2487356"/>
                <a:ext cx="39409" cy="394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2" name="SCHEM_ellipse-0310"/>
              <p:cNvSpPr/>
              <p:nvPr/>
            </p:nvSpPr>
            <p:spPr>
              <a:xfrm>
                <a:off x="3314210" y="3237649"/>
                <a:ext cx="36364" cy="3636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3" name="SCHEM_ellipse-0311"/>
              <p:cNvSpPr/>
              <p:nvPr/>
            </p:nvSpPr>
            <p:spPr>
              <a:xfrm>
                <a:off x="3208207" y="5223601"/>
                <a:ext cx="57041" cy="5704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4" name="SCHEM_ellipse-0312"/>
              <p:cNvSpPr/>
              <p:nvPr/>
            </p:nvSpPr>
            <p:spPr>
              <a:xfrm>
                <a:off x="6861194" y="3556927"/>
                <a:ext cx="50039" cy="5003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5" name="SCHEM_ellipse-0313"/>
              <p:cNvSpPr/>
              <p:nvPr/>
            </p:nvSpPr>
            <p:spPr>
              <a:xfrm>
                <a:off x="7311614" y="4517833"/>
                <a:ext cx="53395" cy="5339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6" name="SCHEM_ellipse-0314"/>
              <p:cNvSpPr/>
              <p:nvPr/>
            </p:nvSpPr>
            <p:spPr>
              <a:xfrm>
                <a:off x="3116928" y="2532574"/>
                <a:ext cx="48320" cy="4832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7" name="SCHEM_ellipse-0315"/>
              <p:cNvSpPr/>
              <p:nvPr/>
            </p:nvSpPr>
            <p:spPr>
              <a:xfrm>
                <a:off x="6262532" y="3077201"/>
                <a:ext cx="122842" cy="12284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8" name="SCHEM_ellipse-0316"/>
              <p:cNvSpPr/>
              <p:nvPr/>
            </p:nvSpPr>
            <p:spPr>
              <a:xfrm>
                <a:off x="7308532" y="2555955"/>
                <a:ext cx="39965" cy="3996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9" name="SCHEM_ellipse-0317"/>
              <p:cNvSpPr/>
              <p:nvPr/>
            </p:nvSpPr>
            <p:spPr>
              <a:xfrm>
                <a:off x="6616538" y="2736505"/>
                <a:ext cx="57554" cy="575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0" name="SCHEM_ellipse-0318"/>
              <p:cNvSpPr/>
              <p:nvPr/>
            </p:nvSpPr>
            <p:spPr>
              <a:xfrm>
                <a:off x="4910841" y="1633853"/>
                <a:ext cx="44140" cy="4414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1" name="SCHEM_ellipse-0319"/>
              <p:cNvSpPr/>
              <p:nvPr/>
            </p:nvSpPr>
            <p:spPr>
              <a:xfrm>
                <a:off x="3313683" y="4426193"/>
                <a:ext cx="135074" cy="13507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2" name="SCHEM_ellipse-0320"/>
              <p:cNvSpPr/>
              <p:nvPr/>
            </p:nvSpPr>
            <p:spPr>
              <a:xfrm>
                <a:off x="5541769" y="4903022"/>
                <a:ext cx="31204" cy="3120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3" name="SCHEM_ellipse-0321"/>
              <p:cNvSpPr/>
              <p:nvPr/>
            </p:nvSpPr>
            <p:spPr>
              <a:xfrm>
                <a:off x="3278038" y="4629664"/>
                <a:ext cx="22867" cy="228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4" name="SCHEM_ellipse-0322"/>
              <p:cNvSpPr/>
              <p:nvPr/>
            </p:nvSpPr>
            <p:spPr>
              <a:xfrm>
                <a:off x="7403616" y="3585103"/>
                <a:ext cx="126759" cy="1267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5" name="SCHEM_ellipse-0323"/>
              <p:cNvSpPr/>
              <p:nvPr/>
            </p:nvSpPr>
            <p:spPr>
              <a:xfrm>
                <a:off x="3263195" y="4917585"/>
                <a:ext cx="61309" cy="613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6" name="SCHEM_ellipse-0324"/>
              <p:cNvSpPr/>
              <p:nvPr/>
            </p:nvSpPr>
            <p:spPr>
              <a:xfrm>
                <a:off x="3535948" y="2248242"/>
                <a:ext cx="27459" cy="274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7" name="SCHEM_ellipse-0325"/>
              <p:cNvSpPr/>
              <p:nvPr/>
            </p:nvSpPr>
            <p:spPr>
              <a:xfrm>
                <a:off x="5406381" y="1845061"/>
                <a:ext cx="61554" cy="615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8" name="SCHEM_ellipse-0326"/>
              <p:cNvSpPr/>
              <p:nvPr/>
            </p:nvSpPr>
            <p:spPr>
              <a:xfrm>
                <a:off x="4965074" y="5221992"/>
                <a:ext cx="64028" cy="6402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9" name="SCHEM_ellipse-0327"/>
              <p:cNvSpPr/>
              <p:nvPr/>
            </p:nvSpPr>
            <p:spPr>
              <a:xfrm>
                <a:off x="6938401" y="2800657"/>
                <a:ext cx="97407" cy="9740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0" name="SCHEM_ellipse-0328"/>
              <p:cNvSpPr/>
              <p:nvPr/>
            </p:nvSpPr>
            <p:spPr>
              <a:xfrm>
                <a:off x="3748206" y="2036853"/>
                <a:ext cx="70311" cy="7031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1" name="SCHEM_ellipse-0329"/>
              <p:cNvSpPr/>
              <p:nvPr/>
            </p:nvSpPr>
            <p:spPr>
              <a:xfrm>
                <a:off x="6551011" y="3805275"/>
                <a:ext cx="69195" cy="6919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2" name="SCHEM_ellipse-0330"/>
              <p:cNvSpPr/>
              <p:nvPr/>
            </p:nvSpPr>
            <p:spPr>
              <a:xfrm>
                <a:off x="3320697" y="2342111"/>
                <a:ext cx="70996" cy="7099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3" name="SCHEM_ellipse-0331"/>
              <p:cNvSpPr/>
              <p:nvPr/>
            </p:nvSpPr>
            <p:spPr>
              <a:xfrm>
                <a:off x="6298857" y="2149764"/>
                <a:ext cx="22561" cy="2256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4" name="SCHEM_ellipse-0332"/>
              <p:cNvSpPr/>
              <p:nvPr/>
            </p:nvSpPr>
            <p:spPr>
              <a:xfrm>
                <a:off x="3849080" y="4584874"/>
                <a:ext cx="58153" cy="5815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5" name="SCHEM_ellipse-0333"/>
              <p:cNvSpPr/>
              <p:nvPr/>
            </p:nvSpPr>
            <p:spPr>
              <a:xfrm>
                <a:off x="6570686" y="2449002"/>
                <a:ext cx="37215" cy="3721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6" name="SCHEM_ellipse-0334"/>
              <p:cNvSpPr/>
              <p:nvPr/>
            </p:nvSpPr>
            <p:spPr>
              <a:xfrm>
                <a:off x="4154198" y="5066088"/>
                <a:ext cx="48761" cy="4876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7" name="SCHEM_ellipse-0335"/>
              <p:cNvSpPr/>
              <p:nvPr/>
            </p:nvSpPr>
            <p:spPr>
              <a:xfrm>
                <a:off x="7430316" y="2420589"/>
                <a:ext cx="122838" cy="12283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8" name="SCHEM_ellipse-0336"/>
              <p:cNvSpPr/>
              <p:nvPr/>
            </p:nvSpPr>
            <p:spPr>
              <a:xfrm>
                <a:off x="5723035" y="5020336"/>
                <a:ext cx="39055" cy="3905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9" name="SCHEM_ellipse-0337"/>
              <p:cNvSpPr/>
              <p:nvPr/>
            </p:nvSpPr>
            <p:spPr>
              <a:xfrm>
                <a:off x="7534318" y="3451969"/>
                <a:ext cx="37408" cy="3740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0" name="SCHEM_ellipse-0338"/>
              <p:cNvSpPr/>
              <p:nvPr/>
            </p:nvSpPr>
            <p:spPr>
              <a:xfrm>
                <a:off x="3392125" y="3161465"/>
                <a:ext cx="139687" cy="13968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1" name="SCHEM_ellipse-0339"/>
              <p:cNvSpPr/>
              <p:nvPr/>
            </p:nvSpPr>
            <p:spPr>
              <a:xfrm>
                <a:off x="3536424" y="3473383"/>
                <a:ext cx="70304" cy="7030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2" name="SCHEM_ellipse-0340"/>
              <p:cNvSpPr/>
              <p:nvPr/>
            </p:nvSpPr>
            <p:spPr>
              <a:xfrm>
                <a:off x="7106345" y="2638102"/>
                <a:ext cx="131575" cy="13157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3" name="SCHEM_ellipse-0341"/>
              <p:cNvSpPr/>
              <p:nvPr/>
            </p:nvSpPr>
            <p:spPr>
              <a:xfrm>
                <a:off x="6964044" y="3727253"/>
                <a:ext cx="38797" cy="3879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4" name="SCHEM_ellipse-0342"/>
              <p:cNvSpPr/>
              <p:nvPr/>
            </p:nvSpPr>
            <p:spPr>
              <a:xfrm>
                <a:off x="3955852" y="4165166"/>
                <a:ext cx="55743" cy="5574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5" name="SCHEM_ellipse-0343"/>
              <p:cNvSpPr/>
              <p:nvPr/>
            </p:nvSpPr>
            <p:spPr>
              <a:xfrm>
                <a:off x="4054765" y="2095176"/>
                <a:ext cx="26070" cy="2607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6" name="SCHEM_ellipse-0344"/>
              <p:cNvSpPr/>
              <p:nvPr/>
            </p:nvSpPr>
            <p:spPr>
              <a:xfrm>
                <a:off x="6908134" y="4809302"/>
                <a:ext cx="116170" cy="11617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7" name="SCHEM_ellipse-0345"/>
              <p:cNvSpPr/>
              <p:nvPr/>
            </p:nvSpPr>
            <p:spPr>
              <a:xfrm>
                <a:off x="3778108" y="3488643"/>
                <a:ext cx="43392" cy="4339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8" name="SCHEM_ellipse-0346"/>
              <p:cNvSpPr/>
              <p:nvPr/>
            </p:nvSpPr>
            <p:spPr>
              <a:xfrm>
                <a:off x="7128446" y="2159767"/>
                <a:ext cx="64065" cy="6406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9" name="SCHEM_ellipse-0347"/>
              <p:cNvSpPr/>
              <p:nvPr/>
            </p:nvSpPr>
            <p:spPr>
              <a:xfrm>
                <a:off x="3661913" y="3779322"/>
                <a:ext cx="137754" cy="1377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0" name="SCHEM_ellipse-0348"/>
              <p:cNvSpPr/>
              <p:nvPr/>
            </p:nvSpPr>
            <p:spPr>
              <a:xfrm>
                <a:off x="3409021" y="3366994"/>
                <a:ext cx="20390" cy="203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1" name="SCHEM_ellipse-0349"/>
              <p:cNvSpPr/>
              <p:nvPr/>
            </p:nvSpPr>
            <p:spPr>
              <a:xfrm>
                <a:off x="7552401" y="3352763"/>
                <a:ext cx="67312" cy="6731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2" name="SCHEM_ellipse-0350"/>
              <p:cNvSpPr/>
              <p:nvPr/>
            </p:nvSpPr>
            <p:spPr>
              <a:xfrm>
                <a:off x="6445669" y="4652087"/>
                <a:ext cx="106571" cy="10657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3" name="SCHEM_ellipse-0351"/>
              <p:cNvSpPr/>
              <p:nvPr/>
            </p:nvSpPr>
            <p:spPr>
              <a:xfrm>
                <a:off x="3498484" y="3934794"/>
                <a:ext cx="25983" cy="2598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4" name="SCHEM_ellipse-0352"/>
              <p:cNvSpPr/>
              <p:nvPr/>
            </p:nvSpPr>
            <p:spPr>
              <a:xfrm>
                <a:off x="7545906" y="2281822"/>
                <a:ext cx="96468" cy="9646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5" name="SCHEM_ellipse-0353"/>
              <p:cNvSpPr/>
              <p:nvPr/>
            </p:nvSpPr>
            <p:spPr>
              <a:xfrm>
                <a:off x="5028424" y="5178708"/>
                <a:ext cx="33358" cy="3335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6" name="SCHEM_ellipse-0354"/>
              <p:cNvSpPr/>
              <p:nvPr/>
            </p:nvSpPr>
            <p:spPr>
              <a:xfrm>
                <a:off x="3334356" y="3566217"/>
                <a:ext cx="36067" cy="360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7" name="SCHEM_ellipse-0355"/>
              <p:cNvSpPr/>
              <p:nvPr/>
            </p:nvSpPr>
            <p:spPr>
              <a:xfrm>
                <a:off x="6179890" y="2464923"/>
                <a:ext cx="53730" cy="5373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8" name="SCHEM_ellipse-0356"/>
              <p:cNvSpPr/>
              <p:nvPr/>
            </p:nvSpPr>
            <p:spPr>
              <a:xfrm>
                <a:off x="3048522" y="2598254"/>
                <a:ext cx="55044" cy="550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9" name="SCHEM_ellipse-0357"/>
              <p:cNvSpPr/>
              <p:nvPr/>
            </p:nvSpPr>
            <p:spPr>
              <a:xfrm>
                <a:off x="6500321" y="4649063"/>
                <a:ext cx="60511" cy="6051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0" name="SCHEM_ellipse-0358"/>
              <p:cNvSpPr/>
              <p:nvPr/>
            </p:nvSpPr>
            <p:spPr>
              <a:xfrm>
                <a:off x="7321025" y="3703936"/>
                <a:ext cx="29053" cy="2905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1" name="SCHEM_ellipse-0359"/>
              <p:cNvSpPr/>
              <p:nvPr/>
            </p:nvSpPr>
            <p:spPr>
              <a:xfrm>
                <a:off x="6687941" y="3868419"/>
                <a:ext cx="26775" cy="2677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2" name="SCHEM_ellipse-0360"/>
              <p:cNvSpPr/>
              <p:nvPr/>
            </p:nvSpPr>
            <p:spPr>
              <a:xfrm>
                <a:off x="3795466" y="3995311"/>
                <a:ext cx="42048" cy="4204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3" name="SCHEM_ellipse-0361"/>
              <p:cNvSpPr/>
              <p:nvPr/>
            </p:nvSpPr>
            <p:spPr>
              <a:xfrm>
                <a:off x="3929673" y="5166345"/>
                <a:ext cx="32152" cy="3215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4" name="SCHEM_ellipse-0362"/>
              <p:cNvSpPr/>
              <p:nvPr/>
            </p:nvSpPr>
            <p:spPr>
              <a:xfrm>
                <a:off x="7358566" y="3817818"/>
                <a:ext cx="141419" cy="14141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5" name="SCHEM_ellipse-0363"/>
              <p:cNvSpPr/>
              <p:nvPr/>
            </p:nvSpPr>
            <p:spPr>
              <a:xfrm>
                <a:off x="6699221" y="2313562"/>
                <a:ext cx="31968" cy="3196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6" name="SCHEM_ellipse-0364"/>
              <p:cNvSpPr/>
              <p:nvPr/>
            </p:nvSpPr>
            <p:spPr>
              <a:xfrm>
                <a:off x="7106133" y="3170928"/>
                <a:ext cx="46265" cy="4626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7" name="SCHEM_ellipse-0365"/>
              <p:cNvSpPr/>
              <p:nvPr/>
            </p:nvSpPr>
            <p:spPr>
              <a:xfrm>
                <a:off x="6555750" y="3790669"/>
                <a:ext cx="57453" cy="5745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8" name="SCHEM_ellipse-0366"/>
              <p:cNvSpPr/>
              <p:nvPr/>
            </p:nvSpPr>
            <p:spPr>
              <a:xfrm>
                <a:off x="6434581" y="2023583"/>
                <a:ext cx="57694" cy="5769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9" name="SCHEM_ellipse-0367"/>
              <p:cNvSpPr/>
              <p:nvPr/>
            </p:nvSpPr>
            <p:spPr>
              <a:xfrm>
                <a:off x="6803760" y="2100490"/>
                <a:ext cx="20284" cy="202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0" name="SCHEM_ellipse-0368"/>
              <p:cNvSpPr/>
              <p:nvPr/>
            </p:nvSpPr>
            <p:spPr>
              <a:xfrm>
                <a:off x="7347257" y="2251595"/>
                <a:ext cx="47797" cy="4779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1" name="SCHEM_ellipse-0369"/>
              <p:cNvSpPr/>
              <p:nvPr/>
            </p:nvSpPr>
            <p:spPr>
              <a:xfrm>
                <a:off x="4376838" y="2041648"/>
                <a:ext cx="101269" cy="10126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2" name="SCHEM_ellipse-0370"/>
              <p:cNvSpPr/>
              <p:nvPr/>
            </p:nvSpPr>
            <p:spPr>
              <a:xfrm>
                <a:off x="3376004" y="4692737"/>
                <a:ext cx="60054" cy="600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3" name="SCHEM_ellipse-0371"/>
              <p:cNvSpPr/>
              <p:nvPr/>
            </p:nvSpPr>
            <p:spPr>
              <a:xfrm>
                <a:off x="6736581" y="2110320"/>
                <a:ext cx="36935" cy="3693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4" name="SCHEM_ellipse-0372"/>
              <p:cNvSpPr/>
              <p:nvPr/>
            </p:nvSpPr>
            <p:spPr>
              <a:xfrm>
                <a:off x="3483996" y="4696694"/>
                <a:ext cx="70717" cy="7071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5" name="SCHEM_ellipse-0373"/>
              <p:cNvSpPr/>
              <p:nvPr/>
            </p:nvSpPr>
            <p:spPr>
              <a:xfrm>
                <a:off x="7472190" y="4649506"/>
                <a:ext cx="121714" cy="12171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6" name="SCHEM_ellipse-0374"/>
              <p:cNvSpPr/>
              <p:nvPr/>
            </p:nvSpPr>
            <p:spPr>
              <a:xfrm>
                <a:off x="5395474" y="1998114"/>
                <a:ext cx="21851" cy="2185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7" name="SCHEM_ellipse-0375"/>
              <p:cNvSpPr/>
              <p:nvPr/>
            </p:nvSpPr>
            <p:spPr>
              <a:xfrm>
                <a:off x="5944007" y="5114845"/>
                <a:ext cx="71016" cy="7101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8" name="SCHEM_path-0376"/>
              <p:cNvSpPr/>
              <p:nvPr/>
            </p:nvSpPr>
            <p:spPr>
              <a:xfrm>
                <a:off x="4141721" y="2446672"/>
                <a:ext cx="1432304" cy="2255632"/>
              </a:xfrm>
              <a:custGeom>
                <a:avLst/>
                <a:gdLst/>
                <a:ahLst/>
                <a:cxnLst/>
                <a:rect l="0" t="0" r="r" b="b"/>
                <a:pathLst>
                  <a:path w="1432304" h="2255632">
                    <a:moveTo>
                      <a:pt x="1431587" y="1095728"/>
                    </a:moveTo>
                    <a:cubicBezTo>
                      <a:pt x="1432304" y="1238584"/>
                      <a:pt x="1375884" y="1377814"/>
                      <a:pt x="1343686" y="1525807"/>
                    </a:cubicBezTo>
                    <a:cubicBezTo>
                      <a:pt x="1311487" y="1673799"/>
                      <a:pt x="1306488" y="1891172"/>
                      <a:pt x="1238398" y="1983682"/>
                    </a:cubicBezTo>
                    <a:cubicBezTo>
                      <a:pt x="1170308" y="2076191"/>
                      <a:pt x="1032251" y="2036046"/>
                      <a:pt x="935146" y="2080863"/>
                    </a:cubicBezTo>
                    <a:cubicBezTo>
                      <a:pt x="838041" y="2125681"/>
                      <a:pt x="748363" y="2255632"/>
                      <a:pt x="655770" y="2252588"/>
                    </a:cubicBezTo>
                    <a:cubicBezTo>
                      <a:pt x="563176" y="2249544"/>
                      <a:pt x="454774" y="2154323"/>
                      <a:pt x="379586" y="2062599"/>
                    </a:cubicBezTo>
                    <a:cubicBezTo>
                      <a:pt x="304399" y="1970875"/>
                      <a:pt x="264941" y="1823350"/>
                      <a:pt x="204646" y="1702242"/>
                    </a:cubicBezTo>
                    <a:cubicBezTo>
                      <a:pt x="144351" y="1581135"/>
                      <a:pt x="35634" y="1472598"/>
                      <a:pt x="17817" y="1335952"/>
                    </a:cubicBezTo>
                    <a:cubicBezTo>
                      <a:pt x="0" y="1199305"/>
                      <a:pt x="75413" y="1033603"/>
                      <a:pt x="97745" y="882364"/>
                    </a:cubicBezTo>
                    <a:cubicBezTo>
                      <a:pt x="120076" y="731124"/>
                      <a:pt x="100543" y="542363"/>
                      <a:pt x="151803" y="428517"/>
                    </a:cubicBezTo>
                    <a:cubicBezTo>
                      <a:pt x="203064" y="314671"/>
                      <a:pt x="319963" y="260609"/>
                      <a:pt x="405306" y="199285"/>
                    </a:cubicBezTo>
                    <a:cubicBezTo>
                      <a:pt x="490649" y="137962"/>
                      <a:pt x="572401" y="90697"/>
                      <a:pt x="663861" y="60574"/>
                    </a:cubicBezTo>
                    <a:cubicBezTo>
                      <a:pt x="755320" y="30450"/>
                      <a:pt x="854896" y="0"/>
                      <a:pt x="954064" y="18544"/>
                    </a:cubicBezTo>
                    <a:cubicBezTo>
                      <a:pt x="1053231" y="37088"/>
                      <a:pt x="1194645" y="63482"/>
                      <a:pt x="1258866" y="171837"/>
                    </a:cubicBezTo>
                    <a:cubicBezTo>
                      <a:pt x="1323087" y="280192"/>
                      <a:pt x="1310602" y="514692"/>
                      <a:pt x="1339389" y="668674"/>
                    </a:cubicBezTo>
                    <a:cubicBezTo>
                      <a:pt x="1368176" y="822656"/>
                      <a:pt x="1430871" y="952873"/>
                      <a:pt x="1431587" y="1095728"/>
                    </a:cubicBezTo>
                    <a:close/>
                  </a:path>
                </a:pathLst>
              </a:custGeom>
              <a:solidFill>
                <a:srgbClr val="E9C2B6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379" name="SCHEM_ellipse-0377"/>
              <p:cNvSpPr/>
              <p:nvPr/>
            </p:nvSpPr>
            <p:spPr>
              <a:xfrm>
                <a:off x="5163784" y="4468403"/>
                <a:ext cx="42040" cy="42040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0" name="SCHEM_ellipse-0378"/>
              <p:cNvSpPr/>
              <p:nvPr/>
            </p:nvSpPr>
            <p:spPr>
              <a:xfrm>
                <a:off x="4567336" y="2866802"/>
                <a:ext cx="63301" cy="63301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1" name="SCHEM_ellipse-0379"/>
              <p:cNvSpPr/>
              <p:nvPr/>
            </p:nvSpPr>
            <p:spPr>
              <a:xfrm>
                <a:off x="4895185" y="4067636"/>
                <a:ext cx="68364" cy="68364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2" name="SCHEM_ellipse-0380"/>
              <p:cNvSpPr/>
              <p:nvPr/>
            </p:nvSpPr>
            <p:spPr>
              <a:xfrm>
                <a:off x="4893908" y="4112946"/>
                <a:ext cx="52362" cy="52362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3" name="SCHEM_ellipse-0381"/>
              <p:cNvSpPr/>
              <p:nvPr/>
            </p:nvSpPr>
            <p:spPr>
              <a:xfrm>
                <a:off x="4773252" y="4401406"/>
                <a:ext cx="73757" cy="73757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4" name="SCHEM_ellipse-0382"/>
              <p:cNvSpPr/>
              <p:nvPr/>
            </p:nvSpPr>
            <p:spPr>
              <a:xfrm>
                <a:off x="4960769" y="2699510"/>
                <a:ext cx="83570" cy="83570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5" name="SCHEM_ellipse-0383"/>
              <p:cNvSpPr/>
              <p:nvPr/>
            </p:nvSpPr>
            <p:spPr>
              <a:xfrm>
                <a:off x="4323109" y="3534526"/>
                <a:ext cx="71982" cy="71982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6" name="SCHEM_ellipse-0384"/>
              <p:cNvSpPr/>
              <p:nvPr/>
            </p:nvSpPr>
            <p:spPr>
              <a:xfrm>
                <a:off x="4882276" y="2463706"/>
                <a:ext cx="49648" cy="49648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7" name="SCHEM_ellipse-0385"/>
              <p:cNvSpPr/>
              <p:nvPr/>
            </p:nvSpPr>
            <p:spPr>
              <a:xfrm>
                <a:off x="4723696" y="3088421"/>
                <a:ext cx="45507" cy="45507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8" name="SCHEM_ellipse-0386"/>
              <p:cNvSpPr/>
              <p:nvPr/>
            </p:nvSpPr>
            <p:spPr>
              <a:xfrm>
                <a:off x="4286160" y="4051192"/>
                <a:ext cx="65395" cy="65395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9" name="SCHEM_ellipse-0387"/>
              <p:cNvSpPr/>
              <p:nvPr/>
            </p:nvSpPr>
            <p:spPr>
              <a:xfrm>
                <a:off x="4769440" y="2489897"/>
                <a:ext cx="75441" cy="75441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0" name="SCHEM_ellipse-0388"/>
              <p:cNvSpPr/>
              <p:nvPr/>
            </p:nvSpPr>
            <p:spPr>
              <a:xfrm>
                <a:off x="4794776" y="4005578"/>
                <a:ext cx="69306" cy="69306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1" name="SCHEM_ellipse-0389"/>
              <p:cNvSpPr/>
              <p:nvPr/>
            </p:nvSpPr>
            <p:spPr>
              <a:xfrm>
                <a:off x="4305253" y="3644594"/>
                <a:ext cx="68696" cy="68696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2" name="SCHEM_ellipse-0390"/>
              <p:cNvSpPr/>
              <p:nvPr/>
            </p:nvSpPr>
            <p:spPr>
              <a:xfrm>
                <a:off x="4389198" y="3020805"/>
                <a:ext cx="55003" cy="55003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3" name="SCHEM_ellipse-0391"/>
              <p:cNvSpPr/>
              <p:nvPr/>
            </p:nvSpPr>
            <p:spPr>
              <a:xfrm>
                <a:off x="4627113" y="3104070"/>
                <a:ext cx="84447" cy="84447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4" name="SCHEM_ellipse-0392"/>
              <p:cNvSpPr/>
              <p:nvPr/>
            </p:nvSpPr>
            <p:spPr>
              <a:xfrm>
                <a:off x="5376281" y="3521970"/>
                <a:ext cx="48270" cy="48270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5" name="SCHEM_ellipse-0393"/>
              <p:cNvSpPr/>
              <p:nvPr/>
            </p:nvSpPr>
            <p:spPr>
              <a:xfrm>
                <a:off x="4955577" y="4483118"/>
                <a:ext cx="69623" cy="69623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6" name="SCHEM_ellipse-0394"/>
              <p:cNvSpPr/>
              <p:nvPr/>
            </p:nvSpPr>
            <p:spPr>
              <a:xfrm>
                <a:off x="4311706" y="3590881"/>
                <a:ext cx="81276" cy="81276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7" name="SCHEM_ellipse-0395"/>
              <p:cNvSpPr/>
              <p:nvPr/>
            </p:nvSpPr>
            <p:spPr>
              <a:xfrm>
                <a:off x="4672573" y="3807990"/>
                <a:ext cx="56639" cy="56639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8" name="SCHEM_ellipse-0396"/>
              <p:cNvSpPr/>
              <p:nvPr/>
            </p:nvSpPr>
            <p:spPr>
              <a:xfrm>
                <a:off x="5064321" y="3212300"/>
                <a:ext cx="52799" cy="52799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9" name="SCHEM_ellipse-0397"/>
              <p:cNvSpPr/>
              <p:nvPr/>
            </p:nvSpPr>
            <p:spPr>
              <a:xfrm>
                <a:off x="4973126" y="4402547"/>
                <a:ext cx="72252" cy="72252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0" name="SCHEM_ellipse-0398"/>
              <p:cNvSpPr/>
              <p:nvPr/>
            </p:nvSpPr>
            <p:spPr>
              <a:xfrm>
                <a:off x="4542020" y="2576092"/>
                <a:ext cx="85201" cy="85201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1" name="SCHEM_ellipse-0399"/>
              <p:cNvSpPr/>
              <p:nvPr/>
            </p:nvSpPr>
            <p:spPr>
              <a:xfrm>
                <a:off x="4643724" y="3733476"/>
                <a:ext cx="74920" cy="74920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2" name="SCHEM_ellipse-0400"/>
              <p:cNvSpPr/>
              <p:nvPr/>
            </p:nvSpPr>
            <p:spPr>
              <a:xfrm>
                <a:off x="4586322" y="3020637"/>
                <a:ext cx="52298" cy="52298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3" name="SCHEM_ellipse-0401"/>
              <p:cNvSpPr/>
              <p:nvPr/>
            </p:nvSpPr>
            <p:spPr>
              <a:xfrm>
                <a:off x="4815124" y="3317105"/>
                <a:ext cx="80257" cy="80257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4" name="SCHEM_ellipse-0402"/>
              <p:cNvSpPr/>
              <p:nvPr/>
            </p:nvSpPr>
            <p:spPr>
              <a:xfrm>
                <a:off x="5283190" y="2733781"/>
                <a:ext cx="53691" cy="53691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5" name="SCHEM_ellipse-0403"/>
              <p:cNvSpPr/>
              <p:nvPr/>
            </p:nvSpPr>
            <p:spPr>
              <a:xfrm>
                <a:off x="4752075" y="4538881"/>
                <a:ext cx="78858" cy="78858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6" name="SCHEM_ellipse-0404"/>
              <p:cNvSpPr/>
              <p:nvPr/>
            </p:nvSpPr>
            <p:spPr>
              <a:xfrm>
                <a:off x="4746883" y="4268496"/>
                <a:ext cx="46051" cy="46051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7" name="SCHEM_ellipse-0405"/>
              <p:cNvSpPr/>
              <p:nvPr/>
            </p:nvSpPr>
            <p:spPr>
              <a:xfrm>
                <a:off x="4358016" y="4254485"/>
                <a:ext cx="82361" cy="82361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8" name="SCHEM_ellipse-0406"/>
              <p:cNvSpPr/>
              <p:nvPr/>
            </p:nvSpPr>
            <p:spPr>
              <a:xfrm>
                <a:off x="4734070" y="3201812"/>
                <a:ext cx="42182" cy="42182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9" name="SCHEM_ellipse-0407"/>
              <p:cNvSpPr/>
              <p:nvPr/>
            </p:nvSpPr>
            <p:spPr>
              <a:xfrm>
                <a:off x="4635087" y="3915886"/>
                <a:ext cx="56823" cy="56823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10" name="SCHEM_ellipse-0408"/>
              <p:cNvSpPr/>
              <p:nvPr/>
            </p:nvSpPr>
            <p:spPr>
              <a:xfrm>
                <a:off x="5032800" y="2736000"/>
                <a:ext cx="172800" cy="1728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  <p:sp>
            <p:nvSpPr>
              <p:cNvPr id="411" name="SCHEM_ellipse-0409"/>
              <p:cNvSpPr/>
              <p:nvPr/>
            </p:nvSpPr>
            <p:spPr>
              <a:xfrm>
                <a:off x="4737600" y="2966400"/>
                <a:ext cx="187200" cy="1872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  <p:sp>
            <p:nvSpPr>
              <p:cNvPr id="412" name="SCHEM_ellipse-0410"/>
              <p:cNvSpPr/>
              <p:nvPr/>
            </p:nvSpPr>
            <p:spPr>
              <a:xfrm>
                <a:off x="4730400" y="3297600"/>
                <a:ext cx="86400" cy="864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  <p:sp>
            <p:nvSpPr>
              <p:cNvPr id="413" name="SCHEM_ellipse-0411"/>
              <p:cNvSpPr/>
              <p:nvPr/>
            </p:nvSpPr>
            <p:spPr>
              <a:xfrm>
                <a:off x="4500000" y="3513600"/>
                <a:ext cx="172800" cy="1728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  <p:sp>
            <p:nvSpPr>
              <p:cNvPr id="414" name="SCHEM_ellipse-0412"/>
              <p:cNvSpPr/>
              <p:nvPr/>
            </p:nvSpPr>
            <p:spPr>
              <a:xfrm>
                <a:off x="4831200" y="3520800"/>
                <a:ext cx="172800" cy="1728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  <p:sp>
            <p:nvSpPr>
              <p:cNvPr id="415" name="SCHEM_ellipse-0413"/>
              <p:cNvSpPr/>
              <p:nvPr/>
            </p:nvSpPr>
            <p:spPr>
              <a:xfrm>
                <a:off x="4413600" y="3844800"/>
                <a:ext cx="244800" cy="2448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  <p:sp>
            <p:nvSpPr>
              <p:cNvPr id="416" name="SCHEM_ellipse-0414"/>
              <p:cNvSpPr/>
              <p:nvPr/>
            </p:nvSpPr>
            <p:spPr>
              <a:xfrm>
                <a:off x="4809600" y="4154400"/>
                <a:ext cx="216000" cy="2160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</p:grpSp>
        <p:grpSp>
          <p:nvGrpSpPr>
            <p:cNvPr id="417" name="SCHEM_water-bearing-crack"/>
            <p:cNvGrpSpPr/>
            <p:nvPr/>
          </p:nvGrpSpPr>
          <p:grpSpPr>
            <a:xfrm>
              <a:off x="5342400" y="1418400"/>
              <a:ext cx="727200" cy="3960000"/>
              <a:chOff x="5342400" y="1418400"/>
              <a:chExt cx="727200" cy="3960000"/>
            </a:xfrm>
          </p:grpSpPr>
          <p:sp>
            <p:nvSpPr>
              <p:cNvPr id="418" name="SCHEM_path-0416"/>
              <p:cNvSpPr/>
              <p:nvPr/>
            </p:nvSpPr>
            <p:spPr>
              <a:xfrm>
                <a:off x="5342400" y="1418400"/>
                <a:ext cx="612000" cy="3960000"/>
              </a:xfrm>
              <a:custGeom>
                <a:avLst/>
                <a:gdLst/>
                <a:ahLst/>
                <a:cxnLst/>
                <a:rect l="0" t="0" r="r" b="b"/>
                <a:pathLst>
                  <a:path w="612000" h="3960000">
                    <a:moveTo>
                      <a:pt x="36000" y="0"/>
                    </a:moveTo>
                    <a:lnTo>
                      <a:pt x="0" y="237600"/>
                    </a:lnTo>
                    <a:cubicBezTo>
                      <a:pt x="57600" y="338400"/>
                      <a:pt x="144000" y="360000"/>
                      <a:pt x="115200" y="597600"/>
                    </a:cubicBezTo>
                    <a:cubicBezTo>
                      <a:pt x="165600" y="799200"/>
                      <a:pt x="36000" y="928800"/>
                      <a:pt x="72000" y="1094400"/>
                    </a:cubicBezTo>
                    <a:cubicBezTo>
                      <a:pt x="115200" y="1274400"/>
                      <a:pt x="280800" y="1483200"/>
                      <a:pt x="230400" y="1684800"/>
                    </a:cubicBezTo>
                    <a:cubicBezTo>
                      <a:pt x="345600" y="1872000"/>
                      <a:pt x="230400" y="2059200"/>
                      <a:pt x="223200" y="2260800"/>
                    </a:cubicBezTo>
                    <a:cubicBezTo>
                      <a:pt x="208800" y="2505600"/>
                      <a:pt x="93600" y="2678400"/>
                      <a:pt x="115200" y="2844000"/>
                    </a:cubicBezTo>
                    <a:cubicBezTo>
                      <a:pt x="64800" y="3052800"/>
                      <a:pt x="144000" y="3196800"/>
                      <a:pt x="115200" y="3348000"/>
                    </a:cubicBezTo>
                    <a:cubicBezTo>
                      <a:pt x="115200" y="3549600"/>
                      <a:pt x="252000" y="3614400"/>
                      <a:pt x="129600" y="3772800"/>
                    </a:cubicBezTo>
                    <a:lnTo>
                      <a:pt x="144000" y="3960000"/>
                    </a:lnTo>
                    <a:lnTo>
                      <a:pt x="374400" y="3960000"/>
                    </a:lnTo>
                    <a:cubicBezTo>
                      <a:pt x="338400" y="3751200"/>
                      <a:pt x="554400" y="3686400"/>
                      <a:pt x="439200" y="3484800"/>
                    </a:cubicBezTo>
                    <a:cubicBezTo>
                      <a:pt x="345600" y="3283200"/>
                      <a:pt x="417600" y="3124800"/>
                      <a:pt x="410400" y="2966400"/>
                    </a:cubicBezTo>
                    <a:cubicBezTo>
                      <a:pt x="482400" y="2743200"/>
                      <a:pt x="504000" y="2548800"/>
                      <a:pt x="540000" y="2340000"/>
                    </a:cubicBezTo>
                    <a:cubicBezTo>
                      <a:pt x="612000" y="2145600"/>
                      <a:pt x="475200" y="2001600"/>
                      <a:pt x="518400" y="1807200"/>
                    </a:cubicBezTo>
                    <a:cubicBezTo>
                      <a:pt x="561600" y="1605600"/>
                      <a:pt x="532800" y="1483200"/>
                      <a:pt x="496800" y="1317600"/>
                    </a:cubicBezTo>
                    <a:cubicBezTo>
                      <a:pt x="518400" y="1116000"/>
                      <a:pt x="410400" y="1000800"/>
                      <a:pt x="396000" y="864000"/>
                    </a:cubicBezTo>
                    <a:cubicBezTo>
                      <a:pt x="352800" y="684000"/>
                      <a:pt x="525600" y="561600"/>
                      <a:pt x="475200" y="388800"/>
                    </a:cubicBezTo>
                    <a:cubicBezTo>
                      <a:pt x="374400" y="266400"/>
                      <a:pt x="396000" y="115200"/>
                      <a:pt x="3816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CDAEF"/>
                  </a:gs>
                  <a:gs pos="60000">
                    <a:srgbClr val="75C5E7"/>
                  </a:gs>
                  <a:gs pos="100000">
                    <a:srgbClr val="A7DDF0"/>
                  </a:gs>
                </a:gsLst>
                <a:lin ang="5400000" scaled="1"/>
              </a:gradFill>
              <a:ln w="8640" cap="flat">
                <a:solidFill>
                  <a:srgbClr val="225A78"/>
                </a:solidFill>
              </a:ln>
              <a:effectLst/>
            </p:spPr>
          </p:sp>
          <p:sp>
            <p:nvSpPr>
              <p:cNvPr id="419" name="SCHEM_path-0417"/>
              <p:cNvSpPr/>
              <p:nvPr/>
            </p:nvSpPr>
            <p:spPr>
              <a:xfrm>
                <a:off x="5673600" y="2052000"/>
                <a:ext cx="396000" cy="1044000"/>
              </a:xfrm>
              <a:custGeom>
                <a:avLst/>
                <a:gdLst/>
                <a:ahLst/>
                <a:cxnLst/>
                <a:rect l="0" t="0" r="r" b="b"/>
                <a:pathLst>
                  <a:path w="396000" h="1044000">
                    <a:moveTo>
                      <a:pt x="86400" y="0"/>
                    </a:moveTo>
                    <a:cubicBezTo>
                      <a:pt x="266400" y="208800"/>
                      <a:pt x="122400" y="367200"/>
                      <a:pt x="223200" y="547200"/>
                    </a:cubicBezTo>
                    <a:cubicBezTo>
                      <a:pt x="266400" y="684000"/>
                      <a:pt x="381600" y="669600"/>
                      <a:pt x="396000" y="914400"/>
                    </a:cubicBezTo>
                    <a:lnTo>
                      <a:pt x="208800" y="1044000"/>
                    </a:lnTo>
                    <a:cubicBezTo>
                      <a:pt x="230400" y="864000"/>
                      <a:pt x="100800" y="691200"/>
                      <a:pt x="50400" y="532800"/>
                    </a:cubicBezTo>
                    <a:cubicBezTo>
                      <a:pt x="0" y="374400"/>
                      <a:pt x="100800" y="223200"/>
                      <a:pt x="86400" y="0"/>
                    </a:cubicBezTo>
                    <a:close/>
                  </a:path>
                </a:pathLst>
              </a:custGeom>
              <a:solidFill>
                <a:srgbClr val="BDC9A2"/>
              </a:solidFill>
              <a:ln w="7200" cap="flat">
                <a:solidFill>
                  <a:srgbClr val="677256"/>
                </a:solidFill>
              </a:ln>
              <a:effectLst/>
            </p:spPr>
          </p:sp>
          <p:sp>
            <p:nvSpPr>
              <p:cNvPr id="420" name="SCHEM_path-0418"/>
              <p:cNvSpPr/>
              <p:nvPr/>
            </p:nvSpPr>
            <p:spPr>
              <a:xfrm>
                <a:off x="5565600" y="3441600"/>
                <a:ext cx="504000" cy="1274400"/>
              </a:xfrm>
              <a:custGeom>
                <a:avLst/>
                <a:gdLst/>
                <a:ahLst/>
                <a:cxnLst/>
                <a:rect l="0" t="0" r="r" b="b"/>
                <a:pathLst>
                  <a:path w="504000" h="1274400">
                    <a:moveTo>
                      <a:pt x="295200" y="36000"/>
                    </a:moveTo>
                    <a:cubicBezTo>
                      <a:pt x="345600" y="64800"/>
                      <a:pt x="446400" y="0"/>
                      <a:pt x="482400" y="57600"/>
                    </a:cubicBezTo>
                    <a:cubicBezTo>
                      <a:pt x="504000" y="316800"/>
                      <a:pt x="309600" y="417600"/>
                      <a:pt x="302400" y="590400"/>
                    </a:cubicBezTo>
                    <a:cubicBezTo>
                      <a:pt x="266400" y="813600"/>
                      <a:pt x="115200" y="1036800"/>
                      <a:pt x="180000" y="1274400"/>
                    </a:cubicBezTo>
                    <a:cubicBezTo>
                      <a:pt x="0" y="1159200"/>
                      <a:pt x="100800" y="950400"/>
                      <a:pt x="79200" y="813600"/>
                    </a:cubicBezTo>
                    <a:cubicBezTo>
                      <a:pt x="108000" y="619200"/>
                      <a:pt x="201600" y="511200"/>
                      <a:pt x="208800" y="345600"/>
                    </a:cubicBezTo>
                    <a:close/>
                  </a:path>
                </a:pathLst>
              </a:custGeom>
              <a:solidFill>
                <a:srgbClr val="BAC7A0"/>
              </a:solidFill>
              <a:ln w="7200" cap="flat">
                <a:solidFill>
                  <a:srgbClr val="677256"/>
                </a:solidFill>
              </a:ln>
              <a:effectLst/>
            </p:spPr>
          </p:sp>
          <p:sp>
            <p:nvSpPr>
              <p:cNvPr id="421" name="SCHEM_path-0419"/>
              <p:cNvSpPr/>
              <p:nvPr/>
            </p:nvSpPr>
            <p:spPr>
              <a:xfrm>
                <a:off x="5754835" y="2216575"/>
                <a:ext cx="25668" cy="44590"/>
              </a:xfrm>
              <a:custGeom>
                <a:avLst/>
                <a:gdLst/>
                <a:ahLst/>
                <a:cxnLst/>
                <a:rect l="0" t="0" r="r" b="b"/>
                <a:pathLst>
                  <a:path w="25668" h="44590">
                    <a:moveTo>
                      <a:pt x="25537" y="22625"/>
                    </a:moveTo>
                    <a:cubicBezTo>
                      <a:pt x="25407" y="28628"/>
                      <a:pt x="22329" y="36431"/>
                      <a:pt x="18906" y="39620"/>
                    </a:cubicBezTo>
                    <a:cubicBezTo>
                      <a:pt x="15484" y="42809"/>
                      <a:pt x="8149" y="44590"/>
                      <a:pt x="5001" y="41758"/>
                    </a:cubicBezTo>
                    <a:cubicBezTo>
                      <a:pt x="1853" y="38925"/>
                      <a:pt x="41" y="29056"/>
                      <a:pt x="21" y="22625"/>
                    </a:cubicBezTo>
                    <a:cubicBezTo>
                      <a:pt x="0" y="16194"/>
                      <a:pt x="1599" y="6342"/>
                      <a:pt x="4877" y="3171"/>
                    </a:cubicBezTo>
                    <a:cubicBezTo>
                      <a:pt x="8155" y="0"/>
                      <a:pt x="16245" y="357"/>
                      <a:pt x="19688" y="3599"/>
                    </a:cubicBezTo>
                    <a:cubicBezTo>
                      <a:pt x="23131" y="6842"/>
                      <a:pt x="25668" y="16622"/>
                      <a:pt x="25537" y="22625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2" name="SCHEM_path-0420"/>
              <p:cNvSpPr/>
              <p:nvPr/>
            </p:nvSpPr>
            <p:spPr>
              <a:xfrm>
                <a:off x="5790512" y="2325877"/>
                <a:ext cx="26875" cy="43969"/>
              </a:xfrm>
              <a:custGeom>
                <a:avLst/>
                <a:gdLst/>
                <a:ahLst/>
                <a:cxnLst/>
                <a:rect l="0" t="0" r="r" b="b"/>
                <a:pathLst>
                  <a:path w="26875" h="43969">
                    <a:moveTo>
                      <a:pt x="26718" y="21323"/>
                    </a:moveTo>
                    <a:cubicBezTo>
                      <a:pt x="26875" y="27537"/>
                      <a:pt x="23743" y="38416"/>
                      <a:pt x="20336" y="41193"/>
                    </a:cubicBezTo>
                    <a:cubicBezTo>
                      <a:pt x="16929" y="43969"/>
                      <a:pt x="9647" y="41293"/>
                      <a:pt x="6276" y="37982"/>
                    </a:cubicBezTo>
                    <a:cubicBezTo>
                      <a:pt x="2906" y="34670"/>
                      <a:pt x="226" y="27169"/>
                      <a:pt x="113" y="21323"/>
                    </a:cubicBezTo>
                    <a:cubicBezTo>
                      <a:pt x="0" y="15476"/>
                      <a:pt x="2385" y="5806"/>
                      <a:pt x="5598" y="2903"/>
                    </a:cubicBezTo>
                    <a:cubicBezTo>
                      <a:pt x="8812" y="0"/>
                      <a:pt x="15872" y="836"/>
                      <a:pt x="19392" y="3906"/>
                    </a:cubicBezTo>
                    <a:cubicBezTo>
                      <a:pt x="22912" y="6976"/>
                      <a:pt x="26561" y="15108"/>
                      <a:pt x="26718" y="21323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3" name="SCHEM_path-0421"/>
              <p:cNvSpPr/>
              <p:nvPr/>
            </p:nvSpPr>
            <p:spPr>
              <a:xfrm>
                <a:off x="5790091" y="2456180"/>
                <a:ext cx="25820" cy="41643"/>
              </a:xfrm>
              <a:custGeom>
                <a:avLst/>
                <a:gdLst/>
                <a:ahLst/>
                <a:cxnLst/>
                <a:rect l="0" t="0" r="r" b="b"/>
                <a:pathLst>
                  <a:path w="25820" h="41643">
                    <a:moveTo>
                      <a:pt x="25805" y="20620"/>
                    </a:moveTo>
                    <a:cubicBezTo>
                      <a:pt x="25820" y="26646"/>
                      <a:pt x="23317" y="36000"/>
                      <a:pt x="20114" y="38821"/>
                    </a:cubicBezTo>
                    <a:cubicBezTo>
                      <a:pt x="16912" y="41643"/>
                      <a:pt x="9934" y="40583"/>
                      <a:pt x="6592" y="37549"/>
                    </a:cubicBezTo>
                    <a:cubicBezTo>
                      <a:pt x="3250" y="34516"/>
                      <a:pt x="0" y="26101"/>
                      <a:pt x="62" y="20620"/>
                    </a:cubicBezTo>
                    <a:cubicBezTo>
                      <a:pt x="125" y="15138"/>
                      <a:pt x="3639" y="7654"/>
                      <a:pt x="6966" y="4660"/>
                    </a:cubicBezTo>
                    <a:cubicBezTo>
                      <a:pt x="10293" y="1667"/>
                      <a:pt x="16882" y="0"/>
                      <a:pt x="20021" y="2660"/>
                    </a:cubicBezTo>
                    <a:cubicBezTo>
                      <a:pt x="23161" y="5320"/>
                      <a:pt x="25789" y="14593"/>
                      <a:pt x="25805" y="20620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4" name="SCHEM_path-0422"/>
              <p:cNvSpPr/>
              <p:nvPr/>
            </p:nvSpPr>
            <p:spPr>
              <a:xfrm>
                <a:off x="5823934" y="2628209"/>
                <a:ext cx="29532" cy="43037"/>
              </a:xfrm>
              <a:custGeom>
                <a:avLst/>
                <a:gdLst/>
                <a:ahLst/>
                <a:cxnLst/>
                <a:rect l="0" t="0" r="r" b="b"/>
                <a:pathLst>
                  <a:path w="29532" h="43037">
                    <a:moveTo>
                      <a:pt x="29393" y="21391"/>
                    </a:moveTo>
                    <a:cubicBezTo>
                      <a:pt x="29253" y="27221"/>
                      <a:pt x="25148" y="34643"/>
                      <a:pt x="21580" y="37795"/>
                    </a:cubicBezTo>
                    <a:cubicBezTo>
                      <a:pt x="18012" y="40947"/>
                      <a:pt x="11562" y="43037"/>
                      <a:pt x="7987" y="40303"/>
                    </a:cubicBezTo>
                    <a:cubicBezTo>
                      <a:pt x="4412" y="37569"/>
                      <a:pt x="0" y="27356"/>
                      <a:pt x="130" y="21391"/>
                    </a:cubicBezTo>
                    <a:cubicBezTo>
                      <a:pt x="260" y="15425"/>
                      <a:pt x="5053" y="7604"/>
                      <a:pt x="8768" y="4508"/>
                    </a:cubicBezTo>
                    <a:cubicBezTo>
                      <a:pt x="12482" y="1411"/>
                      <a:pt x="18979" y="0"/>
                      <a:pt x="22416" y="2814"/>
                    </a:cubicBezTo>
                    <a:cubicBezTo>
                      <a:pt x="25854" y="5628"/>
                      <a:pt x="29532" y="15560"/>
                      <a:pt x="29393" y="21391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5" name="SCHEM_path-0423"/>
              <p:cNvSpPr/>
              <p:nvPr/>
            </p:nvSpPr>
            <p:spPr>
              <a:xfrm>
                <a:off x="5890764" y="2792280"/>
                <a:ext cx="26594" cy="44553"/>
              </a:xfrm>
              <a:custGeom>
                <a:avLst/>
                <a:gdLst/>
                <a:ahLst/>
                <a:cxnLst/>
                <a:rect l="0" t="0" r="r" b="b"/>
                <a:pathLst>
                  <a:path w="26594" h="44553">
                    <a:moveTo>
                      <a:pt x="26444" y="22920"/>
                    </a:moveTo>
                    <a:cubicBezTo>
                      <a:pt x="26594" y="28745"/>
                      <a:pt x="23764" y="38582"/>
                      <a:pt x="20414" y="41568"/>
                    </a:cubicBezTo>
                    <a:cubicBezTo>
                      <a:pt x="17064" y="44553"/>
                      <a:pt x="9719" y="43941"/>
                      <a:pt x="6341" y="40833"/>
                    </a:cubicBezTo>
                    <a:cubicBezTo>
                      <a:pt x="2964" y="37725"/>
                      <a:pt x="294" y="29272"/>
                      <a:pt x="147" y="22920"/>
                    </a:cubicBezTo>
                    <a:cubicBezTo>
                      <a:pt x="0" y="16567"/>
                      <a:pt x="2233" y="5435"/>
                      <a:pt x="5461" y="2718"/>
                    </a:cubicBezTo>
                    <a:cubicBezTo>
                      <a:pt x="8688" y="0"/>
                      <a:pt x="16016" y="3246"/>
                      <a:pt x="19513" y="6613"/>
                    </a:cubicBezTo>
                    <a:cubicBezTo>
                      <a:pt x="23010" y="9980"/>
                      <a:pt x="26293" y="17094"/>
                      <a:pt x="26444" y="22920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6" name="SCHEM_path-0424"/>
              <p:cNvSpPr/>
              <p:nvPr/>
            </p:nvSpPr>
            <p:spPr>
              <a:xfrm>
                <a:off x="5933892" y="2908264"/>
                <a:ext cx="26647" cy="43010"/>
              </a:xfrm>
              <a:custGeom>
                <a:avLst/>
                <a:gdLst/>
                <a:ahLst/>
                <a:cxnLst/>
                <a:rect l="0" t="0" r="r" b="b"/>
                <a:pathLst>
                  <a:path w="26647" h="43010">
                    <a:moveTo>
                      <a:pt x="26589" y="22136"/>
                    </a:moveTo>
                    <a:cubicBezTo>
                      <a:pt x="26530" y="28319"/>
                      <a:pt x="23556" y="37445"/>
                      <a:pt x="20271" y="40227"/>
                    </a:cubicBezTo>
                    <a:cubicBezTo>
                      <a:pt x="16987" y="43010"/>
                      <a:pt x="10239" y="41846"/>
                      <a:pt x="6882" y="38830"/>
                    </a:cubicBezTo>
                    <a:cubicBezTo>
                      <a:pt x="3526" y="35815"/>
                      <a:pt x="268" y="28049"/>
                      <a:pt x="134" y="22136"/>
                    </a:cubicBezTo>
                    <a:cubicBezTo>
                      <a:pt x="0" y="16223"/>
                      <a:pt x="2664" y="6521"/>
                      <a:pt x="6079" y="3353"/>
                    </a:cubicBezTo>
                    <a:cubicBezTo>
                      <a:pt x="9493" y="186"/>
                      <a:pt x="17205" y="0"/>
                      <a:pt x="20623" y="3130"/>
                    </a:cubicBezTo>
                    <a:cubicBezTo>
                      <a:pt x="24042" y="6261"/>
                      <a:pt x="26647" y="15953"/>
                      <a:pt x="26589" y="22136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7" name="SCHEM_path-0425"/>
              <p:cNvSpPr/>
              <p:nvPr/>
            </p:nvSpPr>
            <p:spPr>
              <a:xfrm>
                <a:off x="5924541" y="3564545"/>
                <a:ext cx="30904" cy="41539"/>
              </a:xfrm>
              <a:custGeom>
                <a:avLst/>
                <a:gdLst/>
                <a:ahLst/>
                <a:cxnLst/>
                <a:rect l="0" t="0" r="r" b="b"/>
                <a:pathLst>
                  <a:path w="30904" h="41539">
                    <a:moveTo>
                      <a:pt x="30835" y="21055"/>
                    </a:moveTo>
                    <a:cubicBezTo>
                      <a:pt x="30904" y="26809"/>
                      <a:pt x="25906" y="36176"/>
                      <a:pt x="22311" y="38858"/>
                    </a:cubicBezTo>
                    <a:cubicBezTo>
                      <a:pt x="18716" y="41539"/>
                      <a:pt x="12961" y="40111"/>
                      <a:pt x="9266" y="37144"/>
                    </a:cubicBezTo>
                    <a:cubicBezTo>
                      <a:pt x="5571" y="34177"/>
                      <a:pt x="279" y="26781"/>
                      <a:pt x="140" y="21055"/>
                    </a:cubicBezTo>
                    <a:cubicBezTo>
                      <a:pt x="0" y="15328"/>
                      <a:pt x="4802" y="5574"/>
                      <a:pt x="8428" y="2787"/>
                    </a:cubicBezTo>
                    <a:cubicBezTo>
                      <a:pt x="12053" y="0"/>
                      <a:pt x="18160" y="1288"/>
                      <a:pt x="21895" y="4333"/>
                    </a:cubicBezTo>
                    <a:cubicBezTo>
                      <a:pt x="25629" y="7377"/>
                      <a:pt x="30766" y="15300"/>
                      <a:pt x="30835" y="21055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8" name="SCHEM_path-0426"/>
              <p:cNvSpPr/>
              <p:nvPr/>
            </p:nvSpPr>
            <p:spPr>
              <a:xfrm>
                <a:off x="5881958" y="3701603"/>
                <a:ext cx="28773" cy="43369"/>
              </a:xfrm>
              <a:custGeom>
                <a:avLst/>
                <a:gdLst/>
                <a:ahLst/>
                <a:cxnLst/>
                <a:rect l="0" t="0" r="r" b="b"/>
                <a:pathLst>
                  <a:path w="28773" h="43369">
                    <a:moveTo>
                      <a:pt x="28772" y="20797"/>
                    </a:moveTo>
                    <a:cubicBezTo>
                      <a:pt x="28773" y="26243"/>
                      <a:pt x="24731" y="33840"/>
                      <a:pt x="21136" y="37148"/>
                    </a:cubicBezTo>
                    <a:cubicBezTo>
                      <a:pt x="17541" y="40456"/>
                      <a:pt x="10707" y="43369"/>
                      <a:pt x="7203" y="40644"/>
                    </a:cubicBezTo>
                    <a:cubicBezTo>
                      <a:pt x="3700" y="37919"/>
                      <a:pt x="0" y="27117"/>
                      <a:pt x="114" y="20797"/>
                    </a:cubicBezTo>
                    <a:cubicBezTo>
                      <a:pt x="227" y="14476"/>
                      <a:pt x="4383" y="5442"/>
                      <a:pt x="7885" y="2721"/>
                    </a:cubicBezTo>
                    <a:cubicBezTo>
                      <a:pt x="11387" y="0"/>
                      <a:pt x="17645" y="1459"/>
                      <a:pt x="21126" y="4472"/>
                    </a:cubicBezTo>
                    <a:cubicBezTo>
                      <a:pt x="24607" y="7485"/>
                      <a:pt x="28770" y="15351"/>
                      <a:pt x="28772" y="20797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9" name="SCHEM_path-0427"/>
              <p:cNvSpPr/>
              <p:nvPr/>
            </p:nvSpPr>
            <p:spPr>
              <a:xfrm>
                <a:off x="5803511" y="3937046"/>
                <a:ext cx="26591" cy="45070"/>
              </a:xfrm>
              <a:custGeom>
                <a:avLst/>
                <a:gdLst/>
                <a:ahLst/>
                <a:cxnLst/>
                <a:rect l="0" t="0" r="r" b="b"/>
                <a:pathLst>
                  <a:path w="26591" h="45070">
                    <a:moveTo>
                      <a:pt x="26373" y="22954"/>
                    </a:moveTo>
                    <a:cubicBezTo>
                      <a:pt x="26154" y="28946"/>
                      <a:pt x="23645" y="35994"/>
                      <a:pt x="20353" y="39228"/>
                    </a:cubicBezTo>
                    <a:cubicBezTo>
                      <a:pt x="17061" y="42462"/>
                      <a:pt x="10010" y="45070"/>
                      <a:pt x="6620" y="42358"/>
                    </a:cubicBezTo>
                    <a:cubicBezTo>
                      <a:pt x="3231" y="39645"/>
                      <a:pt x="32" y="29464"/>
                      <a:pt x="16" y="22954"/>
                    </a:cubicBezTo>
                    <a:cubicBezTo>
                      <a:pt x="0" y="16444"/>
                      <a:pt x="2915" y="6578"/>
                      <a:pt x="6523" y="3298"/>
                    </a:cubicBezTo>
                    <a:cubicBezTo>
                      <a:pt x="10131" y="18"/>
                      <a:pt x="18355" y="0"/>
                      <a:pt x="21663" y="3276"/>
                    </a:cubicBezTo>
                    <a:cubicBezTo>
                      <a:pt x="24971" y="6552"/>
                      <a:pt x="26591" y="16962"/>
                      <a:pt x="26373" y="22954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30" name="SCHEM_path-0428"/>
              <p:cNvSpPr/>
              <p:nvPr/>
            </p:nvSpPr>
            <p:spPr>
              <a:xfrm>
                <a:off x="5710658" y="4231848"/>
                <a:ext cx="28656" cy="44644"/>
              </a:xfrm>
              <a:custGeom>
                <a:avLst/>
                <a:gdLst/>
                <a:ahLst/>
                <a:cxnLst/>
                <a:rect l="0" t="0" r="r" b="b"/>
                <a:pathLst>
                  <a:path w="28656" h="44644">
                    <a:moveTo>
                      <a:pt x="28468" y="23352"/>
                    </a:moveTo>
                    <a:cubicBezTo>
                      <a:pt x="28279" y="29402"/>
                      <a:pt x="23470" y="36944"/>
                      <a:pt x="19761" y="40029"/>
                    </a:cubicBezTo>
                    <a:cubicBezTo>
                      <a:pt x="16053" y="43115"/>
                      <a:pt x="9494" y="44644"/>
                      <a:pt x="6217" y="41865"/>
                    </a:cubicBezTo>
                    <a:cubicBezTo>
                      <a:pt x="2940" y="39085"/>
                      <a:pt x="201" y="29784"/>
                      <a:pt x="101" y="23352"/>
                    </a:cubicBezTo>
                    <a:cubicBezTo>
                      <a:pt x="0" y="16919"/>
                      <a:pt x="2147" y="6541"/>
                      <a:pt x="5613" y="3270"/>
                    </a:cubicBezTo>
                    <a:cubicBezTo>
                      <a:pt x="9079" y="0"/>
                      <a:pt x="17086" y="383"/>
                      <a:pt x="20895" y="3730"/>
                    </a:cubicBezTo>
                    <a:cubicBezTo>
                      <a:pt x="24704" y="7077"/>
                      <a:pt x="28656" y="17302"/>
                      <a:pt x="28468" y="23352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31" name="SCHEM_path-0429"/>
              <p:cNvSpPr/>
              <p:nvPr/>
            </p:nvSpPr>
            <p:spPr>
              <a:xfrm>
                <a:off x="5703451" y="4436347"/>
                <a:ext cx="27184" cy="40988"/>
              </a:xfrm>
              <a:custGeom>
                <a:avLst/>
                <a:gdLst/>
                <a:ahLst/>
                <a:cxnLst/>
                <a:rect l="0" t="0" r="r" b="b"/>
                <a:pathLst>
                  <a:path w="27184" h="40988">
                    <a:moveTo>
                      <a:pt x="27103" y="20453"/>
                    </a:moveTo>
                    <a:cubicBezTo>
                      <a:pt x="27022" y="26109"/>
                      <a:pt x="23072" y="33822"/>
                      <a:pt x="19637" y="36791"/>
                    </a:cubicBezTo>
                    <a:cubicBezTo>
                      <a:pt x="16202" y="39759"/>
                      <a:pt x="9758" y="40988"/>
                      <a:pt x="6493" y="38265"/>
                    </a:cubicBezTo>
                    <a:cubicBezTo>
                      <a:pt x="3228" y="35542"/>
                      <a:pt x="0" y="26274"/>
                      <a:pt x="45" y="20453"/>
                    </a:cubicBezTo>
                    <a:cubicBezTo>
                      <a:pt x="90" y="14632"/>
                      <a:pt x="3416" y="6273"/>
                      <a:pt x="6762" y="3340"/>
                    </a:cubicBezTo>
                    <a:cubicBezTo>
                      <a:pt x="10109" y="406"/>
                      <a:pt x="16733" y="0"/>
                      <a:pt x="20123" y="2852"/>
                    </a:cubicBezTo>
                    <a:cubicBezTo>
                      <a:pt x="23514" y="5704"/>
                      <a:pt x="27184" y="14797"/>
                      <a:pt x="27103" y="20453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</p:grpSp>
        <p:sp>
          <p:nvSpPr>
            <p:cNvPr id="432" name="SCHEM_text-0430"/>
            <p:cNvSpPr txBox="1"/>
            <p:nvPr/>
          </p:nvSpPr>
          <p:spPr>
            <a:xfrm>
              <a:off x="5061600" y="828000"/>
              <a:ext cx="1080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Water ingress</a:t>
              </a:r>
              <a:endParaRPr lang="en-US" sz="1247"/>
            </a:p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(through crack)</a:t>
              </a:r>
              <a:endParaRPr lang="en-US" sz="1247"/>
            </a:p>
          </p:txBody>
        </p:sp>
        <p:cxnSp>
          <p:nvCxnSpPr>
            <p:cNvPr id="433" name="SCHEM_line-0431"/>
            <p:cNvCxnSpPr/>
            <p:nvPr/>
          </p:nvCxnSpPr>
          <p:spPr>
            <a:xfrm>
              <a:off x="5551200" y="1195200"/>
              <a:ext cx="1" cy="367200"/>
            </a:xfrm>
            <a:prstGeom prst="line">
              <a:avLst/>
            </a:prstGeom>
            <a:noFill/>
            <a:ln w="24480" cap="flat">
              <a:solidFill>
                <a:srgbClr val="147DC3"/>
              </a:solidFill>
              <a:tailEnd type="triangle" w="med" len="med"/>
            </a:ln>
            <a:effectLst/>
          </p:spPr>
        </p:cxnSp>
        <p:sp>
          <p:nvSpPr>
            <p:cNvPr id="434" name="SCHEM_text-0432"/>
            <p:cNvSpPr txBox="1"/>
            <p:nvPr/>
          </p:nvSpPr>
          <p:spPr>
            <a:xfrm>
              <a:off x="6796800" y="1087200"/>
              <a:ext cx="10728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Cement matrix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(with fine grains)</a:t>
              </a:r>
              <a:endParaRPr lang="en-US" sz="1191"/>
            </a:p>
          </p:txBody>
        </p:sp>
        <p:cxnSp>
          <p:nvCxnSpPr>
            <p:cNvPr id="435" name="SCHEM_line-0433"/>
            <p:cNvCxnSpPr/>
            <p:nvPr/>
          </p:nvCxnSpPr>
          <p:spPr>
            <a:xfrm flipH="1">
              <a:off x="6444000" y="1202400"/>
              <a:ext cx="280800" cy="532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436" name="SCHEM_ellipse-0434"/>
            <p:cNvSpPr/>
            <p:nvPr/>
          </p:nvSpPr>
          <p:spPr>
            <a:xfrm>
              <a:off x="6422400" y="1713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437" name="SCHEM_text-0435"/>
            <p:cNvSpPr txBox="1"/>
            <p:nvPr/>
          </p:nvSpPr>
          <p:spPr>
            <a:xfrm>
              <a:off x="3096000" y="2700000"/>
              <a:ext cx="1260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Porous lime clast</a:t>
              </a:r>
              <a:endParaRPr lang="en-US" sz="1247"/>
            </a:p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(Ca-rich reservoir)</a:t>
              </a:r>
              <a:endParaRPr lang="en-US" sz="1247"/>
            </a:p>
          </p:txBody>
        </p:sp>
        <p:cxnSp>
          <p:nvCxnSpPr>
            <p:cNvPr id="438" name="SCHEM_line-0436"/>
            <p:cNvCxnSpPr/>
            <p:nvPr/>
          </p:nvCxnSpPr>
          <p:spPr>
            <a:xfrm>
              <a:off x="4255200" y="2872800"/>
              <a:ext cx="396000" cy="295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439" name="SCHEM_ellipse-0437"/>
            <p:cNvSpPr/>
            <p:nvPr/>
          </p:nvSpPr>
          <p:spPr>
            <a:xfrm>
              <a:off x="4629600" y="3146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440" name="SCHEM_text-0438"/>
            <p:cNvSpPr txBox="1"/>
            <p:nvPr/>
          </p:nvSpPr>
          <p:spPr>
            <a:xfrm>
              <a:off x="6141600" y="2188800"/>
              <a:ext cx="17136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Calcite precipitation</a:t>
              </a:r>
              <a:endParaRPr lang="en-US" sz="1361"/>
            </a:p>
          </p:txBody>
        </p:sp>
        <p:cxnSp>
          <p:nvCxnSpPr>
            <p:cNvPr id="441" name="SCHEM_line-0439"/>
            <p:cNvCxnSpPr/>
            <p:nvPr/>
          </p:nvCxnSpPr>
          <p:spPr>
            <a:xfrm flipH="1">
              <a:off x="5796000" y="2311200"/>
              <a:ext cx="295200" cy="165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442" name="SCHEM_ellipse-0440"/>
            <p:cNvSpPr/>
            <p:nvPr/>
          </p:nvSpPr>
          <p:spPr>
            <a:xfrm>
              <a:off x="5774400" y="2455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443" name="SCHEM_text-0441"/>
            <p:cNvSpPr txBox="1"/>
            <p:nvPr/>
          </p:nvSpPr>
          <p:spPr>
            <a:xfrm>
              <a:off x="3621600" y="3492000"/>
              <a:ext cx="4752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Pores</a:t>
              </a:r>
              <a:endParaRPr lang="en-US" sz="1247"/>
            </a:p>
          </p:txBody>
        </p:sp>
        <p:cxnSp>
          <p:nvCxnSpPr>
            <p:cNvPr id="444" name="SCHEM_line-0442"/>
            <p:cNvCxnSpPr/>
            <p:nvPr/>
          </p:nvCxnSpPr>
          <p:spPr>
            <a:xfrm>
              <a:off x="4024800" y="3585600"/>
              <a:ext cx="496800" cy="28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445" name="SCHEM_ellipse-0443"/>
            <p:cNvSpPr/>
            <p:nvPr/>
          </p:nvSpPr>
          <p:spPr>
            <a:xfrm>
              <a:off x="4500000" y="3592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446" name="SCHEM_line-0444"/>
            <p:cNvCxnSpPr/>
            <p:nvPr/>
          </p:nvCxnSpPr>
          <p:spPr>
            <a:xfrm>
              <a:off x="4024800" y="3585600"/>
              <a:ext cx="446400" cy="324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447" name="SCHEM_ellipse-0445"/>
            <p:cNvSpPr/>
            <p:nvPr/>
          </p:nvSpPr>
          <p:spPr>
            <a:xfrm>
              <a:off x="4449600" y="3888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448" name="SCHEM_ellipse-0446"/>
            <p:cNvSpPr/>
            <p:nvPr/>
          </p:nvSpPr>
          <p:spPr>
            <a:xfrm>
              <a:off x="5220000" y="2908800"/>
              <a:ext cx="302400" cy="302400"/>
            </a:xfrm>
            <a:prstGeom prst="ellipse">
              <a:avLst/>
            </a:prstGeom>
            <a:solidFill>
              <a:srgbClr val="FFFFFF"/>
            </a:solidFill>
            <a:ln w="14400" cap="flat">
              <a:solidFill>
                <a:srgbClr val="1572BD"/>
              </a:solidFill>
            </a:ln>
            <a:effectLst/>
          </p:spPr>
        </p:sp>
        <p:sp>
          <p:nvSpPr>
            <p:cNvPr id="449" name="SCHEM_text-0447"/>
            <p:cNvSpPr txBox="1"/>
            <p:nvPr/>
          </p:nvSpPr>
          <p:spPr>
            <a:xfrm>
              <a:off x="5234400" y="2966400"/>
              <a:ext cx="273600" cy="220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077" b="1">
                  <a:solidFill>
                    <a:srgbClr val="0767AB"/>
                  </a:solidFill>
                  <a:latin typeface="Times New Roman"/>
                  <a:ea typeface="Times New Roman"/>
                  <a:cs typeface="Times New Roman"/>
                </a:rPr>
                <a:t>Ca²⁺</a:t>
              </a:r>
              <a:endParaRPr lang="en-US" sz="1077"/>
            </a:p>
          </p:txBody>
        </p:sp>
        <p:sp>
          <p:nvSpPr>
            <p:cNvPr id="450" name="SCHEM_ellipse-0448"/>
            <p:cNvSpPr/>
            <p:nvPr/>
          </p:nvSpPr>
          <p:spPr>
            <a:xfrm>
              <a:off x="5054400" y="3686400"/>
              <a:ext cx="302400" cy="302400"/>
            </a:xfrm>
            <a:prstGeom prst="ellipse">
              <a:avLst/>
            </a:prstGeom>
            <a:solidFill>
              <a:srgbClr val="FFFFFF"/>
            </a:solidFill>
            <a:ln w="14400" cap="flat">
              <a:solidFill>
                <a:srgbClr val="1572BD"/>
              </a:solidFill>
            </a:ln>
            <a:effectLst/>
          </p:spPr>
        </p:sp>
        <p:sp>
          <p:nvSpPr>
            <p:cNvPr id="451" name="SCHEM_text-0449"/>
            <p:cNvSpPr txBox="1"/>
            <p:nvPr/>
          </p:nvSpPr>
          <p:spPr>
            <a:xfrm>
              <a:off x="5068800" y="3744000"/>
              <a:ext cx="273600" cy="220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077" b="1">
                  <a:solidFill>
                    <a:srgbClr val="0767AB"/>
                  </a:solidFill>
                  <a:latin typeface="Times New Roman"/>
                  <a:ea typeface="Times New Roman"/>
                  <a:cs typeface="Times New Roman"/>
                </a:rPr>
                <a:t>Ca²⁺</a:t>
              </a:r>
              <a:endParaRPr lang="en-US" sz="1077"/>
            </a:p>
          </p:txBody>
        </p:sp>
        <p:sp>
          <p:nvSpPr>
            <p:cNvPr id="452" name="SCHEM_path-0450"/>
            <p:cNvSpPr/>
            <p:nvPr/>
          </p:nvSpPr>
          <p:spPr>
            <a:xfrm>
              <a:off x="5515200" y="3067200"/>
              <a:ext cx="230400" cy="172800"/>
            </a:xfrm>
            <a:custGeom>
              <a:avLst/>
              <a:gdLst/>
              <a:ahLst/>
              <a:cxnLst/>
              <a:rect l="0" t="0" r="r" b="b"/>
              <a:pathLst>
                <a:path w="230400" h="172800">
                  <a:moveTo>
                    <a:pt x="0" y="0"/>
                  </a:moveTo>
                  <a:cubicBezTo>
                    <a:pt x="122400" y="50400"/>
                    <a:pt x="180000" y="122400"/>
                    <a:pt x="230400" y="172800"/>
                  </a:cubicBezTo>
                </a:path>
              </a:pathLst>
            </a:custGeom>
            <a:noFill/>
            <a:ln w="21600" cap="flat">
              <a:solidFill>
                <a:srgbClr val="0879B8"/>
              </a:solidFill>
            </a:ln>
            <a:effectLst/>
          </p:spPr>
        </p:sp>
        <p:cxnSp>
          <p:nvCxnSpPr>
            <p:cNvPr id="453" name="SCHEM_line-0451"/>
            <p:cNvCxnSpPr/>
            <p:nvPr/>
          </p:nvCxnSpPr>
          <p:spPr>
            <a:xfrm>
              <a:off x="5673600" y="3182400"/>
              <a:ext cx="72000" cy="57600"/>
            </a:xfrm>
            <a:prstGeom prst="line">
              <a:avLst/>
            </a:prstGeom>
            <a:noFill/>
            <a:ln w="21600" cap="flat">
              <a:solidFill>
                <a:srgbClr val="0879B8"/>
              </a:solidFill>
              <a:tailEnd type="triangle" w="med" len="med"/>
            </a:ln>
            <a:effectLst/>
          </p:spPr>
        </p:cxnSp>
        <p:sp>
          <p:nvSpPr>
            <p:cNvPr id="454" name="SCHEM_path-0452"/>
            <p:cNvSpPr/>
            <p:nvPr/>
          </p:nvSpPr>
          <p:spPr>
            <a:xfrm>
              <a:off x="5356800" y="3787200"/>
              <a:ext cx="388800" cy="129600"/>
            </a:xfrm>
            <a:custGeom>
              <a:avLst/>
              <a:gdLst/>
              <a:ahLst/>
              <a:cxnLst/>
              <a:rect l="0" t="0" r="r" b="b"/>
              <a:pathLst>
                <a:path w="388800" h="129600">
                  <a:moveTo>
                    <a:pt x="0" y="50400"/>
                  </a:moveTo>
                  <a:cubicBezTo>
                    <a:pt x="180000" y="0"/>
                    <a:pt x="309600" y="36000"/>
                    <a:pt x="388800" y="129600"/>
                  </a:cubicBezTo>
                </a:path>
              </a:pathLst>
            </a:custGeom>
            <a:noFill/>
            <a:ln w="21600" cap="flat">
              <a:solidFill>
                <a:srgbClr val="0879B8"/>
              </a:solidFill>
            </a:ln>
            <a:effectLst/>
          </p:spPr>
        </p:sp>
        <p:cxnSp>
          <p:nvCxnSpPr>
            <p:cNvPr id="455" name="SCHEM_line-0453"/>
            <p:cNvCxnSpPr/>
            <p:nvPr/>
          </p:nvCxnSpPr>
          <p:spPr>
            <a:xfrm>
              <a:off x="5673600" y="3880800"/>
              <a:ext cx="72000" cy="36000"/>
            </a:xfrm>
            <a:prstGeom prst="line">
              <a:avLst/>
            </a:prstGeom>
            <a:noFill/>
            <a:ln w="21600" cap="flat">
              <a:solidFill>
                <a:srgbClr val="0879B8"/>
              </a:solidFill>
              <a:tailEnd type="triangle" w="med" len="med"/>
            </a:ln>
            <a:effectLst/>
          </p:spPr>
        </p:cxnSp>
        <p:sp>
          <p:nvSpPr>
            <p:cNvPr id="456" name="SCHEM_path-0454"/>
            <p:cNvSpPr/>
            <p:nvPr/>
          </p:nvSpPr>
          <p:spPr>
            <a:xfrm>
              <a:off x="5162400" y="3218400"/>
              <a:ext cx="208800" cy="259200"/>
            </a:xfrm>
            <a:custGeom>
              <a:avLst/>
              <a:gdLst/>
              <a:ahLst/>
              <a:cxnLst/>
              <a:rect l="0" t="0" r="r" b="b"/>
              <a:pathLst>
                <a:path w="208800" h="259200">
                  <a:moveTo>
                    <a:pt x="208800" y="0"/>
                  </a:moveTo>
                  <a:cubicBezTo>
                    <a:pt x="172800" y="122400"/>
                    <a:pt x="79200" y="194400"/>
                    <a:pt x="0" y="259200"/>
                  </a:cubicBezTo>
                </a:path>
              </a:pathLst>
            </a:custGeom>
            <a:noFill/>
            <a:ln w="18000" cap="flat">
              <a:solidFill>
                <a:srgbClr val="0879B8"/>
              </a:solidFill>
            </a:ln>
            <a:effectLst/>
          </p:spPr>
        </p:sp>
        <p:cxnSp>
          <p:nvCxnSpPr>
            <p:cNvPr id="457" name="SCHEM_line-0455"/>
            <p:cNvCxnSpPr/>
            <p:nvPr/>
          </p:nvCxnSpPr>
          <p:spPr>
            <a:xfrm flipH="1">
              <a:off x="5162400" y="3420000"/>
              <a:ext cx="50400" cy="57600"/>
            </a:xfrm>
            <a:prstGeom prst="line">
              <a:avLst/>
            </a:prstGeom>
            <a:noFill/>
            <a:ln w="18000" cap="flat">
              <a:solidFill>
                <a:srgbClr val="0879B8"/>
              </a:solidFill>
              <a:tailEnd type="triangle" w="med" len="med"/>
            </a:ln>
            <a:effectLst/>
          </p:spPr>
        </p:cxnSp>
        <p:sp>
          <p:nvSpPr>
            <p:cNvPr id="458" name="SCHEM_text-0456"/>
            <p:cNvSpPr txBox="1"/>
            <p:nvPr/>
          </p:nvSpPr>
          <p:spPr>
            <a:xfrm>
              <a:off x="6379200" y="3103200"/>
              <a:ext cx="14256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174D75"/>
                  </a:solidFill>
                  <a:latin typeface="Times New Roman"/>
                  <a:ea typeface="Times New Roman"/>
                  <a:cs typeface="Times New Roman"/>
                </a:rPr>
                <a:t>Carbonate supply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174D75"/>
                  </a:solidFill>
                  <a:latin typeface="Times New Roman"/>
                  <a:ea typeface="Times New Roman"/>
                  <a:cs typeface="Times New Roman"/>
                </a:rPr>
                <a:t>(from water)</a:t>
              </a:r>
              <a:endParaRPr lang="en-US" sz="1191"/>
            </a:p>
          </p:txBody>
        </p:sp>
        <p:sp>
          <p:nvSpPr>
            <p:cNvPr id="459" name="SCHEM_path-0457"/>
            <p:cNvSpPr/>
            <p:nvPr/>
          </p:nvSpPr>
          <p:spPr>
            <a:xfrm>
              <a:off x="5868000" y="3232800"/>
              <a:ext cx="446400" cy="151200"/>
            </a:xfrm>
            <a:custGeom>
              <a:avLst/>
              <a:gdLst/>
              <a:ahLst/>
              <a:cxnLst/>
              <a:rect l="0" t="0" r="r" b="b"/>
              <a:pathLst>
                <a:path w="446400" h="151200">
                  <a:moveTo>
                    <a:pt x="446400" y="0"/>
                  </a:moveTo>
                  <a:cubicBezTo>
                    <a:pt x="252000" y="7200"/>
                    <a:pt x="115200" y="72000"/>
                    <a:pt x="0" y="151200"/>
                  </a:cubicBezTo>
                </a:path>
              </a:pathLst>
            </a:custGeom>
            <a:noFill/>
            <a:ln w="17280" cap="flat">
              <a:solidFill>
                <a:srgbClr val="0879B8"/>
              </a:solidFill>
            </a:ln>
            <a:effectLst/>
          </p:spPr>
        </p:sp>
        <p:cxnSp>
          <p:nvCxnSpPr>
            <p:cNvPr id="460" name="SCHEM_line-0458"/>
            <p:cNvCxnSpPr/>
            <p:nvPr/>
          </p:nvCxnSpPr>
          <p:spPr>
            <a:xfrm flipH="1">
              <a:off x="5868000" y="3340800"/>
              <a:ext cx="57600" cy="43200"/>
            </a:xfrm>
            <a:prstGeom prst="line">
              <a:avLst/>
            </a:prstGeom>
            <a:noFill/>
            <a:ln w="17280" cap="flat">
              <a:solidFill>
                <a:srgbClr val="0879B8"/>
              </a:solidFill>
              <a:tailEnd type="triangle" w="med" len="med"/>
            </a:ln>
            <a:effectLst/>
          </p:spPr>
        </p:cxnSp>
        <p:sp>
          <p:nvSpPr>
            <p:cNvPr id="461" name="SCHEM_text-0459"/>
            <p:cNvSpPr txBox="1"/>
            <p:nvPr/>
          </p:nvSpPr>
          <p:spPr>
            <a:xfrm>
              <a:off x="6696000" y="4334400"/>
              <a:ext cx="11736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Possible C-A-S-H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formation</a:t>
              </a:r>
              <a:endParaRPr lang="en-US" sz="1191"/>
            </a:p>
          </p:txBody>
        </p:sp>
        <p:sp>
          <p:nvSpPr>
            <p:cNvPr id="462" name="SCHEM_path-0460"/>
            <p:cNvSpPr/>
            <p:nvPr/>
          </p:nvSpPr>
          <p:spPr>
            <a:xfrm>
              <a:off x="6366607" y="4316563"/>
              <a:ext cx="211700" cy="153456"/>
            </a:xfrm>
            <a:custGeom>
              <a:avLst/>
              <a:gdLst/>
              <a:ahLst/>
              <a:cxnLst/>
              <a:rect l="0" t="0" r="r" b="b"/>
              <a:pathLst>
                <a:path w="211700" h="153456">
                  <a:moveTo>
                    <a:pt x="210665" y="75437"/>
                  </a:moveTo>
                  <a:cubicBezTo>
                    <a:pt x="209631" y="92445"/>
                    <a:pt x="185444" y="111079"/>
                    <a:pt x="168032" y="124024"/>
                  </a:cubicBezTo>
                  <a:cubicBezTo>
                    <a:pt x="150620" y="136970"/>
                    <a:pt x="127247" y="152763"/>
                    <a:pt x="106193" y="153110"/>
                  </a:cubicBezTo>
                  <a:cubicBezTo>
                    <a:pt x="85139" y="153456"/>
                    <a:pt x="59337" y="139050"/>
                    <a:pt x="41707" y="126104"/>
                  </a:cubicBezTo>
                  <a:cubicBezTo>
                    <a:pt x="24076" y="113159"/>
                    <a:pt x="0" y="92004"/>
                    <a:pt x="410" y="75437"/>
                  </a:cubicBezTo>
                  <a:cubicBezTo>
                    <a:pt x="820" y="58870"/>
                    <a:pt x="26537" y="39144"/>
                    <a:pt x="44167" y="26702"/>
                  </a:cubicBezTo>
                  <a:cubicBezTo>
                    <a:pt x="61798" y="14261"/>
                    <a:pt x="84514" y="1577"/>
                    <a:pt x="106193" y="788"/>
                  </a:cubicBezTo>
                  <a:cubicBezTo>
                    <a:pt x="127871" y="0"/>
                    <a:pt x="156826" y="9531"/>
                    <a:pt x="174238" y="21972"/>
                  </a:cubicBezTo>
                  <a:cubicBezTo>
                    <a:pt x="191650" y="34414"/>
                    <a:pt x="211700" y="58428"/>
                    <a:pt x="210665" y="75437"/>
                  </a:cubicBezTo>
                  <a:close/>
                </a:path>
              </a:pathLst>
            </a:custGeom>
            <a:solidFill>
              <a:srgbClr val="C9C9C5"/>
            </a:solidFill>
            <a:ln w="5760" cap="flat">
              <a:solidFill>
                <a:srgbClr val="686C65"/>
              </a:solidFill>
            </a:ln>
            <a:effectLst/>
          </p:spPr>
        </p:sp>
        <p:sp>
          <p:nvSpPr>
            <p:cNvPr id="463" name="SCHEM_path-0461"/>
            <p:cNvSpPr/>
            <p:nvPr/>
          </p:nvSpPr>
          <p:spPr>
            <a:xfrm>
              <a:off x="6161892" y="4558106"/>
              <a:ext cx="297222" cy="190905"/>
            </a:xfrm>
            <a:custGeom>
              <a:avLst/>
              <a:gdLst/>
              <a:ahLst/>
              <a:cxnLst/>
              <a:rect l="0" t="0" r="r" b="b"/>
              <a:pathLst>
                <a:path w="297222" h="190905">
                  <a:moveTo>
                    <a:pt x="295204" y="93094"/>
                  </a:moveTo>
                  <a:cubicBezTo>
                    <a:pt x="294562" y="116535"/>
                    <a:pt x="293370" y="145984"/>
                    <a:pt x="269587" y="162277"/>
                  </a:cubicBezTo>
                  <a:cubicBezTo>
                    <a:pt x="245804" y="178571"/>
                    <a:pt x="191618" y="190806"/>
                    <a:pt x="152508" y="190855"/>
                  </a:cubicBezTo>
                  <a:cubicBezTo>
                    <a:pt x="113398" y="190905"/>
                    <a:pt x="60285" y="178867"/>
                    <a:pt x="34927" y="162574"/>
                  </a:cubicBezTo>
                  <a:cubicBezTo>
                    <a:pt x="9570" y="146280"/>
                    <a:pt x="0" y="116040"/>
                    <a:pt x="363" y="93094"/>
                  </a:cubicBezTo>
                  <a:cubicBezTo>
                    <a:pt x="726" y="70149"/>
                    <a:pt x="11747" y="40326"/>
                    <a:pt x="37105" y="24901"/>
                  </a:cubicBezTo>
                  <a:cubicBezTo>
                    <a:pt x="62462" y="9476"/>
                    <a:pt x="113119" y="1089"/>
                    <a:pt x="152508" y="544"/>
                  </a:cubicBezTo>
                  <a:cubicBezTo>
                    <a:pt x="191897" y="0"/>
                    <a:pt x="249657" y="6210"/>
                    <a:pt x="273439" y="21635"/>
                  </a:cubicBezTo>
                  <a:cubicBezTo>
                    <a:pt x="297222" y="37060"/>
                    <a:pt x="295846" y="69654"/>
                    <a:pt x="295204" y="93094"/>
                  </a:cubicBezTo>
                  <a:close/>
                </a:path>
              </a:pathLst>
            </a:custGeom>
            <a:solidFill>
              <a:srgbClr val="C9C9C5"/>
            </a:solidFill>
            <a:ln w="5760" cap="flat">
              <a:solidFill>
                <a:srgbClr val="686C65"/>
              </a:solidFill>
            </a:ln>
            <a:effectLst/>
          </p:spPr>
        </p:sp>
        <p:sp>
          <p:nvSpPr>
            <p:cNvPr id="464" name="SCHEM_path-0462"/>
            <p:cNvSpPr/>
            <p:nvPr/>
          </p:nvSpPr>
          <p:spPr>
            <a:xfrm>
              <a:off x="6520165" y="4616518"/>
              <a:ext cx="126347" cy="83442"/>
            </a:xfrm>
            <a:custGeom>
              <a:avLst/>
              <a:gdLst/>
              <a:ahLst/>
              <a:cxnLst/>
              <a:rect l="0" t="0" r="r" b="b"/>
              <a:pathLst>
                <a:path w="126347" h="83442">
                  <a:moveTo>
                    <a:pt x="125496" y="41882"/>
                  </a:moveTo>
                  <a:cubicBezTo>
                    <a:pt x="126347" y="51835"/>
                    <a:pt x="124789" y="66525"/>
                    <a:pt x="115179" y="73445"/>
                  </a:cubicBezTo>
                  <a:cubicBezTo>
                    <a:pt x="105569" y="80365"/>
                    <a:pt x="83674" y="83364"/>
                    <a:pt x="67835" y="83403"/>
                  </a:cubicBezTo>
                  <a:cubicBezTo>
                    <a:pt x="51995" y="83442"/>
                    <a:pt x="31328" y="80598"/>
                    <a:pt x="20140" y="73678"/>
                  </a:cubicBezTo>
                  <a:cubicBezTo>
                    <a:pt x="8953" y="66758"/>
                    <a:pt x="0" y="52007"/>
                    <a:pt x="710" y="41882"/>
                  </a:cubicBezTo>
                  <a:cubicBezTo>
                    <a:pt x="1420" y="31756"/>
                    <a:pt x="13212" y="19883"/>
                    <a:pt x="24399" y="12925"/>
                  </a:cubicBezTo>
                  <a:cubicBezTo>
                    <a:pt x="35587" y="5967"/>
                    <a:pt x="53556" y="0"/>
                    <a:pt x="67835" y="133"/>
                  </a:cubicBezTo>
                  <a:cubicBezTo>
                    <a:pt x="82113" y="266"/>
                    <a:pt x="100462" y="6766"/>
                    <a:pt x="110072" y="13724"/>
                  </a:cubicBezTo>
                  <a:cubicBezTo>
                    <a:pt x="119682" y="20682"/>
                    <a:pt x="124644" y="31928"/>
                    <a:pt x="125496" y="41882"/>
                  </a:cubicBezTo>
                  <a:close/>
                </a:path>
              </a:pathLst>
            </a:custGeom>
            <a:solidFill>
              <a:srgbClr val="C9C9C5"/>
            </a:solidFill>
            <a:ln w="5760" cap="flat">
              <a:solidFill>
                <a:srgbClr val="686C65"/>
              </a:solidFill>
            </a:ln>
            <a:effectLst/>
          </p:spPr>
        </p:sp>
        <p:sp>
          <p:nvSpPr>
            <p:cNvPr id="465" name="SCHEM_path-0463"/>
            <p:cNvSpPr/>
            <p:nvPr/>
          </p:nvSpPr>
          <p:spPr>
            <a:xfrm>
              <a:off x="6554868" y="4736330"/>
              <a:ext cx="181612" cy="233269"/>
            </a:xfrm>
            <a:custGeom>
              <a:avLst/>
              <a:gdLst/>
              <a:ahLst/>
              <a:cxnLst/>
              <a:rect l="0" t="0" r="r" b="b"/>
              <a:pathLst>
                <a:path w="181612" h="233269">
                  <a:moveTo>
                    <a:pt x="180332" y="123670"/>
                  </a:moveTo>
                  <a:cubicBezTo>
                    <a:pt x="179052" y="149426"/>
                    <a:pt x="159775" y="177859"/>
                    <a:pt x="144842" y="195816"/>
                  </a:cubicBezTo>
                  <a:cubicBezTo>
                    <a:pt x="129909" y="213773"/>
                    <a:pt x="110161" y="229556"/>
                    <a:pt x="90732" y="231412"/>
                  </a:cubicBezTo>
                  <a:cubicBezTo>
                    <a:pt x="71303" y="233269"/>
                    <a:pt x="43360" y="224912"/>
                    <a:pt x="28269" y="206955"/>
                  </a:cubicBezTo>
                  <a:cubicBezTo>
                    <a:pt x="13177" y="188998"/>
                    <a:pt x="366" y="151676"/>
                    <a:pt x="183" y="123670"/>
                  </a:cubicBezTo>
                  <a:cubicBezTo>
                    <a:pt x="0" y="95665"/>
                    <a:pt x="12081" y="59470"/>
                    <a:pt x="27172" y="38923"/>
                  </a:cubicBezTo>
                  <a:cubicBezTo>
                    <a:pt x="42264" y="18377"/>
                    <a:pt x="69841" y="0"/>
                    <a:pt x="90732" y="393"/>
                  </a:cubicBezTo>
                  <a:cubicBezTo>
                    <a:pt x="111624" y="787"/>
                    <a:pt x="137589" y="20738"/>
                    <a:pt x="152522" y="41284"/>
                  </a:cubicBezTo>
                  <a:cubicBezTo>
                    <a:pt x="167456" y="61830"/>
                    <a:pt x="181612" y="97915"/>
                    <a:pt x="180332" y="123670"/>
                  </a:cubicBezTo>
                  <a:close/>
                </a:path>
              </a:pathLst>
            </a:custGeom>
            <a:solidFill>
              <a:srgbClr val="C9C9C5"/>
            </a:solidFill>
            <a:ln w="5760" cap="flat">
              <a:solidFill>
                <a:srgbClr val="686C65"/>
              </a:solidFill>
            </a:ln>
            <a:effectLst/>
          </p:spPr>
        </p:sp>
        <p:sp>
          <p:nvSpPr>
            <p:cNvPr id="466" name="SCHEM_path-0464"/>
            <p:cNvSpPr/>
            <p:nvPr/>
          </p:nvSpPr>
          <p:spPr>
            <a:xfrm>
              <a:off x="5904000" y="4075200"/>
              <a:ext cx="396000" cy="352800"/>
            </a:xfrm>
            <a:custGeom>
              <a:avLst/>
              <a:gdLst/>
              <a:ahLst/>
              <a:cxnLst/>
              <a:rect l="0" t="0" r="r" b="b"/>
              <a:pathLst>
                <a:path w="396000" h="352800">
                  <a:moveTo>
                    <a:pt x="0" y="0"/>
                  </a:moveTo>
                  <a:cubicBezTo>
                    <a:pt x="129600" y="64800"/>
                    <a:pt x="86400" y="288000"/>
                    <a:pt x="396000" y="352800"/>
                  </a:cubicBezTo>
                </a:path>
              </a:pathLst>
            </a:custGeom>
            <a:noFill/>
            <a:ln w="12960" cap="flat">
              <a:solidFill>
                <a:srgbClr val="638152"/>
              </a:solidFill>
              <a:prstDash val="dash"/>
            </a:ln>
            <a:effectLst/>
          </p:spPr>
        </p:sp>
        <p:cxnSp>
          <p:nvCxnSpPr>
            <p:cNvPr id="467" name="SCHEM_line-0465"/>
            <p:cNvCxnSpPr/>
            <p:nvPr/>
          </p:nvCxnSpPr>
          <p:spPr>
            <a:xfrm>
              <a:off x="6242400" y="4406400"/>
              <a:ext cx="57600" cy="21600"/>
            </a:xfrm>
            <a:prstGeom prst="line">
              <a:avLst/>
            </a:prstGeom>
            <a:noFill/>
            <a:ln w="14400" cap="flat">
              <a:solidFill>
                <a:srgbClr val="638152"/>
              </a:solidFill>
              <a:tailEnd type="triangle" w="med" len="med"/>
            </a:ln>
            <a:effectLst/>
          </p:spPr>
        </p:cxnSp>
        <p:grpSp>
          <p:nvGrpSpPr>
            <p:cNvPr id="468" name="SCHEM_hydraulic-comparison"/>
            <p:cNvGrpSpPr/>
            <p:nvPr/>
          </p:nvGrpSpPr>
          <p:grpSpPr>
            <a:xfrm>
              <a:off x="8100000" y="871200"/>
              <a:ext cx="3326400" cy="4586400"/>
              <a:chOff x="8100000" y="871200"/>
              <a:chExt cx="3326400" cy="4586400"/>
            </a:xfrm>
          </p:grpSpPr>
          <p:sp>
            <p:nvSpPr>
              <p:cNvPr id="469" name="SCHEM_rect-0467"/>
              <p:cNvSpPr/>
              <p:nvPr/>
            </p:nvSpPr>
            <p:spPr>
              <a:xfrm>
                <a:off x="8100000" y="871200"/>
                <a:ext cx="3326400" cy="4586400"/>
              </a:xfrm>
              <a:prstGeom prst="rect">
                <a:avLst/>
              </a:prstGeom>
              <a:noFill/>
              <a:ln w="7200" cap="flat">
                <a:solidFill>
                  <a:srgbClr val="7C7C77"/>
                </a:solidFill>
              </a:ln>
              <a:effectLst/>
            </p:spPr>
          </p:sp>
          <p:cxnSp>
            <p:nvCxnSpPr>
              <p:cNvPr id="470" name="SCHEM_line-0468"/>
              <p:cNvCxnSpPr/>
              <p:nvPr/>
            </p:nvCxnSpPr>
            <p:spPr>
              <a:xfrm>
                <a:off x="9640800" y="885600"/>
                <a:ext cx="1" cy="4564800"/>
              </a:xfrm>
              <a:prstGeom prst="line">
                <a:avLst/>
              </a:prstGeom>
              <a:noFill/>
              <a:ln w="7200" cap="flat">
                <a:solidFill>
                  <a:srgbClr val="7C7C77"/>
                </a:solidFill>
              </a:ln>
              <a:effectLst/>
            </p:spPr>
          </p:cxnSp>
          <p:sp>
            <p:nvSpPr>
              <p:cNvPr id="471" name="SCHEM_rect-0469"/>
              <p:cNvSpPr/>
              <p:nvPr/>
            </p:nvSpPr>
            <p:spPr>
              <a:xfrm>
                <a:off x="8200800" y="1432800"/>
                <a:ext cx="1360800" cy="3398400"/>
              </a:xfrm>
              <a:prstGeom prst="rect">
                <a:avLst/>
              </a:prstGeom>
              <a:solidFill>
                <a:srgbClr val="E8E7E2"/>
              </a:solidFill>
              <a:ln w="7200" cap="flat">
                <a:solidFill>
                  <a:srgbClr val="6F716B"/>
                </a:solidFill>
              </a:ln>
              <a:effectLst/>
            </p:spPr>
          </p:sp>
          <p:sp>
            <p:nvSpPr>
              <p:cNvPr id="472" name="SCHEM_ellipse-0470"/>
              <p:cNvSpPr/>
              <p:nvPr/>
            </p:nvSpPr>
            <p:spPr>
              <a:xfrm>
                <a:off x="8845946" y="3348297"/>
                <a:ext cx="134976" cy="13497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3" name="SCHEM_ellipse-0471"/>
              <p:cNvSpPr/>
              <p:nvPr/>
            </p:nvSpPr>
            <p:spPr>
              <a:xfrm>
                <a:off x="9351749" y="4352448"/>
                <a:ext cx="39066" cy="390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4" name="SCHEM_ellipse-0472"/>
              <p:cNvSpPr/>
              <p:nvPr/>
            </p:nvSpPr>
            <p:spPr>
              <a:xfrm>
                <a:off x="9415428" y="2876279"/>
                <a:ext cx="36033" cy="3603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5" name="SCHEM_ellipse-0473"/>
              <p:cNvSpPr/>
              <p:nvPr/>
            </p:nvSpPr>
            <p:spPr>
              <a:xfrm>
                <a:off x="8361377" y="3162776"/>
                <a:ext cx="28186" cy="2818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6" name="SCHEM_ellipse-0474"/>
              <p:cNvSpPr/>
              <p:nvPr/>
            </p:nvSpPr>
            <p:spPr>
              <a:xfrm>
                <a:off x="8532446" y="3430344"/>
                <a:ext cx="131119" cy="13111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7" name="SCHEM_ellipse-0475"/>
              <p:cNvSpPr/>
              <p:nvPr/>
            </p:nvSpPr>
            <p:spPr>
              <a:xfrm>
                <a:off x="9178829" y="1793435"/>
                <a:ext cx="23334" cy="2333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8" name="SCHEM_ellipse-0476"/>
              <p:cNvSpPr/>
              <p:nvPr/>
            </p:nvSpPr>
            <p:spPr>
              <a:xfrm>
                <a:off x="8542638" y="3274980"/>
                <a:ext cx="63646" cy="6364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9" name="SCHEM_ellipse-0477"/>
              <p:cNvSpPr/>
              <p:nvPr/>
            </p:nvSpPr>
            <p:spPr>
              <a:xfrm>
                <a:off x="9224355" y="4512963"/>
                <a:ext cx="50683" cy="5068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0" name="SCHEM_ellipse-0478"/>
              <p:cNvSpPr/>
              <p:nvPr/>
            </p:nvSpPr>
            <p:spPr>
              <a:xfrm>
                <a:off x="8994637" y="2415898"/>
                <a:ext cx="104478" cy="10447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1" name="SCHEM_ellipse-0479"/>
              <p:cNvSpPr/>
              <p:nvPr/>
            </p:nvSpPr>
            <p:spPr>
              <a:xfrm>
                <a:off x="8487694" y="3227174"/>
                <a:ext cx="51640" cy="5164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2" name="SCHEM_ellipse-0480"/>
              <p:cNvSpPr/>
              <p:nvPr/>
            </p:nvSpPr>
            <p:spPr>
              <a:xfrm>
                <a:off x="8947174" y="2769709"/>
                <a:ext cx="42135" cy="4213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3" name="SCHEM_ellipse-0481"/>
              <p:cNvSpPr/>
              <p:nvPr/>
            </p:nvSpPr>
            <p:spPr>
              <a:xfrm>
                <a:off x="8540934" y="4130730"/>
                <a:ext cx="50281" cy="5028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4" name="SCHEM_ellipse-0482"/>
              <p:cNvSpPr/>
              <p:nvPr/>
            </p:nvSpPr>
            <p:spPr>
              <a:xfrm>
                <a:off x="9134297" y="4093112"/>
                <a:ext cx="102576" cy="10257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5" name="SCHEM_ellipse-0483"/>
              <p:cNvSpPr/>
              <p:nvPr/>
            </p:nvSpPr>
            <p:spPr>
              <a:xfrm>
                <a:off x="8369735" y="2405305"/>
                <a:ext cx="67190" cy="671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6" name="SCHEM_ellipse-0484"/>
              <p:cNvSpPr/>
              <p:nvPr/>
            </p:nvSpPr>
            <p:spPr>
              <a:xfrm>
                <a:off x="9208574" y="2804065"/>
                <a:ext cx="60418" cy="6041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7" name="SCHEM_ellipse-0485"/>
              <p:cNvSpPr/>
              <p:nvPr/>
            </p:nvSpPr>
            <p:spPr>
              <a:xfrm>
                <a:off x="8669474" y="4305422"/>
                <a:ext cx="24839" cy="2483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8" name="SCHEM_ellipse-0486"/>
              <p:cNvSpPr/>
              <p:nvPr/>
            </p:nvSpPr>
            <p:spPr>
              <a:xfrm>
                <a:off x="9120664" y="4633430"/>
                <a:ext cx="110596" cy="11059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9" name="SCHEM_ellipse-0487"/>
              <p:cNvSpPr/>
              <p:nvPr/>
            </p:nvSpPr>
            <p:spPr>
              <a:xfrm>
                <a:off x="8813210" y="1931352"/>
                <a:ext cx="34429" cy="3442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0" name="SCHEM_ellipse-0488"/>
              <p:cNvSpPr/>
              <p:nvPr/>
            </p:nvSpPr>
            <p:spPr>
              <a:xfrm>
                <a:off x="8536149" y="2469887"/>
                <a:ext cx="23710" cy="2371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1" name="SCHEM_ellipse-0489"/>
              <p:cNvSpPr/>
              <p:nvPr/>
            </p:nvSpPr>
            <p:spPr>
              <a:xfrm>
                <a:off x="8605532" y="1839227"/>
                <a:ext cx="47355" cy="4735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2" name="SCHEM_ellipse-0490"/>
              <p:cNvSpPr/>
              <p:nvPr/>
            </p:nvSpPr>
            <p:spPr>
              <a:xfrm>
                <a:off x="8691324" y="2189729"/>
                <a:ext cx="140729" cy="14072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3" name="SCHEM_ellipse-0491"/>
              <p:cNvSpPr/>
              <p:nvPr/>
            </p:nvSpPr>
            <p:spPr>
              <a:xfrm>
                <a:off x="8608344" y="3207500"/>
                <a:ext cx="66540" cy="6654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4" name="SCHEM_ellipse-0492"/>
              <p:cNvSpPr/>
              <p:nvPr/>
            </p:nvSpPr>
            <p:spPr>
              <a:xfrm>
                <a:off x="9171646" y="4615245"/>
                <a:ext cx="51752" cy="5175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5" name="SCHEM_ellipse-0493"/>
              <p:cNvSpPr/>
              <p:nvPr/>
            </p:nvSpPr>
            <p:spPr>
              <a:xfrm>
                <a:off x="9307693" y="1707279"/>
                <a:ext cx="58216" cy="5821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6" name="SCHEM_ellipse-0494"/>
              <p:cNvSpPr/>
              <p:nvPr/>
            </p:nvSpPr>
            <p:spPr>
              <a:xfrm>
                <a:off x="8609267" y="2495932"/>
                <a:ext cx="130731" cy="13073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7" name="SCHEM_ellipse-0495"/>
              <p:cNvSpPr/>
              <p:nvPr/>
            </p:nvSpPr>
            <p:spPr>
              <a:xfrm>
                <a:off x="9157476" y="2609734"/>
                <a:ext cx="39000" cy="3900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8" name="SCHEM_ellipse-0496"/>
              <p:cNvSpPr/>
              <p:nvPr/>
            </p:nvSpPr>
            <p:spPr>
              <a:xfrm>
                <a:off x="8577428" y="4513099"/>
                <a:ext cx="52027" cy="5202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9" name="SCHEM_ellipse-0497"/>
              <p:cNvSpPr/>
              <p:nvPr/>
            </p:nvSpPr>
            <p:spPr>
              <a:xfrm>
                <a:off x="8568724" y="3231790"/>
                <a:ext cx="23154" cy="231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0" name="SCHEM_ellipse-0498"/>
              <p:cNvSpPr/>
              <p:nvPr/>
            </p:nvSpPr>
            <p:spPr>
              <a:xfrm>
                <a:off x="8521027" y="3072648"/>
                <a:ext cx="142426" cy="14242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1" name="SCHEM_ellipse-0499"/>
              <p:cNvSpPr/>
              <p:nvPr/>
            </p:nvSpPr>
            <p:spPr>
              <a:xfrm>
                <a:off x="9291290" y="3262681"/>
                <a:ext cx="59720" cy="5972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2" name="SCHEM_ellipse-0500"/>
              <p:cNvSpPr/>
              <p:nvPr/>
            </p:nvSpPr>
            <p:spPr>
              <a:xfrm>
                <a:off x="8534429" y="3729754"/>
                <a:ext cx="71802" cy="7180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3" name="SCHEM_ellipse-0501"/>
              <p:cNvSpPr/>
              <p:nvPr/>
            </p:nvSpPr>
            <p:spPr>
              <a:xfrm>
                <a:off x="8413494" y="4499071"/>
                <a:ext cx="71242" cy="7124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4" name="SCHEM_ellipse-0502"/>
              <p:cNvSpPr/>
              <p:nvPr/>
            </p:nvSpPr>
            <p:spPr>
              <a:xfrm>
                <a:off x="8642460" y="4080273"/>
                <a:ext cx="143345" cy="14334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5" name="SCHEM_ellipse-0503"/>
              <p:cNvSpPr/>
              <p:nvPr/>
            </p:nvSpPr>
            <p:spPr>
              <a:xfrm>
                <a:off x="8415951" y="3000205"/>
                <a:ext cx="50943" cy="5094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6" name="SCHEM_ellipse-0504"/>
              <p:cNvSpPr/>
              <p:nvPr/>
            </p:nvSpPr>
            <p:spPr>
              <a:xfrm>
                <a:off x="9211935" y="2354841"/>
                <a:ext cx="59134" cy="5913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7" name="SCHEM_ellipse-0505"/>
              <p:cNvSpPr/>
              <p:nvPr/>
            </p:nvSpPr>
            <p:spPr>
              <a:xfrm>
                <a:off x="9101092" y="4264349"/>
                <a:ext cx="58237" cy="5823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8" name="SCHEM_ellipse-0506"/>
              <p:cNvSpPr/>
              <p:nvPr/>
            </p:nvSpPr>
            <p:spPr>
              <a:xfrm>
                <a:off x="9265753" y="3416006"/>
                <a:ext cx="117690" cy="1176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9" name="SCHEM_ellipse-0507"/>
              <p:cNvSpPr/>
              <p:nvPr/>
            </p:nvSpPr>
            <p:spPr>
              <a:xfrm>
                <a:off x="8808128" y="2816459"/>
                <a:ext cx="44142" cy="4414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0" name="SCHEM_ellipse-0508"/>
              <p:cNvSpPr/>
              <p:nvPr/>
            </p:nvSpPr>
            <p:spPr>
              <a:xfrm>
                <a:off x="8855544" y="2776888"/>
                <a:ext cx="27681" cy="2768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1" name="SCHEM_ellipse-0509"/>
              <p:cNvSpPr/>
              <p:nvPr/>
            </p:nvSpPr>
            <p:spPr>
              <a:xfrm>
                <a:off x="8732889" y="4556809"/>
                <a:ext cx="36027" cy="3602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2" name="SCHEM_ellipse-0510"/>
              <p:cNvSpPr/>
              <p:nvPr/>
            </p:nvSpPr>
            <p:spPr>
              <a:xfrm>
                <a:off x="9419163" y="4155277"/>
                <a:ext cx="112520" cy="11252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3" name="SCHEM_ellipse-0511"/>
              <p:cNvSpPr/>
              <p:nvPr/>
            </p:nvSpPr>
            <p:spPr>
              <a:xfrm>
                <a:off x="8493425" y="4326895"/>
                <a:ext cx="69670" cy="6967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4" name="SCHEM_ellipse-0512"/>
              <p:cNvSpPr/>
              <p:nvPr/>
            </p:nvSpPr>
            <p:spPr>
              <a:xfrm>
                <a:off x="8613556" y="3654238"/>
                <a:ext cx="59225" cy="592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5" name="SCHEM_ellipse-0513"/>
              <p:cNvSpPr/>
              <p:nvPr/>
            </p:nvSpPr>
            <p:spPr>
              <a:xfrm>
                <a:off x="9011189" y="1898416"/>
                <a:ext cx="32383" cy="3238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6" name="SCHEM_ellipse-0514"/>
              <p:cNvSpPr/>
              <p:nvPr/>
            </p:nvSpPr>
            <p:spPr>
              <a:xfrm>
                <a:off x="9089463" y="3511803"/>
                <a:ext cx="125085" cy="12508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7" name="SCHEM_ellipse-0515"/>
              <p:cNvSpPr/>
              <p:nvPr/>
            </p:nvSpPr>
            <p:spPr>
              <a:xfrm>
                <a:off x="8575885" y="4333852"/>
                <a:ext cx="60417" cy="6041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8" name="SCHEM_ellipse-0516"/>
              <p:cNvSpPr/>
              <p:nvPr/>
            </p:nvSpPr>
            <p:spPr>
              <a:xfrm>
                <a:off x="8841077" y="4265822"/>
                <a:ext cx="35816" cy="3581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9" name="SCHEM_ellipse-0517"/>
              <p:cNvSpPr/>
              <p:nvPr/>
            </p:nvSpPr>
            <p:spPr>
              <a:xfrm>
                <a:off x="8883458" y="3169756"/>
                <a:ext cx="70354" cy="703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0" name="SCHEM_ellipse-0518"/>
              <p:cNvSpPr/>
              <p:nvPr/>
            </p:nvSpPr>
            <p:spPr>
              <a:xfrm>
                <a:off x="9353581" y="2560679"/>
                <a:ext cx="131354" cy="1313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1" name="SCHEM_ellipse-0519"/>
              <p:cNvSpPr/>
              <p:nvPr/>
            </p:nvSpPr>
            <p:spPr>
              <a:xfrm>
                <a:off x="8593596" y="4341831"/>
                <a:ext cx="66386" cy="6638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2" name="SCHEM_ellipse-0520"/>
              <p:cNvSpPr/>
              <p:nvPr/>
            </p:nvSpPr>
            <p:spPr>
              <a:xfrm>
                <a:off x="9084600" y="1622214"/>
                <a:ext cx="35984" cy="359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3" name="SCHEM_ellipse-0521"/>
              <p:cNvSpPr/>
              <p:nvPr/>
            </p:nvSpPr>
            <p:spPr>
              <a:xfrm>
                <a:off x="8459344" y="3142412"/>
                <a:ext cx="22064" cy="2206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4" name="SCHEM_ellipse-0522"/>
              <p:cNvSpPr/>
              <p:nvPr/>
            </p:nvSpPr>
            <p:spPr>
              <a:xfrm>
                <a:off x="8267997" y="1779050"/>
                <a:ext cx="136214" cy="13621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5" name="SCHEM_ellipse-0523"/>
              <p:cNvSpPr/>
              <p:nvPr/>
            </p:nvSpPr>
            <p:spPr>
              <a:xfrm>
                <a:off x="8969020" y="4286878"/>
                <a:ext cx="69059" cy="690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6" name="SCHEM_ellipse-0524"/>
              <p:cNvSpPr/>
              <p:nvPr/>
            </p:nvSpPr>
            <p:spPr>
              <a:xfrm>
                <a:off x="8941153" y="4235953"/>
                <a:ext cx="42698" cy="4269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7" name="SCHEM_ellipse-0525"/>
              <p:cNvSpPr/>
              <p:nvPr/>
            </p:nvSpPr>
            <p:spPr>
              <a:xfrm>
                <a:off x="8990925" y="2043914"/>
                <a:ext cx="43255" cy="4325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8" name="SCHEM_ellipse-0526"/>
              <p:cNvSpPr/>
              <p:nvPr/>
            </p:nvSpPr>
            <p:spPr>
              <a:xfrm>
                <a:off x="8306711" y="2945400"/>
                <a:ext cx="141849" cy="14184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9" name="SCHEM_ellipse-0527"/>
              <p:cNvSpPr/>
              <p:nvPr/>
            </p:nvSpPr>
            <p:spPr>
              <a:xfrm>
                <a:off x="9475602" y="3934260"/>
                <a:ext cx="22473" cy="2247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0" name="SCHEM_ellipse-0528"/>
              <p:cNvSpPr/>
              <p:nvPr/>
            </p:nvSpPr>
            <p:spPr>
              <a:xfrm>
                <a:off x="9455960" y="3211984"/>
                <a:ext cx="55166" cy="551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1" name="SCHEM_ellipse-0529"/>
              <p:cNvSpPr/>
              <p:nvPr/>
            </p:nvSpPr>
            <p:spPr>
              <a:xfrm>
                <a:off x="8744340" y="4008246"/>
                <a:ext cx="36448" cy="3644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2" name="SCHEM_ellipse-0530"/>
              <p:cNvSpPr/>
              <p:nvPr/>
            </p:nvSpPr>
            <p:spPr>
              <a:xfrm>
                <a:off x="8345813" y="2958785"/>
                <a:ext cx="97189" cy="9718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3" name="SCHEM_ellipse-0531"/>
              <p:cNvSpPr/>
              <p:nvPr/>
            </p:nvSpPr>
            <p:spPr>
              <a:xfrm>
                <a:off x="8507895" y="2135641"/>
                <a:ext cx="56554" cy="565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4" name="SCHEM_ellipse-0532"/>
              <p:cNvSpPr/>
              <p:nvPr/>
            </p:nvSpPr>
            <p:spPr>
              <a:xfrm>
                <a:off x="9074128" y="2211823"/>
                <a:ext cx="55764" cy="5576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5" name="SCHEM_ellipse-0533"/>
              <p:cNvSpPr/>
              <p:nvPr/>
            </p:nvSpPr>
            <p:spPr>
              <a:xfrm>
                <a:off x="8277073" y="4556915"/>
                <a:ext cx="32297" cy="3229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6" name="SCHEM_ellipse-0534"/>
              <p:cNvSpPr/>
              <p:nvPr/>
            </p:nvSpPr>
            <p:spPr>
              <a:xfrm>
                <a:off x="8824165" y="2652559"/>
                <a:ext cx="135615" cy="13561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7" name="SCHEM_ellipse-0535"/>
              <p:cNvSpPr/>
              <p:nvPr/>
            </p:nvSpPr>
            <p:spPr>
              <a:xfrm>
                <a:off x="8770574" y="2034856"/>
                <a:ext cx="64768" cy="6476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8" name="SCHEM_ellipse-0536"/>
              <p:cNvSpPr/>
              <p:nvPr/>
            </p:nvSpPr>
            <p:spPr>
              <a:xfrm>
                <a:off x="8950838" y="2356232"/>
                <a:ext cx="57131" cy="5713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9" name="SCHEM_ellipse-0537"/>
              <p:cNvSpPr/>
              <p:nvPr/>
            </p:nvSpPr>
            <p:spPr>
              <a:xfrm>
                <a:off x="9337086" y="3895175"/>
                <a:ext cx="61271" cy="6127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0" name="SCHEM_ellipse-0538"/>
              <p:cNvSpPr/>
              <p:nvPr/>
            </p:nvSpPr>
            <p:spPr>
              <a:xfrm>
                <a:off x="8650778" y="2240309"/>
                <a:ext cx="89559" cy="895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1" name="SCHEM_ellipse-0539"/>
              <p:cNvSpPr/>
              <p:nvPr/>
            </p:nvSpPr>
            <p:spPr>
              <a:xfrm>
                <a:off x="9348909" y="2257339"/>
                <a:ext cx="39268" cy="3926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2" name="SCHEM_ellipse-0540"/>
              <p:cNvSpPr/>
              <p:nvPr/>
            </p:nvSpPr>
            <p:spPr>
              <a:xfrm>
                <a:off x="9218991" y="1854047"/>
                <a:ext cx="68298" cy="6829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3" name="SCHEM_ellipse-0541"/>
              <p:cNvSpPr/>
              <p:nvPr/>
            </p:nvSpPr>
            <p:spPr>
              <a:xfrm>
                <a:off x="8922422" y="2044682"/>
                <a:ext cx="62185" cy="6218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4" name="SCHEM_ellipse-0542"/>
              <p:cNvSpPr/>
              <p:nvPr/>
            </p:nvSpPr>
            <p:spPr>
              <a:xfrm>
                <a:off x="9030456" y="1673988"/>
                <a:ext cx="114470" cy="11447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5" name="SCHEM_ellipse-0543"/>
              <p:cNvSpPr/>
              <p:nvPr/>
            </p:nvSpPr>
            <p:spPr>
              <a:xfrm>
                <a:off x="9119135" y="2386634"/>
                <a:ext cx="37544" cy="375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6" name="SCHEM_ellipse-0544"/>
              <p:cNvSpPr/>
              <p:nvPr/>
            </p:nvSpPr>
            <p:spPr>
              <a:xfrm>
                <a:off x="9302486" y="1964714"/>
                <a:ext cx="33212" cy="3321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7" name="SCHEM_ellipse-0545"/>
              <p:cNvSpPr/>
              <p:nvPr/>
            </p:nvSpPr>
            <p:spPr>
              <a:xfrm>
                <a:off x="8389933" y="3078592"/>
                <a:ext cx="43230" cy="4323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8" name="SCHEM_ellipse-0546"/>
              <p:cNvSpPr/>
              <p:nvPr/>
            </p:nvSpPr>
            <p:spPr>
              <a:xfrm>
                <a:off x="8551356" y="1781494"/>
                <a:ext cx="93553" cy="9355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9" name="SCHEM_ellipse-0547"/>
              <p:cNvSpPr/>
              <p:nvPr/>
            </p:nvSpPr>
            <p:spPr>
              <a:xfrm>
                <a:off x="9163058" y="3369215"/>
                <a:ext cx="61752" cy="6175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0" name="SCHEM_ellipse-0548"/>
              <p:cNvSpPr/>
              <p:nvPr/>
            </p:nvSpPr>
            <p:spPr>
              <a:xfrm>
                <a:off x="8369661" y="4570297"/>
                <a:ext cx="55888" cy="5588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1" name="SCHEM_ellipse-0549"/>
              <p:cNvSpPr/>
              <p:nvPr/>
            </p:nvSpPr>
            <p:spPr>
              <a:xfrm>
                <a:off x="8960868" y="4183503"/>
                <a:ext cx="23962" cy="2396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2" name="SCHEM_ellipse-0550"/>
              <p:cNvSpPr/>
              <p:nvPr/>
            </p:nvSpPr>
            <p:spPr>
              <a:xfrm>
                <a:off x="8967982" y="2460674"/>
                <a:ext cx="88194" cy="8819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3" name="SCHEM_ellipse-0551"/>
              <p:cNvSpPr/>
              <p:nvPr/>
            </p:nvSpPr>
            <p:spPr>
              <a:xfrm>
                <a:off x="9165749" y="1592647"/>
                <a:ext cx="58190" cy="581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4" name="SCHEM_ellipse-0552"/>
              <p:cNvSpPr/>
              <p:nvPr/>
            </p:nvSpPr>
            <p:spPr>
              <a:xfrm>
                <a:off x="8588556" y="4243279"/>
                <a:ext cx="23232" cy="2323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5" name="SCHEM_ellipse-0553"/>
              <p:cNvSpPr/>
              <p:nvPr/>
            </p:nvSpPr>
            <p:spPr>
              <a:xfrm>
                <a:off x="8830228" y="4662886"/>
                <a:ext cx="47812" cy="4781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6" name="SCHEM_ellipse-0554"/>
              <p:cNvSpPr/>
              <p:nvPr/>
            </p:nvSpPr>
            <p:spPr>
              <a:xfrm>
                <a:off x="8967272" y="3133538"/>
                <a:ext cx="120482" cy="12048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7" name="SCHEM_ellipse-0555"/>
              <p:cNvSpPr/>
              <p:nvPr/>
            </p:nvSpPr>
            <p:spPr>
              <a:xfrm>
                <a:off x="8734275" y="2359706"/>
                <a:ext cx="35539" cy="3553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8" name="SCHEM_ellipse-0556"/>
              <p:cNvSpPr/>
              <p:nvPr/>
            </p:nvSpPr>
            <p:spPr>
              <a:xfrm>
                <a:off x="9268739" y="2542985"/>
                <a:ext cx="56378" cy="5637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9" name="SCHEM_ellipse-0557"/>
              <p:cNvSpPr/>
              <p:nvPr/>
            </p:nvSpPr>
            <p:spPr>
              <a:xfrm>
                <a:off x="9387754" y="4492268"/>
                <a:ext cx="64097" cy="6409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0" name="SCHEM_ellipse-0558"/>
              <p:cNvSpPr/>
              <p:nvPr/>
            </p:nvSpPr>
            <p:spPr>
              <a:xfrm>
                <a:off x="9312636" y="3558835"/>
                <a:ext cx="117465" cy="11746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1" name="SCHEM_ellipse-0559"/>
              <p:cNvSpPr/>
              <p:nvPr/>
            </p:nvSpPr>
            <p:spPr>
              <a:xfrm>
                <a:off x="8371114" y="1745950"/>
                <a:ext cx="35707" cy="3570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2" name="SCHEM_ellipse-0560"/>
              <p:cNvSpPr/>
              <p:nvPr/>
            </p:nvSpPr>
            <p:spPr>
              <a:xfrm>
                <a:off x="8847042" y="3096171"/>
                <a:ext cx="20869" cy="2086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3" name="SCHEM_ellipse-0561"/>
              <p:cNvSpPr/>
              <p:nvPr/>
            </p:nvSpPr>
            <p:spPr>
              <a:xfrm>
                <a:off x="8961026" y="2648343"/>
                <a:ext cx="40560" cy="4056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4" name="SCHEM_ellipse-0562"/>
              <p:cNvSpPr/>
              <p:nvPr/>
            </p:nvSpPr>
            <p:spPr>
              <a:xfrm>
                <a:off x="8301199" y="3967748"/>
                <a:ext cx="132606" cy="13260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5" name="SCHEM_ellipse-0563"/>
              <p:cNvSpPr/>
              <p:nvPr/>
            </p:nvSpPr>
            <p:spPr>
              <a:xfrm>
                <a:off x="9172918" y="1879987"/>
                <a:ext cx="21224" cy="2122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6" name="SCHEM_ellipse-0564"/>
              <p:cNvSpPr/>
              <p:nvPr/>
            </p:nvSpPr>
            <p:spPr>
              <a:xfrm>
                <a:off x="9406999" y="3484165"/>
                <a:ext cx="69173" cy="6917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7" name="SCHEM_ellipse-0565"/>
              <p:cNvSpPr/>
              <p:nvPr/>
            </p:nvSpPr>
            <p:spPr>
              <a:xfrm>
                <a:off x="8750573" y="4082624"/>
                <a:ext cx="26175" cy="2617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8" name="SCHEM_ellipse-0566"/>
              <p:cNvSpPr/>
              <p:nvPr/>
            </p:nvSpPr>
            <p:spPr>
              <a:xfrm>
                <a:off x="8295865" y="3669344"/>
                <a:ext cx="125056" cy="12505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9" name="SCHEM_ellipse-0567"/>
              <p:cNvSpPr/>
              <p:nvPr/>
            </p:nvSpPr>
            <p:spPr>
              <a:xfrm>
                <a:off x="8673910" y="3224170"/>
                <a:ext cx="52676" cy="5267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70" name="SCHEM_ellipse-0568"/>
              <p:cNvSpPr/>
              <p:nvPr/>
            </p:nvSpPr>
            <p:spPr>
              <a:xfrm>
                <a:off x="8523186" y="1518613"/>
                <a:ext cx="44244" cy="442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71" name="SCHEM_ellipse-0569"/>
              <p:cNvSpPr/>
              <p:nvPr/>
            </p:nvSpPr>
            <p:spPr>
              <a:xfrm>
                <a:off x="8577191" y="4611520"/>
                <a:ext cx="29812" cy="2981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72" name="SCHEM_polygon-0570"/>
              <p:cNvSpPr/>
              <p:nvPr/>
            </p:nvSpPr>
            <p:spPr>
              <a:xfrm>
                <a:off x="8640000" y="1432800"/>
                <a:ext cx="439200" cy="3398400"/>
              </a:xfrm>
              <a:custGeom>
                <a:avLst/>
                <a:gdLst/>
                <a:ahLst/>
                <a:cxnLst/>
                <a:rect l="0" t="0" r="r" b="b"/>
                <a:pathLst>
                  <a:path w="439200" h="3398400">
                    <a:moveTo>
                      <a:pt x="72000" y="0"/>
                    </a:moveTo>
                    <a:lnTo>
                      <a:pt x="100800" y="302400"/>
                    </a:lnTo>
                    <a:lnTo>
                      <a:pt x="0" y="597600"/>
                    </a:lnTo>
                    <a:lnTo>
                      <a:pt x="108000" y="892800"/>
                    </a:lnTo>
                    <a:lnTo>
                      <a:pt x="115200" y="1310400"/>
                    </a:lnTo>
                    <a:lnTo>
                      <a:pt x="64800" y="1526400"/>
                    </a:lnTo>
                    <a:lnTo>
                      <a:pt x="144000" y="1713600"/>
                    </a:lnTo>
                    <a:lnTo>
                      <a:pt x="158400" y="2116800"/>
                    </a:lnTo>
                    <a:lnTo>
                      <a:pt x="93600" y="2397600"/>
                    </a:lnTo>
                    <a:lnTo>
                      <a:pt x="165600" y="2750400"/>
                    </a:lnTo>
                    <a:lnTo>
                      <a:pt x="108000" y="3031200"/>
                    </a:lnTo>
                    <a:lnTo>
                      <a:pt x="172800" y="3398400"/>
                    </a:lnTo>
                    <a:lnTo>
                      <a:pt x="439200" y="3398400"/>
                    </a:lnTo>
                    <a:lnTo>
                      <a:pt x="360000" y="3096000"/>
                    </a:lnTo>
                    <a:lnTo>
                      <a:pt x="403200" y="2750400"/>
                    </a:lnTo>
                    <a:lnTo>
                      <a:pt x="374400" y="2462400"/>
                    </a:lnTo>
                    <a:lnTo>
                      <a:pt x="439200" y="2181600"/>
                    </a:lnTo>
                    <a:lnTo>
                      <a:pt x="396000" y="1843200"/>
                    </a:lnTo>
                    <a:lnTo>
                      <a:pt x="439200" y="1591200"/>
                    </a:lnTo>
                    <a:lnTo>
                      <a:pt x="352800" y="1252800"/>
                    </a:lnTo>
                    <a:lnTo>
                      <a:pt x="424800" y="914400"/>
                    </a:lnTo>
                    <a:lnTo>
                      <a:pt x="381600" y="597600"/>
                    </a:lnTo>
                    <a:lnTo>
                      <a:pt x="432000" y="374400"/>
                    </a:lnTo>
                    <a:lnTo>
                      <a:pt x="367200" y="0"/>
                    </a:lnTo>
                    <a:close/>
                  </a:path>
                </a:pathLst>
              </a:custGeom>
              <a:solidFill>
                <a:srgbClr val="88CDE9"/>
              </a:solidFill>
              <a:ln w="7200" cap="flat">
                <a:solidFill>
                  <a:srgbClr val="275C72"/>
                </a:solidFill>
              </a:ln>
              <a:effectLst/>
            </p:spPr>
          </p:sp>
          <p:cxnSp>
            <p:nvCxnSpPr>
              <p:cNvPr id="573" name="SCHEM_line-0571"/>
              <p:cNvCxnSpPr/>
              <p:nvPr/>
            </p:nvCxnSpPr>
            <p:spPr>
              <a:xfrm>
                <a:off x="8892000" y="1994400"/>
                <a:ext cx="1" cy="396000"/>
              </a:xfrm>
              <a:prstGeom prst="line">
                <a:avLst/>
              </a:prstGeom>
              <a:noFill/>
              <a:ln w="21600" cap="flat">
                <a:solidFill>
                  <a:srgbClr val="137BB8"/>
                </a:solidFill>
                <a:tailEnd type="triangle" w="med" len="med"/>
              </a:ln>
              <a:effectLst/>
            </p:spPr>
          </p:cxnSp>
          <p:cxnSp>
            <p:nvCxnSpPr>
              <p:cNvPr id="574" name="SCHEM_line-0572"/>
              <p:cNvCxnSpPr/>
              <p:nvPr/>
            </p:nvCxnSpPr>
            <p:spPr>
              <a:xfrm>
                <a:off x="8892000" y="2916000"/>
                <a:ext cx="1" cy="396000"/>
              </a:xfrm>
              <a:prstGeom prst="line">
                <a:avLst/>
              </a:prstGeom>
              <a:noFill/>
              <a:ln w="21600" cap="flat">
                <a:solidFill>
                  <a:srgbClr val="137BB8"/>
                </a:solidFill>
                <a:tailEnd type="triangle" w="med" len="med"/>
              </a:ln>
              <a:effectLst/>
            </p:spPr>
          </p:cxnSp>
          <p:cxnSp>
            <p:nvCxnSpPr>
              <p:cNvPr id="575" name="SCHEM_line-0573"/>
              <p:cNvCxnSpPr/>
              <p:nvPr/>
            </p:nvCxnSpPr>
            <p:spPr>
              <a:xfrm>
                <a:off x="8892000" y="3844800"/>
                <a:ext cx="1" cy="396000"/>
              </a:xfrm>
              <a:prstGeom prst="line">
                <a:avLst/>
              </a:prstGeom>
              <a:noFill/>
              <a:ln w="21600" cap="flat">
                <a:solidFill>
                  <a:srgbClr val="137BB8"/>
                </a:solidFill>
                <a:tailEnd type="triangle" w="med" len="med"/>
              </a:ln>
              <a:effectLst/>
            </p:spPr>
          </p:cxnSp>
          <p:sp>
            <p:nvSpPr>
              <p:cNvPr id="576" name="SCHEM_rect-0574"/>
              <p:cNvSpPr/>
              <p:nvPr/>
            </p:nvSpPr>
            <p:spPr>
              <a:xfrm>
                <a:off x="9770400" y="1432800"/>
                <a:ext cx="1576800" cy="3398400"/>
              </a:xfrm>
              <a:prstGeom prst="rect">
                <a:avLst/>
              </a:prstGeom>
              <a:solidFill>
                <a:srgbClr val="E8E7E2"/>
              </a:solidFill>
              <a:ln w="7200" cap="flat">
                <a:solidFill>
                  <a:srgbClr val="6F716B"/>
                </a:solidFill>
              </a:ln>
              <a:effectLst/>
            </p:spPr>
          </p:sp>
          <p:sp>
            <p:nvSpPr>
              <p:cNvPr id="577" name="SCHEM_ellipse-0575"/>
              <p:cNvSpPr/>
              <p:nvPr/>
            </p:nvSpPr>
            <p:spPr>
              <a:xfrm>
                <a:off x="10561299" y="3882622"/>
                <a:ext cx="129445" cy="12944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78" name="SCHEM_ellipse-0576"/>
              <p:cNvSpPr/>
              <p:nvPr/>
            </p:nvSpPr>
            <p:spPr>
              <a:xfrm>
                <a:off x="11051014" y="2413513"/>
                <a:ext cx="70215" cy="7021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79" name="SCHEM_ellipse-0577"/>
              <p:cNvSpPr/>
              <p:nvPr/>
            </p:nvSpPr>
            <p:spPr>
              <a:xfrm>
                <a:off x="10622620" y="3907531"/>
                <a:ext cx="59294" cy="5929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0" name="SCHEM_ellipse-0578"/>
              <p:cNvSpPr/>
              <p:nvPr/>
            </p:nvSpPr>
            <p:spPr>
              <a:xfrm>
                <a:off x="11159845" y="2390994"/>
                <a:ext cx="39166" cy="391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1" name="SCHEM_ellipse-0579"/>
              <p:cNvSpPr/>
              <p:nvPr/>
            </p:nvSpPr>
            <p:spPr>
              <a:xfrm>
                <a:off x="10806495" y="3349522"/>
                <a:ext cx="129621" cy="12962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2" name="SCHEM_ellipse-0580"/>
              <p:cNvSpPr/>
              <p:nvPr/>
            </p:nvSpPr>
            <p:spPr>
              <a:xfrm>
                <a:off x="10347452" y="4597238"/>
                <a:ext cx="20745" cy="2074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3" name="SCHEM_ellipse-0581"/>
              <p:cNvSpPr/>
              <p:nvPr/>
            </p:nvSpPr>
            <p:spPr>
              <a:xfrm>
                <a:off x="10866880" y="2723806"/>
                <a:ext cx="21467" cy="214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4" name="SCHEM_ellipse-0582"/>
              <p:cNvSpPr/>
              <p:nvPr/>
            </p:nvSpPr>
            <p:spPr>
              <a:xfrm>
                <a:off x="10793680" y="1676607"/>
                <a:ext cx="32324" cy="3232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5" name="SCHEM_ellipse-0583"/>
              <p:cNvSpPr/>
              <p:nvPr/>
            </p:nvSpPr>
            <p:spPr>
              <a:xfrm>
                <a:off x="10252732" y="1985033"/>
                <a:ext cx="95855" cy="9585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6" name="SCHEM_ellipse-0584"/>
              <p:cNvSpPr/>
              <p:nvPr/>
            </p:nvSpPr>
            <p:spPr>
              <a:xfrm>
                <a:off x="9922833" y="4243301"/>
                <a:ext cx="24466" cy="244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7" name="SCHEM_ellipse-0585"/>
              <p:cNvSpPr/>
              <p:nvPr/>
            </p:nvSpPr>
            <p:spPr>
              <a:xfrm>
                <a:off x="10028230" y="1741113"/>
                <a:ext cx="67304" cy="6730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8" name="SCHEM_ellipse-0586"/>
              <p:cNvSpPr/>
              <p:nvPr/>
            </p:nvSpPr>
            <p:spPr>
              <a:xfrm>
                <a:off x="10586614" y="4144115"/>
                <a:ext cx="70572" cy="7057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9" name="SCHEM_ellipse-0587"/>
              <p:cNvSpPr/>
              <p:nvPr/>
            </p:nvSpPr>
            <p:spPr>
              <a:xfrm>
                <a:off x="10493895" y="2745888"/>
                <a:ext cx="108802" cy="10880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0" name="SCHEM_ellipse-0588"/>
              <p:cNvSpPr/>
              <p:nvPr/>
            </p:nvSpPr>
            <p:spPr>
              <a:xfrm>
                <a:off x="10177773" y="3409720"/>
                <a:ext cx="70252" cy="7025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1" name="SCHEM_ellipse-0589"/>
              <p:cNvSpPr/>
              <p:nvPr/>
            </p:nvSpPr>
            <p:spPr>
              <a:xfrm>
                <a:off x="10527013" y="3933921"/>
                <a:ext cx="66244" cy="662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2" name="SCHEM_ellipse-0590"/>
              <p:cNvSpPr/>
              <p:nvPr/>
            </p:nvSpPr>
            <p:spPr>
              <a:xfrm>
                <a:off x="11010987" y="3665512"/>
                <a:ext cx="48585" cy="4858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3" name="SCHEM_ellipse-0591"/>
              <p:cNvSpPr/>
              <p:nvPr/>
            </p:nvSpPr>
            <p:spPr>
              <a:xfrm>
                <a:off x="9902558" y="2675867"/>
                <a:ext cx="135542" cy="13554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4" name="SCHEM_ellipse-0592"/>
              <p:cNvSpPr/>
              <p:nvPr/>
            </p:nvSpPr>
            <p:spPr>
              <a:xfrm>
                <a:off x="10454295" y="3705528"/>
                <a:ext cx="33625" cy="336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5" name="SCHEM_ellipse-0593"/>
              <p:cNvSpPr/>
              <p:nvPr/>
            </p:nvSpPr>
            <p:spPr>
              <a:xfrm>
                <a:off x="10645564" y="2203110"/>
                <a:ext cx="60900" cy="6090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6" name="SCHEM_ellipse-0594"/>
              <p:cNvSpPr/>
              <p:nvPr/>
            </p:nvSpPr>
            <p:spPr>
              <a:xfrm>
                <a:off x="10983731" y="1557250"/>
                <a:ext cx="54647" cy="5464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7" name="SCHEM_ellipse-0595"/>
              <p:cNvSpPr/>
              <p:nvPr/>
            </p:nvSpPr>
            <p:spPr>
              <a:xfrm>
                <a:off x="9917261" y="4539654"/>
                <a:ext cx="96511" cy="9651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8" name="SCHEM_ellipse-0596"/>
              <p:cNvSpPr/>
              <p:nvPr/>
            </p:nvSpPr>
            <p:spPr>
              <a:xfrm>
                <a:off x="9989428" y="4379518"/>
                <a:ext cx="52025" cy="520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9" name="SCHEM_ellipse-0597"/>
              <p:cNvSpPr/>
              <p:nvPr/>
            </p:nvSpPr>
            <p:spPr>
              <a:xfrm>
                <a:off x="9812206" y="2997711"/>
                <a:ext cx="63133" cy="6313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0" name="SCHEM_ellipse-0598"/>
              <p:cNvSpPr/>
              <p:nvPr/>
            </p:nvSpPr>
            <p:spPr>
              <a:xfrm>
                <a:off x="10050713" y="3936446"/>
                <a:ext cx="35309" cy="353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1" name="SCHEM_ellipse-0599"/>
              <p:cNvSpPr/>
              <p:nvPr/>
            </p:nvSpPr>
            <p:spPr>
              <a:xfrm>
                <a:off x="10426056" y="2757947"/>
                <a:ext cx="89489" cy="8948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2" name="SCHEM_ellipse-0600"/>
              <p:cNvSpPr/>
              <p:nvPr/>
            </p:nvSpPr>
            <p:spPr>
              <a:xfrm>
                <a:off x="10368717" y="3184903"/>
                <a:ext cx="52237" cy="5223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3" name="SCHEM_ellipse-0601"/>
              <p:cNvSpPr/>
              <p:nvPr/>
            </p:nvSpPr>
            <p:spPr>
              <a:xfrm>
                <a:off x="10587267" y="2048061"/>
                <a:ext cx="51555" cy="5155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4" name="SCHEM_ellipse-0602"/>
              <p:cNvSpPr/>
              <p:nvPr/>
            </p:nvSpPr>
            <p:spPr>
              <a:xfrm>
                <a:off x="10237168" y="4417024"/>
                <a:ext cx="25249" cy="2524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5" name="SCHEM_ellipse-0603"/>
              <p:cNvSpPr/>
              <p:nvPr/>
            </p:nvSpPr>
            <p:spPr>
              <a:xfrm>
                <a:off x="10898088" y="1742440"/>
                <a:ext cx="118834" cy="11883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6" name="SCHEM_ellipse-0604"/>
              <p:cNvSpPr/>
              <p:nvPr/>
            </p:nvSpPr>
            <p:spPr>
              <a:xfrm>
                <a:off x="10310879" y="2981281"/>
                <a:ext cx="55790" cy="557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7" name="SCHEM_ellipse-0605"/>
              <p:cNvSpPr/>
              <p:nvPr/>
            </p:nvSpPr>
            <p:spPr>
              <a:xfrm>
                <a:off x="10955697" y="1505208"/>
                <a:ext cx="65986" cy="6598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8" name="SCHEM_ellipse-0606"/>
              <p:cNvSpPr/>
              <p:nvPr/>
            </p:nvSpPr>
            <p:spPr>
              <a:xfrm>
                <a:off x="10747686" y="1830935"/>
                <a:ext cx="56266" cy="562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9" name="SCHEM_ellipse-0607"/>
              <p:cNvSpPr/>
              <p:nvPr/>
            </p:nvSpPr>
            <p:spPr>
              <a:xfrm>
                <a:off x="10937215" y="2658598"/>
                <a:ext cx="136990" cy="1369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0" name="SCHEM_ellipse-0608"/>
              <p:cNvSpPr/>
              <p:nvPr/>
            </p:nvSpPr>
            <p:spPr>
              <a:xfrm>
                <a:off x="10047389" y="2979529"/>
                <a:ext cx="32766" cy="327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1" name="SCHEM_ellipse-0609"/>
              <p:cNvSpPr/>
              <p:nvPr/>
            </p:nvSpPr>
            <p:spPr>
              <a:xfrm>
                <a:off x="11009066" y="2493639"/>
                <a:ext cx="33084" cy="330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2" name="SCHEM_ellipse-0610"/>
              <p:cNvSpPr/>
              <p:nvPr/>
            </p:nvSpPr>
            <p:spPr>
              <a:xfrm>
                <a:off x="11258697" y="2833816"/>
                <a:ext cx="44222" cy="4422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3" name="SCHEM_ellipse-0611"/>
              <p:cNvSpPr/>
              <p:nvPr/>
            </p:nvSpPr>
            <p:spPr>
              <a:xfrm>
                <a:off x="10781758" y="2038202"/>
                <a:ext cx="133035" cy="13303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4" name="SCHEM_ellipse-0612"/>
              <p:cNvSpPr/>
              <p:nvPr/>
            </p:nvSpPr>
            <p:spPr>
              <a:xfrm>
                <a:off x="10800347" y="3087121"/>
                <a:ext cx="61560" cy="6156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5" name="SCHEM_ellipse-0613"/>
              <p:cNvSpPr/>
              <p:nvPr/>
            </p:nvSpPr>
            <p:spPr>
              <a:xfrm>
                <a:off x="11068307" y="1808228"/>
                <a:ext cx="69955" cy="6995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6" name="SCHEM_ellipse-0614"/>
              <p:cNvSpPr/>
              <p:nvPr/>
            </p:nvSpPr>
            <p:spPr>
              <a:xfrm>
                <a:off x="10559503" y="4020183"/>
                <a:ext cx="55218" cy="5521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7" name="SCHEM_ellipse-0615"/>
              <p:cNvSpPr/>
              <p:nvPr/>
            </p:nvSpPr>
            <p:spPr>
              <a:xfrm>
                <a:off x="11178083" y="3943379"/>
                <a:ext cx="100407" cy="10040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8" name="SCHEM_ellipse-0616"/>
              <p:cNvSpPr/>
              <p:nvPr/>
            </p:nvSpPr>
            <p:spPr>
              <a:xfrm>
                <a:off x="10022048" y="2797521"/>
                <a:ext cx="33540" cy="3354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9" name="SCHEM_ellipse-0617"/>
              <p:cNvSpPr/>
              <p:nvPr/>
            </p:nvSpPr>
            <p:spPr>
              <a:xfrm>
                <a:off x="10138539" y="3257503"/>
                <a:ext cx="46203" cy="4620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0" name="SCHEM_ellipse-0618"/>
              <p:cNvSpPr/>
              <p:nvPr/>
            </p:nvSpPr>
            <p:spPr>
              <a:xfrm>
                <a:off x="10392284" y="3961253"/>
                <a:ext cx="27815" cy="2781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1" name="SCHEM_ellipse-0619"/>
              <p:cNvSpPr/>
              <p:nvPr/>
            </p:nvSpPr>
            <p:spPr>
              <a:xfrm>
                <a:off x="10408959" y="2892562"/>
                <a:ext cx="121579" cy="12157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2" name="SCHEM_ellipse-0620"/>
              <p:cNvSpPr/>
              <p:nvPr/>
            </p:nvSpPr>
            <p:spPr>
              <a:xfrm>
                <a:off x="11080707" y="3420240"/>
                <a:ext cx="20233" cy="2023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3" name="SCHEM_ellipse-0621"/>
              <p:cNvSpPr/>
              <p:nvPr/>
            </p:nvSpPr>
            <p:spPr>
              <a:xfrm>
                <a:off x="10672004" y="2661042"/>
                <a:ext cx="41923" cy="4192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4" name="SCHEM_ellipse-0622"/>
              <p:cNvSpPr/>
              <p:nvPr/>
            </p:nvSpPr>
            <p:spPr>
              <a:xfrm>
                <a:off x="10628701" y="2207515"/>
                <a:ext cx="61400" cy="6140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5" name="SCHEM_ellipse-0623"/>
              <p:cNvSpPr/>
              <p:nvPr/>
            </p:nvSpPr>
            <p:spPr>
              <a:xfrm>
                <a:off x="10307134" y="2646567"/>
                <a:ext cx="117818" cy="11781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6" name="SCHEM_ellipse-0624"/>
              <p:cNvSpPr/>
              <p:nvPr/>
            </p:nvSpPr>
            <p:spPr>
              <a:xfrm>
                <a:off x="9866904" y="2533997"/>
                <a:ext cx="71589" cy="7158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7" name="SCHEM_ellipse-0625"/>
              <p:cNvSpPr/>
              <p:nvPr/>
            </p:nvSpPr>
            <p:spPr>
              <a:xfrm>
                <a:off x="9973391" y="2753413"/>
                <a:ext cx="60059" cy="600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8" name="SCHEM_ellipse-0626"/>
              <p:cNvSpPr/>
              <p:nvPr/>
            </p:nvSpPr>
            <p:spPr>
              <a:xfrm>
                <a:off x="10485913" y="3487353"/>
                <a:ext cx="64085" cy="6408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9" name="SCHEM_ellipse-0627"/>
              <p:cNvSpPr/>
              <p:nvPr/>
            </p:nvSpPr>
            <p:spPr>
              <a:xfrm>
                <a:off x="11000090" y="2852949"/>
                <a:ext cx="106430" cy="10643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0" name="SCHEM_ellipse-0628"/>
              <p:cNvSpPr/>
              <p:nvPr/>
            </p:nvSpPr>
            <p:spPr>
              <a:xfrm>
                <a:off x="9831248" y="3910485"/>
                <a:ext cx="27346" cy="2734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1" name="SCHEM_ellipse-0629"/>
              <p:cNvSpPr/>
              <p:nvPr/>
            </p:nvSpPr>
            <p:spPr>
              <a:xfrm>
                <a:off x="10475683" y="1893504"/>
                <a:ext cx="58893" cy="5889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2" name="SCHEM_ellipse-0630"/>
              <p:cNvSpPr/>
              <p:nvPr/>
            </p:nvSpPr>
            <p:spPr>
              <a:xfrm>
                <a:off x="10470051" y="1865091"/>
                <a:ext cx="50513" cy="5051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3" name="SCHEM_ellipse-0631"/>
              <p:cNvSpPr/>
              <p:nvPr/>
            </p:nvSpPr>
            <p:spPr>
              <a:xfrm>
                <a:off x="9906728" y="2602570"/>
                <a:ext cx="102944" cy="1029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4" name="SCHEM_ellipse-0632"/>
              <p:cNvSpPr/>
              <p:nvPr/>
            </p:nvSpPr>
            <p:spPr>
              <a:xfrm>
                <a:off x="10917793" y="3448857"/>
                <a:ext cx="31248" cy="3124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5" name="SCHEM_ellipse-0633"/>
              <p:cNvSpPr/>
              <p:nvPr/>
            </p:nvSpPr>
            <p:spPr>
              <a:xfrm>
                <a:off x="10283333" y="2941497"/>
                <a:ext cx="63265" cy="6326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6" name="SCHEM_ellipse-0634"/>
              <p:cNvSpPr/>
              <p:nvPr/>
            </p:nvSpPr>
            <p:spPr>
              <a:xfrm>
                <a:off x="10323979" y="3947852"/>
                <a:ext cx="23868" cy="2386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7" name="SCHEM_ellipse-0635"/>
              <p:cNvSpPr/>
              <p:nvPr/>
            </p:nvSpPr>
            <p:spPr>
              <a:xfrm>
                <a:off x="9948356" y="3980391"/>
                <a:ext cx="107259" cy="1072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8" name="SCHEM_ellipse-0636"/>
              <p:cNvSpPr/>
              <p:nvPr/>
            </p:nvSpPr>
            <p:spPr>
              <a:xfrm>
                <a:off x="9872583" y="2151848"/>
                <a:ext cx="42105" cy="4210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9" name="SCHEM_ellipse-0637"/>
              <p:cNvSpPr/>
              <p:nvPr/>
            </p:nvSpPr>
            <p:spPr>
              <a:xfrm>
                <a:off x="9920525" y="2700683"/>
                <a:ext cx="71723" cy="7172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0" name="SCHEM_ellipse-0638"/>
              <p:cNvSpPr/>
              <p:nvPr/>
            </p:nvSpPr>
            <p:spPr>
              <a:xfrm>
                <a:off x="9918736" y="2653987"/>
                <a:ext cx="36704" cy="3670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1" name="SCHEM_ellipse-0639"/>
              <p:cNvSpPr/>
              <p:nvPr/>
            </p:nvSpPr>
            <p:spPr>
              <a:xfrm>
                <a:off x="9998078" y="4528872"/>
                <a:ext cx="102336" cy="10233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2" name="SCHEM_ellipse-0640"/>
              <p:cNvSpPr/>
              <p:nvPr/>
            </p:nvSpPr>
            <p:spPr>
              <a:xfrm>
                <a:off x="10099429" y="2936044"/>
                <a:ext cx="23850" cy="2385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3" name="SCHEM_ellipse-0641"/>
              <p:cNvSpPr/>
              <p:nvPr/>
            </p:nvSpPr>
            <p:spPr>
              <a:xfrm>
                <a:off x="10492731" y="2075841"/>
                <a:ext cx="45758" cy="4575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4" name="SCHEM_ellipse-0642"/>
              <p:cNvSpPr/>
              <p:nvPr/>
            </p:nvSpPr>
            <p:spPr>
              <a:xfrm>
                <a:off x="10015392" y="4301653"/>
                <a:ext cx="46280" cy="4628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5" name="SCHEM_ellipse-0643"/>
              <p:cNvSpPr/>
              <p:nvPr/>
            </p:nvSpPr>
            <p:spPr>
              <a:xfrm>
                <a:off x="10723177" y="2199524"/>
                <a:ext cx="88889" cy="8888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6" name="SCHEM_ellipse-0644"/>
              <p:cNvSpPr/>
              <p:nvPr/>
            </p:nvSpPr>
            <p:spPr>
              <a:xfrm>
                <a:off x="10170042" y="3137714"/>
                <a:ext cx="20209" cy="202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7" name="SCHEM_ellipse-0645"/>
              <p:cNvSpPr/>
              <p:nvPr/>
            </p:nvSpPr>
            <p:spPr>
              <a:xfrm>
                <a:off x="10079404" y="4503436"/>
                <a:ext cx="35425" cy="354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8" name="SCHEM_ellipse-0646"/>
              <p:cNvSpPr/>
              <p:nvPr/>
            </p:nvSpPr>
            <p:spPr>
              <a:xfrm>
                <a:off x="10079449" y="4124911"/>
                <a:ext cx="34935" cy="3493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9" name="SCHEM_ellipse-0647"/>
              <p:cNvSpPr/>
              <p:nvPr/>
            </p:nvSpPr>
            <p:spPr>
              <a:xfrm>
                <a:off x="10576959" y="3157698"/>
                <a:ext cx="114933" cy="11493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0" name="SCHEM_ellipse-0648"/>
              <p:cNvSpPr/>
              <p:nvPr/>
            </p:nvSpPr>
            <p:spPr>
              <a:xfrm>
                <a:off x="9876052" y="3717666"/>
                <a:ext cx="37196" cy="3719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1" name="SCHEM_ellipse-0649"/>
              <p:cNvSpPr/>
              <p:nvPr/>
            </p:nvSpPr>
            <p:spPr>
              <a:xfrm>
                <a:off x="11056888" y="4634062"/>
                <a:ext cx="39394" cy="3939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2" name="SCHEM_ellipse-0650"/>
              <p:cNvSpPr/>
              <p:nvPr/>
            </p:nvSpPr>
            <p:spPr>
              <a:xfrm>
                <a:off x="11062244" y="4576227"/>
                <a:ext cx="29290" cy="292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3" name="SCHEM_ellipse-0651"/>
              <p:cNvSpPr/>
              <p:nvPr/>
            </p:nvSpPr>
            <p:spPr>
              <a:xfrm>
                <a:off x="10184609" y="4387947"/>
                <a:ext cx="136441" cy="13644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4" name="SCHEM_ellipse-0652"/>
              <p:cNvSpPr/>
              <p:nvPr/>
            </p:nvSpPr>
            <p:spPr>
              <a:xfrm>
                <a:off x="10107669" y="2174626"/>
                <a:ext cx="64911" cy="6491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5" name="SCHEM_ellipse-0653"/>
              <p:cNvSpPr/>
              <p:nvPr/>
            </p:nvSpPr>
            <p:spPr>
              <a:xfrm>
                <a:off x="9933960" y="2118986"/>
                <a:ext cx="28999" cy="2899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6" name="SCHEM_ellipse-0654"/>
              <p:cNvSpPr/>
              <p:nvPr/>
            </p:nvSpPr>
            <p:spPr>
              <a:xfrm>
                <a:off x="10222306" y="2971523"/>
                <a:ext cx="27300" cy="2730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7" name="SCHEM_ellipse-0655"/>
              <p:cNvSpPr/>
              <p:nvPr/>
            </p:nvSpPr>
            <p:spPr>
              <a:xfrm>
                <a:off x="10065540" y="4646266"/>
                <a:ext cx="113780" cy="11378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8" name="SCHEM_ellipse-0656"/>
              <p:cNvSpPr/>
              <p:nvPr/>
            </p:nvSpPr>
            <p:spPr>
              <a:xfrm>
                <a:off x="10467396" y="2439724"/>
                <a:ext cx="71771" cy="7177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9" name="SCHEM_ellipse-0657"/>
              <p:cNvSpPr/>
              <p:nvPr/>
            </p:nvSpPr>
            <p:spPr>
              <a:xfrm>
                <a:off x="10705325" y="3072830"/>
                <a:ext cx="27129" cy="2712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0" name="SCHEM_ellipse-0658"/>
              <p:cNvSpPr/>
              <p:nvPr/>
            </p:nvSpPr>
            <p:spPr>
              <a:xfrm>
                <a:off x="10857476" y="2589532"/>
                <a:ext cx="67296" cy="6729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1" name="SCHEM_ellipse-0659"/>
              <p:cNvSpPr/>
              <p:nvPr/>
            </p:nvSpPr>
            <p:spPr>
              <a:xfrm>
                <a:off x="9956332" y="3319527"/>
                <a:ext cx="130719" cy="13071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2" name="SCHEM_ellipse-0660"/>
              <p:cNvSpPr/>
              <p:nvPr/>
            </p:nvSpPr>
            <p:spPr>
              <a:xfrm>
                <a:off x="10689744" y="4581672"/>
                <a:ext cx="71344" cy="713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3" name="SCHEM_ellipse-0661"/>
              <p:cNvSpPr/>
              <p:nvPr/>
            </p:nvSpPr>
            <p:spPr>
              <a:xfrm>
                <a:off x="10817599" y="1731292"/>
                <a:ext cx="68401" cy="6840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4" name="SCHEM_ellipse-0662"/>
              <p:cNvSpPr/>
              <p:nvPr/>
            </p:nvSpPr>
            <p:spPr>
              <a:xfrm>
                <a:off x="10539019" y="2688382"/>
                <a:ext cx="36199" cy="3619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5" name="SCHEM_ellipse-0663"/>
              <p:cNvSpPr/>
              <p:nvPr/>
            </p:nvSpPr>
            <p:spPr>
              <a:xfrm>
                <a:off x="9808326" y="2126672"/>
                <a:ext cx="97667" cy="976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6" name="SCHEM_ellipse-0664"/>
              <p:cNvSpPr/>
              <p:nvPr/>
            </p:nvSpPr>
            <p:spPr>
              <a:xfrm>
                <a:off x="10177243" y="4048530"/>
                <a:ext cx="27027" cy="2702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7" name="SCHEM_ellipse-0665"/>
              <p:cNvSpPr/>
              <p:nvPr/>
            </p:nvSpPr>
            <p:spPr>
              <a:xfrm>
                <a:off x="10181889" y="3410865"/>
                <a:ext cx="26954" cy="269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8" name="SCHEM_ellipse-0666"/>
              <p:cNvSpPr/>
              <p:nvPr/>
            </p:nvSpPr>
            <p:spPr>
              <a:xfrm>
                <a:off x="10945199" y="1518996"/>
                <a:ext cx="44125" cy="441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9" name="SCHEM_ellipse-0667"/>
              <p:cNvSpPr/>
              <p:nvPr/>
            </p:nvSpPr>
            <p:spPr>
              <a:xfrm>
                <a:off x="10000796" y="1642738"/>
                <a:ext cx="124266" cy="1242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0" name="SCHEM_ellipse-0668"/>
              <p:cNvSpPr/>
              <p:nvPr/>
            </p:nvSpPr>
            <p:spPr>
              <a:xfrm>
                <a:off x="10586443" y="3081133"/>
                <a:ext cx="37223" cy="3722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1" name="SCHEM_ellipse-0669"/>
              <p:cNvSpPr/>
              <p:nvPr/>
            </p:nvSpPr>
            <p:spPr>
              <a:xfrm>
                <a:off x="10353245" y="1817621"/>
                <a:ext cx="21612" cy="2161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2" name="SCHEM_ellipse-0670"/>
              <p:cNvSpPr/>
              <p:nvPr/>
            </p:nvSpPr>
            <p:spPr>
              <a:xfrm>
                <a:off x="10521753" y="3724721"/>
                <a:ext cx="33467" cy="334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3" name="SCHEM_ellipse-0671"/>
              <p:cNvSpPr/>
              <p:nvPr/>
            </p:nvSpPr>
            <p:spPr>
              <a:xfrm>
                <a:off x="10514454" y="3103601"/>
                <a:ext cx="109113" cy="10911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4" name="SCHEM_ellipse-0672"/>
              <p:cNvSpPr/>
              <p:nvPr/>
            </p:nvSpPr>
            <p:spPr>
              <a:xfrm>
                <a:off x="10129140" y="3302335"/>
                <a:ext cx="38089" cy="3808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5" name="SCHEM_ellipse-0673"/>
              <p:cNvSpPr/>
              <p:nvPr/>
            </p:nvSpPr>
            <p:spPr>
              <a:xfrm>
                <a:off x="10441061" y="4043340"/>
                <a:ext cx="51334" cy="5133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6" name="SCHEM_ellipse-0674"/>
              <p:cNvSpPr/>
              <p:nvPr/>
            </p:nvSpPr>
            <p:spPr>
              <a:xfrm>
                <a:off x="10952553" y="3997338"/>
                <a:ext cx="51367" cy="513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7" name="SCHEM_polygon-0675"/>
              <p:cNvSpPr/>
              <p:nvPr/>
            </p:nvSpPr>
            <p:spPr>
              <a:xfrm>
                <a:off x="10375200" y="1432800"/>
                <a:ext cx="331200" cy="3398400"/>
              </a:xfrm>
              <a:custGeom>
                <a:avLst/>
                <a:gdLst/>
                <a:ahLst/>
                <a:cxnLst/>
                <a:rect l="0" t="0" r="r" b="b"/>
                <a:pathLst>
                  <a:path w="331200" h="3398400">
                    <a:moveTo>
                      <a:pt x="7200" y="0"/>
                    </a:moveTo>
                    <a:lnTo>
                      <a:pt x="64800" y="172800"/>
                    </a:lnTo>
                    <a:lnTo>
                      <a:pt x="21600" y="396000"/>
                    </a:lnTo>
                    <a:lnTo>
                      <a:pt x="108000" y="612000"/>
                    </a:lnTo>
                    <a:lnTo>
                      <a:pt x="86400" y="936000"/>
                    </a:lnTo>
                    <a:lnTo>
                      <a:pt x="0" y="1231200"/>
                    </a:lnTo>
                    <a:lnTo>
                      <a:pt x="64800" y="1483200"/>
                    </a:lnTo>
                    <a:lnTo>
                      <a:pt x="93600" y="1756800"/>
                    </a:lnTo>
                    <a:lnTo>
                      <a:pt x="43200" y="2095200"/>
                    </a:lnTo>
                    <a:lnTo>
                      <a:pt x="115200" y="2368800"/>
                    </a:lnTo>
                    <a:lnTo>
                      <a:pt x="93600" y="2664000"/>
                    </a:lnTo>
                    <a:lnTo>
                      <a:pt x="122400" y="2908800"/>
                    </a:lnTo>
                    <a:lnTo>
                      <a:pt x="57600" y="3182400"/>
                    </a:lnTo>
                    <a:lnTo>
                      <a:pt x="108000" y="3398400"/>
                    </a:lnTo>
                    <a:lnTo>
                      <a:pt x="208800" y="3398400"/>
                    </a:lnTo>
                    <a:lnTo>
                      <a:pt x="180000" y="3168000"/>
                    </a:lnTo>
                    <a:lnTo>
                      <a:pt x="266400" y="2894400"/>
                    </a:lnTo>
                    <a:lnTo>
                      <a:pt x="208800" y="2620800"/>
                    </a:lnTo>
                    <a:lnTo>
                      <a:pt x="288000" y="2404800"/>
                    </a:lnTo>
                    <a:lnTo>
                      <a:pt x="316800" y="2109600"/>
                    </a:lnTo>
                    <a:lnTo>
                      <a:pt x="266400" y="1836000"/>
                    </a:lnTo>
                    <a:lnTo>
                      <a:pt x="316800" y="1519200"/>
                    </a:lnTo>
                    <a:lnTo>
                      <a:pt x="266400" y="1216800"/>
                    </a:lnTo>
                    <a:lnTo>
                      <a:pt x="331200" y="914400"/>
                    </a:lnTo>
                    <a:lnTo>
                      <a:pt x="280800" y="648000"/>
                    </a:lnTo>
                    <a:lnTo>
                      <a:pt x="201600" y="381600"/>
                    </a:lnTo>
                    <a:lnTo>
                      <a:pt x="244800" y="158400"/>
                    </a:lnTo>
                    <a:lnTo>
                      <a:pt x="316800" y="0"/>
                    </a:lnTo>
                    <a:close/>
                  </a:path>
                </a:pathLst>
              </a:custGeom>
              <a:solidFill>
                <a:srgbClr val="88CDE9"/>
              </a:solidFill>
              <a:ln w="7200" cap="flat">
                <a:solidFill>
                  <a:srgbClr val="275C72"/>
                </a:solidFill>
              </a:ln>
              <a:effectLst/>
            </p:spPr>
          </p:sp>
          <p:sp>
            <p:nvSpPr>
              <p:cNvPr id="678" name="SCHEM_path-0676"/>
              <p:cNvSpPr/>
              <p:nvPr/>
            </p:nvSpPr>
            <p:spPr>
              <a:xfrm>
                <a:off x="10417608" y="1880522"/>
                <a:ext cx="284763" cy="543521"/>
              </a:xfrm>
              <a:custGeom>
                <a:avLst/>
                <a:gdLst/>
                <a:ahLst/>
                <a:cxnLst/>
                <a:rect l="0" t="0" r="r" b="b"/>
                <a:pathLst>
                  <a:path w="284763" h="543521">
                    <a:moveTo>
                      <a:pt x="280398" y="286678"/>
                    </a:moveTo>
                    <a:cubicBezTo>
                      <a:pt x="282086" y="330779"/>
                      <a:pt x="284763" y="387343"/>
                      <a:pt x="273723" y="424390"/>
                    </a:cubicBezTo>
                    <a:cubicBezTo>
                      <a:pt x="262684" y="461437"/>
                      <a:pt x="235650" y="489484"/>
                      <a:pt x="214162" y="508960"/>
                    </a:cubicBezTo>
                    <a:cubicBezTo>
                      <a:pt x="192673" y="528436"/>
                      <a:pt x="167205" y="543521"/>
                      <a:pt x="144792" y="541245"/>
                    </a:cubicBezTo>
                    <a:cubicBezTo>
                      <a:pt x="122379" y="538969"/>
                      <a:pt x="100545" y="515451"/>
                      <a:pt x="79683" y="495306"/>
                    </a:cubicBezTo>
                    <a:cubicBezTo>
                      <a:pt x="58821" y="475161"/>
                      <a:pt x="30575" y="455145"/>
                      <a:pt x="19620" y="420374"/>
                    </a:cubicBezTo>
                    <a:cubicBezTo>
                      <a:pt x="8664" y="385603"/>
                      <a:pt x="15398" y="332790"/>
                      <a:pt x="13950" y="286678"/>
                    </a:cubicBezTo>
                    <a:cubicBezTo>
                      <a:pt x="12503" y="240567"/>
                      <a:pt x="0" y="178542"/>
                      <a:pt x="10936" y="143707"/>
                    </a:cubicBezTo>
                    <a:cubicBezTo>
                      <a:pt x="21871" y="108872"/>
                      <a:pt x="57254" y="101402"/>
                      <a:pt x="79564" y="77669"/>
                    </a:cubicBezTo>
                    <a:cubicBezTo>
                      <a:pt x="101873" y="53936"/>
                      <a:pt x="123457" y="0"/>
                      <a:pt x="144792" y="1307"/>
                    </a:cubicBezTo>
                    <a:cubicBezTo>
                      <a:pt x="166126" y="2615"/>
                      <a:pt x="187771" y="59100"/>
                      <a:pt x="207572" y="85513"/>
                    </a:cubicBezTo>
                    <a:cubicBezTo>
                      <a:pt x="227372" y="111927"/>
                      <a:pt x="251456" y="126259"/>
                      <a:pt x="263593" y="159787"/>
                    </a:cubicBezTo>
                    <a:cubicBezTo>
                      <a:pt x="275731" y="193314"/>
                      <a:pt x="278710" y="242578"/>
                      <a:pt x="280398" y="286678"/>
                    </a:cubicBezTo>
                    <a:close/>
                  </a:path>
                </a:pathLst>
              </a:custGeom>
              <a:solidFill>
                <a:srgbClr val="BEC9A9"/>
              </a:solidFill>
              <a:ln w="6480" cap="flat">
                <a:solidFill>
                  <a:srgbClr val="6D7A5A"/>
                </a:solidFill>
              </a:ln>
              <a:effectLst/>
            </p:spPr>
          </p:sp>
          <p:sp>
            <p:nvSpPr>
              <p:cNvPr id="679" name="SCHEM_path-0677"/>
              <p:cNvSpPr/>
              <p:nvPr/>
            </p:nvSpPr>
            <p:spPr>
              <a:xfrm>
                <a:off x="10443543" y="2040966"/>
                <a:ext cx="190712" cy="192076"/>
              </a:xfrm>
              <a:custGeom>
                <a:avLst/>
                <a:gdLst/>
                <a:ahLst/>
                <a:cxnLst/>
                <a:rect l="0" t="0" r="r" b="b"/>
                <a:pathLst>
                  <a:path w="190712" h="192076">
                    <a:moveTo>
                      <a:pt x="190396" y="90234"/>
                    </a:moveTo>
                    <a:cubicBezTo>
                      <a:pt x="190712" y="115393"/>
                      <a:pt x="167012" y="150984"/>
                      <a:pt x="146896" y="166991"/>
                    </a:cubicBezTo>
                    <a:cubicBezTo>
                      <a:pt x="126781" y="182998"/>
                      <a:pt x="92657" y="192076"/>
                      <a:pt x="69702" y="186275"/>
                    </a:cubicBezTo>
                    <a:cubicBezTo>
                      <a:pt x="46746" y="180474"/>
                      <a:pt x="18331" y="154705"/>
                      <a:pt x="9165" y="132185"/>
                    </a:cubicBezTo>
                    <a:cubicBezTo>
                      <a:pt x="0" y="109666"/>
                      <a:pt x="4208" y="72213"/>
                      <a:pt x="14709" y="51157"/>
                    </a:cubicBezTo>
                    <a:cubicBezTo>
                      <a:pt x="25211" y="30102"/>
                      <a:pt x="50458" y="11707"/>
                      <a:pt x="72173" y="5853"/>
                    </a:cubicBezTo>
                    <a:cubicBezTo>
                      <a:pt x="93888" y="0"/>
                      <a:pt x="125296" y="1974"/>
                      <a:pt x="145000" y="16037"/>
                    </a:cubicBezTo>
                    <a:cubicBezTo>
                      <a:pt x="164704" y="30101"/>
                      <a:pt x="190079" y="65075"/>
                      <a:pt x="190396" y="90234"/>
                    </a:cubicBezTo>
                    <a:close/>
                  </a:path>
                </a:pathLst>
              </a:custGeom>
              <a:solidFill>
                <a:srgbClr val="F3F3ED"/>
              </a:solidFill>
              <a:ln w="4320" cap="flat">
                <a:solidFill>
                  <a:srgbClr val="949B85"/>
                </a:solidFill>
              </a:ln>
              <a:effectLst/>
            </p:spPr>
          </p:sp>
          <p:sp>
            <p:nvSpPr>
              <p:cNvPr id="680" name="SCHEM_ellipse-0678"/>
              <p:cNvSpPr/>
              <p:nvPr/>
            </p:nvSpPr>
            <p:spPr>
              <a:xfrm>
                <a:off x="10584000" y="22968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81" name="SCHEM_ellipse-0679"/>
              <p:cNvSpPr/>
              <p:nvPr/>
            </p:nvSpPr>
            <p:spPr>
              <a:xfrm>
                <a:off x="10584000" y="23472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82" name="SCHEM_path-0680"/>
              <p:cNvSpPr/>
              <p:nvPr/>
            </p:nvSpPr>
            <p:spPr>
              <a:xfrm>
                <a:off x="10420748" y="2418173"/>
                <a:ext cx="278131" cy="533467"/>
              </a:xfrm>
              <a:custGeom>
                <a:avLst/>
                <a:gdLst/>
                <a:ahLst/>
                <a:cxnLst/>
                <a:rect l="0" t="0" r="r" b="b"/>
                <a:pathLst>
                  <a:path w="278131" h="533467">
                    <a:moveTo>
                      <a:pt x="275035" y="274627"/>
                    </a:moveTo>
                    <a:cubicBezTo>
                      <a:pt x="275973" y="318700"/>
                      <a:pt x="278131" y="370265"/>
                      <a:pt x="268255" y="409852"/>
                    </a:cubicBezTo>
                    <a:cubicBezTo>
                      <a:pt x="258379" y="449440"/>
                      <a:pt x="236879" y="495609"/>
                      <a:pt x="215778" y="512151"/>
                    </a:cubicBezTo>
                    <a:cubicBezTo>
                      <a:pt x="194678" y="528694"/>
                      <a:pt x="166615" y="508292"/>
                      <a:pt x="141652" y="509108"/>
                    </a:cubicBezTo>
                    <a:cubicBezTo>
                      <a:pt x="116688" y="509924"/>
                      <a:pt x="87214" y="533467"/>
                      <a:pt x="65996" y="517049"/>
                    </a:cubicBezTo>
                    <a:cubicBezTo>
                      <a:pt x="44779" y="500632"/>
                      <a:pt x="24944" y="451006"/>
                      <a:pt x="14346" y="410602"/>
                    </a:cubicBezTo>
                    <a:cubicBezTo>
                      <a:pt x="3747" y="370199"/>
                      <a:pt x="0" y="317382"/>
                      <a:pt x="2406" y="274627"/>
                    </a:cubicBezTo>
                    <a:cubicBezTo>
                      <a:pt x="4812" y="231872"/>
                      <a:pt x="17119" y="191065"/>
                      <a:pt x="28782" y="154071"/>
                    </a:cubicBezTo>
                    <a:cubicBezTo>
                      <a:pt x="40444" y="117077"/>
                      <a:pt x="53569" y="77748"/>
                      <a:pt x="72381" y="52664"/>
                    </a:cubicBezTo>
                    <a:cubicBezTo>
                      <a:pt x="91193" y="27579"/>
                      <a:pt x="117449" y="7131"/>
                      <a:pt x="141652" y="3565"/>
                    </a:cubicBezTo>
                    <a:cubicBezTo>
                      <a:pt x="165855" y="0"/>
                      <a:pt x="197437" y="7629"/>
                      <a:pt x="217599" y="31271"/>
                    </a:cubicBezTo>
                    <a:cubicBezTo>
                      <a:pt x="237761" y="54913"/>
                      <a:pt x="253051" y="104858"/>
                      <a:pt x="262624" y="145417"/>
                    </a:cubicBezTo>
                    <a:cubicBezTo>
                      <a:pt x="272196" y="185977"/>
                      <a:pt x="274096" y="230555"/>
                      <a:pt x="275035" y="274627"/>
                    </a:cubicBezTo>
                    <a:close/>
                  </a:path>
                </a:pathLst>
              </a:custGeom>
              <a:solidFill>
                <a:srgbClr val="BEC9A9"/>
              </a:solidFill>
              <a:ln w="6480" cap="flat">
                <a:solidFill>
                  <a:srgbClr val="6D7A5A"/>
                </a:solidFill>
              </a:ln>
              <a:effectLst/>
            </p:spPr>
          </p:sp>
          <p:sp>
            <p:nvSpPr>
              <p:cNvPr id="683" name="SCHEM_path-0681"/>
              <p:cNvSpPr/>
              <p:nvPr/>
            </p:nvSpPr>
            <p:spPr>
              <a:xfrm>
                <a:off x="10437344" y="2554050"/>
                <a:ext cx="182471" cy="200589"/>
              </a:xfrm>
              <a:custGeom>
                <a:avLst/>
                <a:gdLst/>
                <a:ahLst/>
                <a:cxnLst/>
                <a:rect l="0" t="0" r="r" b="b"/>
                <a:pathLst>
                  <a:path w="182471" h="200589">
                    <a:moveTo>
                      <a:pt x="180848" y="102750"/>
                    </a:moveTo>
                    <a:cubicBezTo>
                      <a:pt x="179224" y="128779"/>
                      <a:pt x="166608" y="158690"/>
                      <a:pt x="149210" y="174260"/>
                    </a:cubicBezTo>
                    <a:cubicBezTo>
                      <a:pt x="131811" y="189830"/>
                      <a:pt x="99741" y="200589"/>
                      <a:pt x="76457" y="196170"/>
                    </a:cubicBezTo>
                    <a:cubicBezTo>
                      <a:pt x="53173" y="191750"/>
                      <a:pt x="19011" y="169952"/>
                      <a:pt x="9505" y="147741"/>
                    </a:cubicBezTo>
                    <a:cubicBezTo>
                      <a:pt x="0" y="125530"/>
                      <a:pt x="8332" y="86283"/>
                      <a:pt x="19425" y="62904"/>
                    </a:cubicBezTo>
                    <a:cubicBezTo>
                      <a:pt x="30518" y="39526"/>
                      <a:pt x="52808" y="14939"/>
                      <a:pt x="76062" y="7470"/>
                    </a:cubicBezTo>
                    <a:cubicBezTo>
                      <a:pt x="99317" y="0"/>
                      <a:pt x="141486" y="2207"/>
                      <a:pt x="158951" y="18087"/>
                    </a:cubicBezTo>
                    <a:cubicBezTo>
                      <a:pt x="176415" y="33967"/>
                      <a:pt x="182471" y="76721"/>
                      <a:pt x="180848" y="102750"/>
                    </a:cubicBezTo>
                    <a:close/>
                  </a:path>
                </a:pathLst>
              </a:custGeom>
              <a:solidFill>
                <a:srgbClr val="F3F3ED"/>
              </a:solidFill>
              <a:ln w="4320" cap="flat">
                <a:solidFill>
                  <a:srgbClr val="949B85"/>
                </a:solidFill>
              </a:ln>
              <a:effectLst/>
            </p:spPr>
          </p:sp>
          <p:sp>
            <p:nvSpPr>
              <p:cNvPr id="684" name="SCHEM_ellipse-0682"/>
              <p:cNvSpPr/>
              <p:nvPr/>
            </p:nvSpPr>
            <p:spPr>
              <a:xfrm>
                <a:off x="10584000" y="28224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85" name="SCHEM_ellipse-0683"/>
              <p:cNvSpPr/>
              <p:nvPr/>
            </p:nvSpPr>
            <p:spPr>
              <a:xfrm>
                <a:off x="10584000" y="28728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86" name="SCHEM_path-0684"/>
              <p:cNvSpPr/>
              <p:nvPr/>
            </p:nvSpPr>
            <p:spPr>
              <a:xfrm>
                <a:off x="10430959" y="3117963"/>
                <a:ext cx="266899" cy="546740"/>
              </a:xfrm>
              <a:custGeom>
                <a:avLst/>
                <a:gdLst/>
                <a:ahLst/>
                <a:cxnLst/>
                <a:rect l="0" t="0" r="r" b="b"/>
                <a:pathLst>
                  <a:path w="266899" h="546740">
                    <a:moveTo>
                      <a:pt x="264980" y="287637"/>
                    </a:moveTo>
                    <a:cubicBezTo>
                      <a:pt x="263060" y="327977"/>
                      <a:pt x="250014" y="366526"/>
                      <a:pt x="238986" y="402506"/>
                    </a:cubicBezTo>
                    <a:cubicBezTo>
                      <a:pt x="227958" y="438485"/>
                      <a:pt x="216736" y="483776"/>
                      <a:pt x="198812" y="503514"/>
                    </a:cubicBezTo>
                    <a:cubicBezTo>
                      <a:pt x="180888" y="523252"/>
                      <a:pt x="155181" y="516822"/>
                      <a:pt x="131441" y="520932"/>
                    </a:cubicBezTo>
                    <a:cubicBezTo>
                      <a:pt x="107701" y="525043"/>
                      <a:pt x="75397" y="546740"/>
                      <a:pt x="56372" y="528179"/>
                    </a:cubicBezTo>
                    <a:cubicBezTo>
                      <a:pt x="37347" y="509617"/>
                      <a:pt x="25998" y="449653"/>
                      <a:pt x="17288" y="409563"/>
                    </a:cubicBezTo>
                    <a:cubicBezTo>
                      <a:pt x="8578" y="369472"/>
                      <a:pt x="5569" y="329835"/>
                      <a:pt x="4112" y="287637"/>
                    </a:cubicBezTo>
                    <a:cubicBezTo>
                      <a:pt x="2655" y="245439"/>
                      <a:pt x="0" y="196987"/>
                      <a:pt x="8547" y="156374"/>
                    </a:cubicBezTo>
                    <a:cubicBezTo>
                      <a:pt x="17094" y="115761"/>
                      <a:pt x="34911" y="69166"/>
                      <a:pt x="55393" y="43959"/>
                    </a:cubicBezTo>
                    <a:cubicBezTo>
                      <a:pt x="75875" y="18751"/>
                      <a:pt x="107692" y="0"/>
                      <a:pt x="131441" y="5130"/>
                    </a:cubicBezTo>
                    <a:cubicBezTo>
                      <a:pt x="155189" y="10260"/>
                      <a:pt x="178038" y="48850"/>
                      <a:pt x="197882" y="74740"/>
                    </a:cubicBezTo>
                    <a:cubicBezTo>
                      <a:pt x="217725" y="100629"/>
                      <a:pt x="239319" y="124984"/>
                      <a:pt x="250502" y="160467"/>
                    </a:cubicBezTo>
                    <a:cubicBezTo>
                      <a:pt x="261685" y="195950"/>
                      <a:pt x="266899" y="247297"/>
                      <a:pt x="264980" y="287637"/>
                    </a:cubicBezTo>
                    <a:close/>
                  </a:path>
                </a:pathLst>
              </a:custGeom>
              <a:solidFill>
                <a:srgbClr val="BEC9A9"/>
              </a:solidFill>
              <a:ln w="6480" cap="flat">
                <a:solidFill>
                  <a:srgbClr val="6D7A5A"/>
                </a:solidFill>
              </a:ln>
              <a:effectLst/>
            </p:spPr>
          </p:sp>
          <p:sp>
            <p:nvSpPr>
              <p:cNvPr id="687" name="SCHEM_path-0685"/>
              <p:cNvSpPr/>
              <p:nvPr/>
            </p:nvSpPr>
            <p:spPr>
              <a:xfrm>
                <a:off x="10434832" y="3273344"/>
                <a:ext cx="180544" cy="207175"/>
              </a:xfrm>
              <a:custGeom>
                <a:avLst/>
                <a:gdLst/>
                <a:ahLst/>
                <a:cxnLst/>
                <a:rect l="0" t="0" r="r" b="b"/>
                <a:pathLst>
                  <a:path w="180544" h="207175">
                    <a:moveTo>
                      <a:pt x="179826" y="96256"/>
                    </a:moveTo>
                    <a:cubicBezTo>
                      <a:pt x="179109" y="119850"/>
                      <a:pt x="166287" y="146461"/>
                      <a:pt x="149032" y="164133"/>
                    </a:cubicBezTo>
                    <a:cubicBezTo>
                      <a:pt x="131777" y="181806"/>
                      <a:pt x="97070" y="207175"/>
                      <a:pt x="76294" y="202292"/>
                    </a:cubicBezTo>
                    <a:cubicBezTo>
                      <a:pt x="55519" y="197409"/>
                      <a:pt x="35567" y="160254"/>
                      <a:pt x="24378" y="134835"/>
                    </a:cubicBezTo>
                    <a:cubicBezTo>
                      <a:pt x="13188" y="109417"/>
                      <a:pt x="0" y="71499"/>
                      <a:pt x="9158" y="49783"/>
                    </a:cubicBezTo>
                    <a:cubicBezTo>
                      <a:pt x="18317" y="28066"/>
                      <a:pt x="55299" y="9073"/>
                      <a:pt x="79329" y="4536"/>
                    </a:cubicBezTo>
                    <a:cubicBezTo>
                      <a:pt x="103358" y="0"/>
                      <a:pt x="136588" y="7277"/>
                      <a:pt x="153337" y="22564"/>
                    </a:cubicBezTo>
                    <a:cubicBezTo>
                      <a:pt x="170087" y="37850"/>
                      <a:pt x="180544" y="72661"/>
                      <a:pt x="179826" y="96256"/>
                    </a:cubicBezTo>
                    <a:close/>
                  </a:path>
                </a:pathLst>
              </a:custGeom>
              <a:solidFill>
                <a:srgbClr val="F3F3ED"/>
              </a:solidFill>
              <a:ln w="4320" cap="flat">
                <a:solidFill>
                  <a:srgbClr val="949B85"/>
                </a:solidFill>
              </a:ln>
              <a:effectLst/>
            </p:spPr>
          </p:sp>
          <p:sp>
            <p:nvSpPr>
              <p:cNvPr id="688" name="SCHEM_ellipse-0686"/>
              <p:cNvSpPr/>
              <p:nvPr/>
            </p:nvSpPr>
            <p:spPr>
              <a:xfrm>
                <a:off x="10584000" y="35352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89" name="SCHEM_ellipse-0687"/>
              <p:cNvSpPr/>
              <p:nvPr/>
            </p:nvSpPr>
            <p:spPr>
              <a:xfrm>
                <a:off x="10584000" y="35856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90" name="SCHEM_path-0688"/>
              <p:cNvSpPr/>
              <p:nvPr/>
            </p:nvSpPr>
            <p:spPr>
              <a:xfrm>
                <a:off x="10418097" y="3767177"/>
                <a:ext cx="300524" cy="513335"/>
              </a:xfrm>
              <a:custGeom>
                <a:avLst/>
                <a:gdLst/>
                <a:ahLst/>
                <a:cxnLst/>
                <a:rect l="0" t="0" r="r" b="b"/>
                <a:pathLst>
                  <a:path w="300524" h="513335">
                    <a:moveTo>
                      <a:pt x="299441" y="250423"/>
                    </a:moveTo>
                    <a:cubicBezTo>
                      <a:pt x="300524" y="295667"/>
                      <a:pt x="288782" y="352118"/>
                      <a:pt x="274631" y="389626"/>
                    </a:cubicBezTo>
                    <a:cubicBezTo>
                      <a:pt x="260481" y="427134"/>
                      <a:pt x="236258" y="455624"/>
                      <a:pt x="214536" y="475470"/>
                    </a:cubicBezTo>
                    <a:cubicBezTo>
                      <a:pt x="192815" y="495315"/>
                      <a:pt x="166268" y="513335"/>
                      <a:pt x="144303" y="508701"/>
                    </a:cubicBezTo>
                    <a:cubicBezTo>
                      <a:pt x="122339" y="504066"/>
                      <a:pt x="104949" y="466995"/>
                      <a:pt x="82749" y="447661"/>
                    </a:cubicBezTo>
                    <a:cubicBezTo>
                      <a:pt x="60548" y="428327"/>
                      <a:pt x="22202" y="425569"/>
                      <a:pt x="11101" y="392696"/>
                    </a:cubicBezTo>
                    <a:cubicBezTo>
                      <a:pt x="0" y="359823"/>
                      <a:pt x="15227" y="296868"/>
                      <a:pt x="16143" y="250423"/>
                    </a:cubicBezTo>
                    <a:cubicBezTo>
                      <a:pt x="17059" y="203977"/>
                      <a:pt x="7068" y="151926"/>
                      <a:pt x="16598" y="114022"/>
                    </a:cubicBezTo>
                    <a:cubicBezTo>
                      <a:pt x="26129" y="76117"/>
                      <a:pt x="52044" y="40322"/>
                      <a:pt x="73328" y="22997"/>
                    </a:cubicBezTo>
                    <a:cubicBezTo>
                      <a:pt x="94612" y="5671"/>
                      <a:pt x="120386" y="10899"/>
                      <a:pt x="144303" y="10068"/>
                    </a:cubicBezTo>
                    <a:cubicBezTo>
                      <a:pt x="168221" y="9238"/>
                      <a:pt x="196195" y="0"/>
                      <a:pt x="216833" y="18015"/>
                    </a:cubicBezTo>
                    <a:cubicBezTo>
                      <a:pt x="237471" y="36031"/>
                      <a:pt x="254365" y="79426"/>
                      <a:pt x="268133" y="118161"/>
                    </a:cubicBezTo>
                    <a:cubicBezTo>
                      <a:pt x="281900" y="156895"/>
                      <a:pt x="298358" y="205179"/>
                      <a:pt x="299441" y="250423"/>
                    </a:cubicBezTo>
                    <a:close/>
                  </a:path>
                </a:pathLst>
              </a:custGeom>
              <a:solidFill>
                <a:srgbClr val="BEC9A9"/>
              </a:solidFill>
              <a:ln w="6480" cap="flat">
                <a:solidFill>
                  <a:srgbClr val="6D7A5A"/>
                </a:solidFill>
              </a:ln>
              <a:effectLst/>
            </p:spPr>
          </p:sp>
          <p:sp>
            <p:nvSpPr>
              <p:cNvPr id="691" name="SCHEM_path-0689"/>
              <p:cNvSpPr/>
              <p:nvPr/>
            </p:nvSpPr>
            <p:spPr>
              <a:xfrm>
                <a:off x="10433136" y="3888956"/>
                <a:ext cx="181192" cy="200241"/>
              </a:xfrm>
              <a:custGeom>
                <a:avLst/>
                <a:gdLst/>
                <a:ahLst/>
                <a:cxnLst/>
                <a:rect l="0" t="0" r="r" b="b"/>
                <a:pathLst>
                  <a:path w="181192" h="200241">
                    <a:moveTo>
                      <a:pt x="180359" y="92644"/>
                    </a:moveTo>
                    <a:cubicBezTo>
                      <a:pt x="181192" y="119308"/>
                      <a:pt x="179104" y="159086"/>
                      <a:pt x="162200" y="176013"/>
                    </a:cubicBezTo>
                    <a:cubicBezTo>
                      <a:pt x="145297" y="192940"/>
                      <a:pt x="104384" y="200241"/>
                      <a:pt x="78939" y="194206"/>
                    </a:cubicBezTo>
                    <a:cubicBezTo>
                      <a:pt x="53495" y="188171"/>
                      <a:pt x="19064" y="163534"/>
                      <a:pt x="9532" y="139803"/>
                    </a:cubicBezTo>
                    <a:cubicBezTo>
                      <a:pt x="0" y="116072"/>
                      <a:pt x="9652" y="74125"/>
                      <a:pt x="21746" y="51819"/>
                    </a:cubicBezTo>
                    <a:cubicBezTo>
                      <a:pt x="33840" y="29513"/>
                      <a:pt x="59518" y="11932"/>
                      <a:pt x="82094" y="5966"/>
                    </a:cubicBezTo>
                    <a:cubicBezTo>
                      <a:pt x="104670" y="0"/>
                      <a:pt x="140825" y="1577"/>
                      <a:pt x="157202" y="16024"/>
                    </a:cubicBezTo>
                    <a:cubicBezTo>
                      <a:pt x="173580" y="30470"/>
                      <a:pt x="179526" y="65979"/>
                      <a:pt x="180359" y="92644"/>
                    </a:cubicBezTo>
                    <a:close/>
                  </a:path>
                </a:pathLst>
              </a:custGeom>
              <a:solidFill>
                <a:srgbClr val="F3F3ED"/>
              </a:solidFill>
              <a:ln w="4320" cap="flat">
                <a:solidFill>
                  <a:srgbClr val="949B85"/>
                </a:solidFill>
              </a:ln>
              <a:effectLst/>
            </p:spPr>
          </p:sp>
          <p:sp>
            <p:nvSpPr>
              <p:cNvPr id="692" name="SCHEM_ellipse-0690"/>
              <p:cNvSpPr/>
              <p:nvPr/>
            </p:nvSpPr>
            <p:spPr>
              <a:xfrm>
                <a:off x="10584000" y="41472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93" name="SCHEM_ellipse-0691"/>
              <p:cNvSpPr/>
              <p:nvPr/>
            </p:nvSpPr>
            <p:spPr>
              <a:xfrm>
                <a:off x="10584000" y="41976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</p:grpSp>
        <p:sp>
          <p:nvSpPr>
            <p:cNvPr id="694" name="SCHEM_text-0692"/>
            <p:cNvSpPr txBox="1"/>
            <p:nvPr/>
          </p:nvSpPr>
          <p:spPr>
            <a:xfrm>
              <a:off x="8208000" y="957600"/>
              <a:ext cx="1332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Control</a:t>
              </a:r>
              <a:endParaRPr lang="en-US" sz="1247"/>
            </a:p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(no lime clasts)</a:t>
              </a:r>
              <a:endParaRPr lang="en-US" sz="1247"/>
            </a:p>
          </p:txBody>
        </p:sp>
        <p:sp>
          <p:nvSpPr>
            <p:cNvPr id="695" name="SCHEM_text-0693"/>
            <p:cNvSpPr txBox="1"/>
            <p:nvPr/>
          </p:nvSpPr>
          <p:spPr>
            <a:xfrm>
              <a:off x="9727200" y="957600"/>
              <a:ext cx="1656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Lime-clast specimen</a:t>
              </a:r>
              <a:endParaRPr lang="en-US" sz="1247"/>
            </a:p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(with lime clasts)</a:t>
              </a:r>
              <a:endParaRPr lang="en-US" sz="1247"/>
            </a:p>
          </p:txBody>
        </p:sp>
        <p:sp>
          <p:nvSpPr>
            <p:cNvPr id="696" name="SCHEM_text-0694"/>
            <p:cNvSpPr txBox="1"/>
            <p:nvPr/>
          </p:nvSpPr>
          <p:spPr>
            <a:xfrm>
              <a:off x="8222400" y="4881600"/>
              <a:ext cx="13248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Open crack with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continuous flow</a:t>
              </a:r>
              <a:endParaRPr lang="en-US" sz="1191"/>
            </a:p>
          </p:txBody>
        </p:sp>
        <p:sp>
          <p:nvSpPr>
            <p:cNvPr id="697" name="SCHEM_text-0695"/>
            <p:cNvSpPr txBox="1"/>
            <p:nvPr/>
          </p:nvSpPr>
          <p:spPr>
            <a:xfrm>
              <a:off x="9669600" y="4881600"/>
              <a:ext cx="17424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Calcite bridges narrow crack</a:t>
              </a:r>
              <a:endParaRPr lang="en-US" sz="1134"/>
            </a:p>
          </p:txBody>
        </p:sp>
        <p:sp>
          <p:nvSpPr>
            <p:cNvPr id="698" name="SCHEM_text-0696"/>
            <p:cNvSpPr txBox="1"/>
            <p:nvPr/>
          </p:nvSpPr>
          <p:spPr>
            <a:xfrm>
              <a:off x="9676800" y="5097600"/>
              <a:ext cx="1728000" cy="220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07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Flow ceased in tested specimen</a:t>
              </a:r>
              <a:endParaRPr lang="en-US" sz="1077"/>
            </a:p>
          </p:txBody>
        </p:sp>
        <p:sp>
          <p:nvSpPr>
            <p:cNvPr id="699" name="SCHEM_text-0697"/>
            <p:cNvSpPr txBox="1"/>
            <p:nvPr/>
          </p:nvSpPr>
          <p:spPr>
            <a:xfrm>
              <a:off x="2577600" y="5860800"/>
              <a:ext cx="8064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Tested gap: 0.5 ± 0.1 mm | 28-day cure | 2-month wet/dry preconditioning | Flow exposure: up to 30 days</a:t>
              </a:r>
              <a:endParaRPr lang="en-US" sz="1191"/>
            </a:p>
          </p:txBody>
        </p:sp>
        <p:sp>
          <p:nvSpPr>
            <p:cNvPr id="700" name="SCHEM_text-0698"/>
            <p:cNvSpPr txBox="1"/>
            <p:nvPr/>
          </p:nvSpPr>
          <p:spPr>
            <a:xfrm>
              <a:off x="6573600" y="6271200"/>
              <a:ext cx="4939200" cy="1915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90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Science Advances (2023) | doi:10.1126/sciadv.add1602 | Proposed mechanism; not to scale</a:t>
              </a:r>
              <a:endParaRPr lang="en-US" sz="907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