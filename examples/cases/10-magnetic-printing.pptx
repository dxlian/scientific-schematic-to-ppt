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08000" y="122400"/>
            <a:ext cx="11404800" cy="6316560"/>
            <a:chOff x="108000" y="122400"/>
            <a:chExt cx="11404800" cy="6316560"/>
          </a:xfrm>
        </p:grpSpPr>
        <p:sp>
          <p:nvSpPr>
            <p:cNvPr id="3" name="SCHEM_text-0001"/>
            <p:cNvSpPr txBox="1"/>
            <p:nvPr/>
          </p:nvSpPr>
          <p:spPr>
            <a:xfrm>
              <a:off x="266400" y="129600"/>
              <a:ext cx="360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 Printing of pre-magnetized ink</a:t>
              </a:r>
              <a:endParaRPr lang="en-US" sz="1644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4068000" y="122400"/>
              <a:ext cx="3816000" cy="5997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2. Programmed magnetic domains</a:t>
              </a:r>
              <a:endParaRPr lang="en-US" sz="1644"/>
            </a:p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 cured filament</a:t>
              </a:r>
              <a:endParaRPr lang="en-US" sz="1644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8064000" y="129600"/>
              <a:ext cx="34344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3. Conceptual deformation</a:t>
              </a:r>
              <a:endParaRPr lang="en-US" sz="1644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698400" y="475200"/>
              <a:ext cx="259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Pre-magnetized ink</a:t>
              </a:r>
              <a:endParaRPr lang="en-US" sz="1531"/>
            </a:p>
          </p:txBody>
        </p:sp>
        <p:cxnSp>
          <p:nvCxnSpPr>
            <p:cNvPr id="7" name="SCHEM_line-0005"/>
            <p:cNvCxnSpPr/>
            <p:nvPr/>
          </p:nvCxnSpPr>
          <p:spPr>
            <a:xfrm>
              <a:off x="1461600" y="705600"/>
              <a:ext cx="1" cy="252000"/>
            </a:xfrm>
            <a:prstGeom prst="line">
              <a:avLst/>
            </a:prstGeom>
            <a:noFill/>
            <a:ln w="2880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8" name="SCHEM_printing-nozzle"/>
            <p:cNvGrpSpPr/>
            <p:nvPr/>
          </p:nvGrpSpPr>
          <p:grpSpPr>
            <a:xfrm>
              <a:off x="108000" y="957600"/>
              <a:ext cx="3880800" cy="4291200"/>
              <a:chOff x="108000" y="957600"/>
              <a:chExt cx="3880800" cy="4291200"/>
            </a:xfrm>
          </p:grpSpPr>
          <p:sp>
            <p:nvSpPr>
              <p:cNvPr id="9" name="SCHEM_polygon-0007"/>
              <p:cNvSpPr/>
              <p:nvPr/>
            </p:nvSpPr>
            <p:spPr>
              <a:xfrm>
                <a:off x="799200" y="957600"/>
                <a:ext cx="1332000" cy="3700800"/>
              </a:xfrm>
              <a:custGeom>
                <a:avLst/>
                <a:gdLst/>
                <a:ahLst/>
                <a:cxnLst/>
                <a:rect l="0" t="0" r="r" b="b"/>
                <a:pathLst>
                  <a:path w="1332000" h="3700800">
                    <a:moveTo>
                      <a:pt x="0" y="0"/>
                    </a:moveTo>
                    <a:lnTo>
                      <a:pt x="266400" y="0"/>
                    </a:lnTo>
                    <a:lnTo>
                      <a:pt x="266400" y="1339200"/>
                    </a:lnTo>
                    <a:lnTo>
                      <a:pt x="388800" y="1951200"/>
                    </a:lnTo>
                    <a:lnTo>
                      <a:pt x="496800" y="2253600"/>
                    </a:lnTo>
                    <a:lnTo>
                      <a:pt x="496800" y="3549600"/>
                    </a:lnTo>
                    <a:lnTo>
                      <a:pt x="756000" y="3549600"/>
                    </a:lnTo>
                    <a:lnTo>
                      <a:pt x="756000" y="2260800"/>
                    </a:lnTo>
                    <a:lnTo>
                      <a:pt x="921600" y="1972800"/>
                    </a:lnTo>
                    <a:lnTo>
                      <a:pt x="1072800" y="1346400"/>
                    </a:lnTo>
                    <a:lnTo>
                      <a:pt x="1072800" y="0"/>
                    </a:lnTo>
                    <a:lnTo>
                      <a:pt x="1332000" y="0"/>
                    </a:lnTo>
                    <a:lnTo>
                      <a:pt x="1332000" y="1432800"/>
                    </a:lnTo>
                    <a:lnTo>
                      <a:pt x="1065600" y="1994400"/>
                    </a:lnTo>
                    <a:lnTo>
                      <a:pt x="957600" y="2008800"/>
                    </a:lnTo>
                    <a:lnTo>
                      <a:pt x="813600" y="2368800"/>
                    </a:lnTo>
                    <a:lnTo>
                      <a:pt x="813600" y="3556800"/>
                    </a:lnTo>
                    <a:lnTo>
                      <a:pt x="525600" y="3700800"/>
                    </a:lnTo>
                    <a:lnTo>
                      <a:pt x="410400" y="2340000"/>
                    </a:lnTo>
                    <a:lnTo>
                      <a:pt x="309600" y="2016000"/>
                    </a:lnTo>
                    <a:lnTo>
                      <a:pt x="187200" y="1987200"/>
                    </a:lnTo>
                    <a:lnTo>
                      <a:pt x="0" y="1432800"/>
                    </a:lnTo>
                    <a:close/>
                  </a:path>
                </a:pathLst>
              </a:custGeom>
              <a:solidFill>
                <a:srgbClr val="BFC3C1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" name="SCHEM_line-0008"/>
              <p:cNvCxnSpPr/>
              <p:nvPr/>
            </p:nvCxnSpPr>
            <p:spPr>
              <a:xfrm>
                <a:off x="9072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10080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2" name="SCHEM_line-0010"/>
              <p:cNvCxnSpPr/>
              <p:nvPr/>
            </p:nvCxnSpPr>
            <p:spPr>
              <a:xfrm>
                <a:off x="19512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3" name="SCHEM_line-0011"/>
              <p:cNvCxnSpPr/>
              <p:nvPr/>
            </p:nvCxnSpPr>
            <p:spPr>
              <a:xfrm>
                <a:off x="20304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sp>
            <p:nvSpPr>
              <p:cNvPr id="14" name="SCHEM_path-0012"/>
              <p:cNvSpPr/>
              <p:nvPr/>
            </p:nvSpPr>
            <p:spPr>
              <a:xfrm>
                <a:off x="1072800" y="1015200"/>
                <a:ext cx="2397600" cy="3866400"/>
              </a:xfrm>
              <a:custGeom>
                <a:avLst/>
                <a:gdLst/>
                <a:ahLst/>
                <a:cxnLst/>
                <a:rect l="0" t="0" r="r" b="b"/>
                <a:pathLst>
                  <a:path w="2397600" h="3866400">
                    <a:moveTo>
                      <a:pt x="0" y="72000"/>
                    </a:moveTo>
                    <a:cubicBezTo>
                      <a:pt x="129600" y="0"/>
                      <a:pt x="640800" y="14400"/>
                      <a:pt x="792000" y="72000"/>
                    </a:cubicBezTo>
                    <a:lnTo>
                      <a:pt x="756000" y="1620000"/>
                    </a:lnTo>
                    <a:cubicBezTo>
                      <a:pt x="756000" y="1785600"/>
                      <a:pt x="612000" y="1857600"/>
                      <a:pt x="583200" y="1972800"/>
                    </a:cubicBezTo>
                    <a:lnTo>
                      <a:pt x="554400" y="3376800"/>
                    </a:lnTo>
                    <a:cubicBezTo>
                      <a:pt x="554400" y="3484800"/>
                      <a:pt x="597600" y="3499200"/>
                      <a:pt x="705600" y="3499200"/>
                    </a:cubicBezTo>
                    <a:lnTo>
                      <a:pt x="2174400" y="3542400"/>
                    </a:lnTo>
                    <a:cubicBezTo>
                      <a:pt x="2397600" y="3556800"/>
                      <a:pt x="2397600" y="3859200"/>
                      <a:pt x="2196000" y="3866400"/>
                    </a:cubicBezTo>
                    <a:lnTo>
                      <a:pt x="453600" y="3837600"/>
                    </a:lnTo>
                    <a:cubicBezTo>
                      <a:pt x="273600" y="3837600"/>
                      <a:pt x="259200" y="3729600"/>
                      <a:pt x="259200" y="3578400"/>
                    </a:cubicBezTo>
                    <a:lnTo>
                      <a:pt x="237600" y="1972800"/>
                    </a:lnTo>
                    <a:cubicBezTo>
                      <a:pt x="223200" y="1821600"/>
                      <a:pt x="129600" y="1814400"/>
                      <a:pt x="115200" y="1627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E4DF"/>
                  </a:gs>
                  <a:gs pos="55000">
                    <a:srgbClr val="C1C5C1"/>
                  </a:gs>
                  <a:gs pos="100000">
                    <a:srgbClr val="E4E4DE"/>
                  </a:gs>
                </a:gsLst>
                <a:lin ang="5400000" scaled="1"/>
              </a:gra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" name="SCHEM_polygon-0013"/>
              <p:cNvSpPr/>
              <p:nvPr/>
            </p:nvSpPr>
            <p:spPr>
              <a:xfrm>
                <a:off x="1205589" y="1214773"/>
                <a:ext cx="252822" cy="162453"/>
              </a:xfrm>
              <a:custGeom>
                <a:avLst/>
                <a:gdLst/>
                <a:ahLst/>
                <a:cxnLst/>
                <a:rect l="0" t="0" r="r" b="b"/>
                <a:pathLst>
                  <a:path w="252822" h="162453">
                    <a:moveTo>
                      <a:pt x="29551" y="0"/>
                    </a:moveTo>
                    <a:lnTo>
                      <a:pt x="252822" y="81264"/>
                    </a:lnTo>
                    <a:lnTo>
                      <a:pt x="223271" y="162453"/>
                    </a:lnTo>
                    <a:lnTo>
                      <a:pt x="0" y="81189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16" name="SCHEM_line-0014"/>
              <p:cNvCxnSpPr/>
              <p:nvPr/>
            </p:nvCxnSpPr>
            <p:spPr>
              <a:xfrm>
                <a:off x="1262786" y="1270808"/>
                <a:ext cx="138428" cy="50384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7" name="SCHEM_polygon-0015"/>
              <p:cNvSpPr/>
              <p:nvPr/>
            </p:nvSpPr>
            <p:spPr>
              <a:xfrm>
                <a:off x="1615494" y="1256686"/>
                <a:ext cx="181813" cy="251429"/>
              </a:xfrm>
              <a:custGeom>
                <a:avLst/>
                <a:gdLst/>
                <a:ahLst/>
                <a:cxnLst/>
                <a:rect l="0" t="0" r="r" b="b"/>
                <a:pathLst>
                  <a:path w="181813" h="251429">
                    <a:moveTo>
                      <a:pt x="77656" y="0"/>
                    </a:moveTo>
                    <a:lnTo>
                      <a:pt x="181813" y="213553"/>
                    </a:lnTo>
                    <a:lnTo>
                      <a:pt x="104157" y="251429"/>
                    </a:lnTo>
                    <a:lnTo>
                      <a:pt x="0" y="37875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18" name="SCHEM_line-0016"/>
              <p:cNvCxnSpPr/>
              <p:nvPr/>
            </p:nvCxnSpPr>
            <p:spPr>
              <a:xfrm>
                <a:off x="1674111" y="1316198"/>
                <a:ext cx="64577" cy="132403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9" name="SCHEM_polygon-0017"/>
              <p:cNvSpPr/>
              <p:nvPr/>
            </p:nvSpPr>
            <p:spPr>
              <a:xfrm>
                <a:off x="1155183" y="1530527"/>
                <a:ext cx="137634" cy="250946"/>
              </a:xfrm>
              <a:custGeom>
                <a:avLst/>
                <a:gdLst/>
                <a:ahLst/>
                <a:cxnLst/>
                <a:rect l="0" t="0" r="r" b="b"/>
                <a:pathLst>
                  <a:path w="137634" h="250946">
                    <a:moveTo>
                      <a:pt x="0" y="231510"/>
                    </a:moveTo>
                    <a:lnTo>
                      <a:pt x="53448" y="0"/>
                    </a:lnTo>
                    <a:lnTo>
                      <a:pt x="137634" y="19436"/>
                    </a:lnTo>
                    <a:lnTo>
                      <a:pt x="84186" y="250946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0" name="SCHEM_line-0018"/>
              <p:cNvCxnSpPr/>
              <p:nvPr/>
            </p:nvCxnSpPr>
            <p:spPr>
              <a:xfrm flipV="1">
                <a:off x="1207431" y="1584232"/>
                <a:ext cx="33138" cy="143536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1" name="SCHEM_polygon-0019"/>
              <p:cNvSpPr/>
              <p:nvPr/>
            </p:nvSpPr>
            <p:spPr>
              <a:xfrm>
                <a:off x="1379440" y="1443674"/>
                <a:ext cx="178719" cy="251853"/>
              </a:xfrm>
              <a:custGeom>
                <a:avLst/>
                <a:gdLst/>
                <a:ahLst/>
                <a:cxnLst/>
                <a:rect l="0" t="0" r="r" b="b"/>
                <a:pathLst>
                  <a:path w="178719" h="251853">
                    <a:moveTo>
                      <a:pt x="78305" y="0"/>
                    </a:moveTo>
                    <a:lnTo>
                      <a:pt x="178719" y="215339"/>
                    </a:lnTo>
                    <a:lnTo>
                      <a:pt x="100414" y="251853"/>
                    </a:lnTo>
                    <a:lnTo>
                      <a:pt x="0" y="36514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2" name="SCHEM_line-0020"/>
              <p:cNvCxnSpPr/>
              <p:nvPr/>
            </p:nvCxnSpPr>
            <p:spPr>
              <a:xfrm>
                <a:off x="1437672" y="1502845"/>
                <a:ext cx="62257" cy="133510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3" name="SCHEM_polygon-0021"/>
              <p:cNvSpPr/>
              <p:nvPr/>
            </p:nvSpPr>
            <p:spPr>
              <a:xfrm>
                <a:off x="1319603" y="1743924"/>
                <a:ext cx="211993" cy="241753"/>
              </a:xfrm>
              <a:custGeom>
                <a:avLst/>
                <a:gdLst/>
                <a:ahLst/>
                <a:cxnLst/>
                <a:rect l="0" t="0" r="r" b="b"/>
                <a:pathLst>
                  <a:path w="211993" h="241753">
                    <a:moveTo>
                      <a:pt x="69002" y="0"/>
                    </a:moveTo>
                    <a:lnTo>
                      <a:pt x="211993" y="189756"/>
                    </a:lnTo>
                    <a:lnTo>
                      <a:pt x="142991" y="241753"/>
                    </a:lnTo>
                    <a:lnTo>
                      <a:pt x="0" y="51997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4" name="SCHEM_line-0022"/>
              <p:cNvCxnSpPr/>
              <p:nvPr/>
            </p:nvCxnSpPr>
            <p:spPr>
              <a:xfrm>
                <a:off x="1381273" y="1805976"/>
                <a:ext cx="88655" cy="117649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5" name="SCHEM_polygon-0023"/>
              <p:cNvSpPr/>
              <p:nvPr/>
            </p:nvSpPr>
            <p:spPr>
              <a:xfrm>
                <a:off x="1171573" y="2019189"/>
                <a:ext cx="162453" cy="252822"/>
              </a:xfrm>
              <a:custGeom>
                <a:avLst/>
                <a:gdLst/>
                <a:ahLst/>
                <a:cxnLst/>
                <a:rect l="0" t="0" r="r" b="b"/>
                <a:pathLst>
                  <a:path w="162453" h="252822">
                    <a:moveTo>
                      <a:pt x="81189" y="0"/>
                    </a:moveTo>
                    <a:lnTo>
                      <a:pt x="162453" y="223271"/>
                    </a:lnTo>
                    <a:lnTo>
                      <a:pt x="81264" y="252822"/>
                    </a:lnTo>
                    <a:lnTo>
                      <a:pt x="0" y="29551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6" name="SCHEM_line-0024"/>
              <p:cNvCxnSpPr/>
              <p:nvPr/>
            </p:nvCxnSpPr>
            <p:spPr>
              <a:xfrm>
                <a:off x="1227608" y="2076386"/>
                <a:ext cx="50384" cy="138428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7" name="SCHEM_polygon-0025"/>
              <p:cNvSpPr/>
              <p:nvPr/>
            </p:nvSpPr>
            <p:spPr>
              <a:xfrm>
                <a:off x="1583664" y="1939688"/>
                <a:ext cx="216672" cy="239023"/>
              </a:xfrm>
              <a:custGeom>
                <a:avLst/>
                <a:gdLst/>
                <a:ahLst/>
                <a:cxnLst/>
                <a:rect l="0" t="0" r="r" b="b"/>
                <a:pathLst>
                  <a:path w="216672" h="239023">
                    <a:moveTo>
                      <a:pt x="0" y="184650"/>
                    </a:moveTo>
                    <a:lnTo>
                      <a:pt x="149527" y="0"/>
                    </a:lnTo>
                    <a:lnTo>
                      <a:pt x="216672" y="54373"/>
                    </a:lnTo>
                    <a:lnTo>
                      <a:pt x="67145" y="239023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8" name="SCHEM_line-0026"/>
              <p:cNvCxnSpPr/>
              <p:nvPr/>
            </p:nvCxnSpPr>
            <p:spPr>
              <a:xfrm flipV="1">
                <a:off x="1645647" y="2001959"/>
                <a:ext cx="92706" cy="114483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9" name="SCHEM_polygon-0027"/>
              <p:cNvSpPr/>
              <p:nvPr/>
            </p:nvSpPr>
            <p:spPr>
              <a:xfrm>
                <a:off x="1458610" y="2203487"/>
                <a:ext cx="106779" cy="244226"/>
              </a:xfrm>
              <a:custGeom>
                <a:avLst/>
                <a:gdLst/>
                <a:ahLst/>
                <a:cxnLst/>
                <a:rect l="0" t="0" r="r" b="b"/>
                <a:pathLst>
                  <a:path w="106779" h="244226">
                    <a:moveTo>
                      <a:pt x="86071" y="0"/>
                    </a:moveTo>
                    <a:lnTo>
                      <a:pt x="106779" y="236696"/>
                    </a:lnTo>
                    <a:lnTo>
                      <a:pt x="20708" y="244226"/>
                    </a:lnTo>
                    <a:lnTo>
                      <a:pt x="0" y="753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0" name="SCHEM_line-0028"/>
              <p:cNvCxnSpPr/>
              <p:nvPr/>
            </p:nvCxnSpPr>
            <p:spPr>
              <a:xfrm>
                <a:off x="1505580" y="2252224"/>
                <a:ext cx="12839" cy="14675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1" name="SCHEM_polygon-0029"/>
              <p:cNvSpPr/>
              <p:nvPr/>
            </p:nvSpPr>
            <p:spPr>
              <a:xfrm>
                <a:off x="1689933" y="2350064"/>
                <a:ext cx="90534" cy="239072"/>
              </a:xfrm>
              <a:custGeom>
                <a:avLst/>
                <a:gdLst/>
                <a:ahLst/>
                <a:cxnLst/>
                <a:rect l="0" t="0" r="r" b="b"/>
                <a:pathLst>
                  <a:path w="90534" h="239072">
                    <a:moveTo>
                      <a:pt x="90534" y="1508"/>
                    </a:moveTo>
                    <a:lnTo>
                      <a:pt x="86387" y="239072"/>
                    </a:lnTo>
                    <a:lnTo>
                      <a:pt x="0" y="237564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2" name="SCHEM_line-0030"/>
              <p:cNvCxnSpPr/>
              <p:nvPr/>
            </p:nvCxnSpPr>
            <p:spPr>
              <a:xfrm flipH="1">
                <a:off x="1733915" y="2395955"/>
                <a:ext cx="2571" cy="147290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3" name="SCHEM_polygon-0031"/>
              <p:cNvSpPr/>
              <p:nvPr/>
            </p:nvSpPr>
            <p:spPr>
              <a:xfrm>
                <a:off x="1225842" y="2451268"/>
                <a:ext cx="169115" cy="252665"/>
              </a:xfrm>
              <a:custGeom>
                <a:avLst/>
                <a:gdLst/>
                <a:ahLst/>
                <a:cxnLst/>
                <a:rect l="0" t="0" r="r" b="b"/>
                <a:pathLst>
                  <a:path w="169115" h="252665">
                    <a:moveTo>
                      <a:pt x="0" y="220299"/>
                    </a:moveTo>
                    <a:lnTo>
                      <a:pt x="89007" y="0"/>
                    </a:lnTo>
                    <a:lnTo>
                      <a:pt x="169115" y="32366"/>
                    </a:lnTo>
                    <a:lnTo>
                      <a:pt x="80109" y="252665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4" name="SCHEM_line-0032"/>
              <p:cNvCxnSpPr/>
              <p:nvPr/>
            </p:nvCxnSpPr>
            <p:spPr>
              <a:xfrm flipV="1">
                <a:off x="1282808" y="2509307"/>
                <a:ext cx="55184" cy="136585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5" name="SCHEM_polygon-0033"/>
              <p:cNvSpPr/>
              <p:nvPr/>
            </p:nvSpPr>
            <p:spPr>
              <a:xfrm>
                <a:off x="1443183" y="2639327"/>
                <a:ext cx="137634" cy="250946"/>
              </a:xfrm>
              <a:custGeom>
                <a:avLst/>
                <a:gdLst/>
                <a:ahLst/>
                <a:cxnLst/>
                <a:rect l="0" t="0" r="r" b="b"/>
                <a:pathLst>
                  <a:path w="137634" h="250946">
                    <a:moveTo>
                      <a:pt x="137634" y="19436"/>
                    </a:moveTo>
                    <a:lnTo>
                      <a:pt x="84186" y="250946"/>
                    </a:lnTo>
                    <a:lnTo>
                      <a:pt x="0" y="231510"/>
                    </a:lnTo>
                    <a:lnTo>
                      <a:pt x="53448" y="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6" name="SCHEM_line-0034"/>
              <p:cNvCxnSpPr/>
              <p:nvPr/>
            </p:nvCxnSpPr>
            <p:spPr>
              <a:xfrm flipH="1">
                <a:off x="1495431" y="2693032"/>
                <a:ext cx="33138" cy="143536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7" name="SCHEM_polygon-0035"/>
              <p:cNvSpPr/>
              <p:nvPr/>
            </p:nvSpPr>
            <p:spPr>
              <a:xfrm>
                <a:off x="1364400" y="31896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8" name="SCHEM_line-0036"/>
              <p:cNvCxnSpPr/>
              <p:nvPr/>
            </p:nvCxnSpPr>
            <p:spPr>
              <a:xfrm>
                <a:off x="1409544" y="32328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9" name="SCHEM_polygon-0037"/>
              <p:cNvSpPr/>
              <p:nvPr/>
            </p:nvSpPr>
            <p:spPr>
              <a:xfrm>
                <a:off x="1364400" y="34848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0" name="SCHEM_line-0038"/>
              <p:cNvCxnSpPr/>
              <p:nvPr/>
            </p:nvCxnSpPr>
            <p:spPr>
              <a:xfrm>
                <a:off x="1409544" y="35280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1" name="SCHEM_polygon-0039"/>
              <p:cNvSpPr/>
              <p:nvPr/>
            </p:nvSpPr>
            <p:spPr>
              <a:xfrm>
                <a:off x="1364400" y="37728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2" name="SCHEM_line-0040"/>
              <p:cNvCxnSpPr/>
              <p:nvPr/>
            </p:nvCxnSpPr>
            <p:spPr>
              <a:xfrm>
                <a:off x="1409544" y="38160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3" name="SCHEM_polygon-0041"/>
              <p:cNvSpPr/>
              <p:nvPr/>
            </p:nvSpPr>
            <p:spPr>
              <a:xfrm>
                <a:off x="1364400" y="40752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4" name="SCHEM_line-0042"/>
              <p:cNvCxnSpPr/>
              <p:nvPr/>
            </p:nvCxnSpPr>
            <p:spPr>
              <a:xfrm>
                <a:off x="1409544" y="41184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5" name="SCHEM_polygon-0043"/>
              <p:cNvSpPr/>
              <p:nvPr/>
            </p:nvSpPr>
            <p:spPr>
              <a:xfrm>
                <a:off x="1364400" y="43776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6" name="SCHEM_line-0044"/>
              <p:cNvCxnSpPr/>
              <p:nvPr/>
            </p:nvCxnSpPr>
            <p:spPr>
              <a:xfrm>
                <a:off x="1409544" y="44208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7" name="SCHEM_polygon-0045"/>
              <p:cNvSpPr/>
              <p:nvPr/>
            </p:nvSpPr>
            <p:spPr>
              <a:xfrm>
                <a:off x="15408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8" name="SCHEM_line-0046"/>
              <p:cNvCxnSpPr/>
              <p:nvPr/>
            </p:nvCxnSpPr>
            <p:spPr>
              <a:xfrm>
                <a:off x="15873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9" name="SCHEM_polygon-0047"/>
              <p:cNvSpPr/>
              <p:nvPr/>
            </p:nvSpPr>
            <p:spPr>
              <a:xfrm>
                <a:off x="19296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0" name="SCHEM_line-0048"/>
              <p:cNvCxnSpPr/>
              <p:nvPr/>
            </p:nvCxnSpPr>
            <p:spPr>
              <a:xfrm>
                <a:off x="19761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1" name="SCHEM_polygon-0049"/>
              <p:cNvSpPr/>
              <p:nvPr/>
            </p:nvSpPr>
            <p:spPr>
              <a:xfrm>
                <a:off x="2318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2" name="SCHEM_line-0050"/>
              <p:cNvCxnSpPr/>
              <p:nvPr/>
            </p:nvCxnSpPr>
            <p:spPr>
              <a:xfrm>
                <a:off x="2364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3" name="SCHEM_polygon-0051"/>
              <p:cNvSpPr/>
              <p:nvPr/>
            </p:nvSpPr>
            <p:spPr>
              <a:xfrm>
                <a:off x="2714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4" name="SCHEM_line-0052"/>
              <p:cNvCxnSpPr/>
              <p:nvPr/>
            </p:nvCxnSpPr>
            <p:spPr>
              <a:xfrm>
                <a:off x="2760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5" name="SCHEM_polygon-0053"/>
              <p:cNvSpPr/>
              <p:nvPr/>
            </p:nvSpPr>
            <p:spPr>
              <a:xfrm>
                <a:off x="3074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6" name="SCHEM_line-0054"/>
              <p:cNvCxnSpPr/>
              <p:nvPr/>
            </p:nvCxnSpPr>
            <p:spPr>
              <a:xfrm>
                <a:off x="3120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7" name="SCHEM_polygon-0055"/>
              <p:cNvSpPr/>
              <p:nvPr/>
            </p:nvSpPr>
            <p:spPr>
              <a:xfrm>
                <a:off x="108000" y="4557600"/>
                <a:ext cx="3880800" cy="590400"/>
              </a:xfrm>
              <a:custGeom>
                <a:avLst/>
                <a:gdLst/>
                <a:ahLst/>
                <a:cxnLst/>
                <a:rect l="0" t="0" r="r" b="b"/>
                <a:pathLst>
                  <a:path w="3880800" h="590400">
                    <a:moveTo>
                      <a:pt x="0" y="453600"/>
                    </a:moveTo>
                    <a:lnTo>
                      <a:pt x="720000" y="0"/>
                    </a:lnTo>
                    <a:lnTo>
                      <a:pt x="1216800" y="36000"/>
                    </a:lnTo>
                    <a:lnTo>
                      <a:pt x="1267200" y="252000"/>
                    </a:lnTo>
                    <a:lnTo>
                      <a:pt x="3139200" y="324000"/>
                    </a:lnTo>
                    <a:lnTo>
                      <a:pt x="3880800" y="374400"/>
                    </a:lnTo>
                    <a:lnTo>
                      <a:pt x="3542400" y="590400"/>
                    </a:lnTo>
                    <a:close/>
                  </a:path>
                </a:pathLst>
              </a:custGeom>
              <a:solidFill>
                <a:srgbClr val="CCD2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8" name="SCHEM_polygon-0056"/>
              <p:cNvSpPr/>
              <p:nvPr/>
            </p:nvSpPr>
            <p:spPr>
              <a:xfrm>
                <a:off x="108000" y="5011200"/>
                <a:ext cx="3542400" cy="237600"/>
              </a:xfrm>
              <a:custGeom>
                <a:avLst/>
                <a:gdLst/>
                <a:ahLst/>
                <a:cxnLst/>
                <a:rect l="0" t="0" r="r" b="b"/>
                <a:pathLst>
                  <a:path w="3542400" h="237600">
                    <a:moveTo>
                      <a:pt x="0" y="0"/>
                    </a:moveTo>
                    <a:lnTo>
                      <a:pt x="3542400" y="136800"/>
                    </a:lnTo>
                    <a:lnTo>
                      <a:pt x="3542400" y="237600"/>
                    </a:lnTo>
                    <a:lnTo>
                      <a:pt x="0" y="108000"/>
                    </a:lnTo>
                    <a:close/>
                  </a:path>
                </a:pathLst>
              </a:custGeom>
              <a:solidFill>
                <a:srgbClr val="ACB4B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9" name="SCHEM_polygon-0057"/>
              <p:cNvSpPr/>
              <p:nvPr/>
            </p:nvSpPr>
            <p:spPr>
              <a:xfrm>
                <a:off x="3650400" y="4932000"/>
                <a:ext cx="33840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316800">
                    <a:moveTo>
                      <a:pt x="0" y="216000"/>
                    </a:moveTo>
                    <a:lnTo>
                      <a:pt x="338400" y="0"/>
                    </a:lnTo>
                    <a:lnTo>
                      <a:pt x="338400" y="100800"/>
                    </a:lnTo>
                    <a:lnTo>
                      <a:pt x="0" y="316800"/>
                    </a:lnTo>
                    <a:close/>
                  </a:path>
                </a:pathLst>
              </a:custGeom>
              <a:solidFill>
                <a:srgbClr val="A4AAAC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0" name="SCHEM_path-0058"/>
              <p:cNvSpPr/>
              <p:nvPr/>
            </p:nvSpPr>
            <p:spPr>
              <a:xfrm>
                <a:off x="1332000" y="4478400"/>
                <a:ext cx="211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2116800" h="410400">
                    <a:moveTo>
                      <a:pt x="0" y="0"/>
                    </a:moveTo>
                    <a:lnTo>
                      <a:pt x="295200" y="0"/>
                    </a:lnTo>
                    <a:cubicBezTo>
                      <a:pt x="295200" y="79200"/>
                      <a:pt x="331200" y="86400"/>
                      <a:pt x="417600" y="93600"/>
                    </a:cubicBezTo>
                    <a:cubicBezTo>
                      <a:pt x="914400" y="93600"/>
                      <a:pt x="1411200" y="115200"/>
                      <a:pt x="1908000" y="122400"/>
                    </a:cubicBezTo>
                    <a:cubicBezTo>
                      <a:pt x="2109600" y="122400"/>
                      <a:pt x="2116800" y="410400"/>
                      <a:pt x="1915200" y="410400"/>
                    </a:cubicBezTo>
                    <a:lnTo>
                      <a:pt x="194400" y="388800"/>
                    </a:lnTo>
                    <a:cubicBezTo>
                      <a:pt x="21600" y="388800"/>
                      <a:pt x="0" y="288000"/>
                      <a:pt x="0" y="144000"/>
                    </a:cubicBezTo>
                    <a:close/>
                  </a:path>
                </a:pathLst>
              </a:custGeom>
              <a:solidFill>
                <a:srgbClr val="D4D5CE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1" name="SCHEM_polygon-0059"/>
              <p:cNvSpPr/>
              <p:nvPr/>
            </p:nvSpPr>
            <p:spPr>
              <a:xfrm>
                <a:off x="15408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2" name="SCHEM_line-0060"/>
              <p:cNvCxnSpPr/>
              <p:nvPr/>
            </p:nvCxnSpPr>
            <p:spPr>
              <a:xfrm>
                <a:off x="15873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3" name="SCHEM_polygon-0061"/>
              <p:cNvSpPr/>
              <p:nvPr/>
            </p:nvSpPr>
            <p:spPr>
              <a:xfrm>
                <a:off x="19296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4" name="SCHEM_line-0062"/>
              <p:cNvCxnSpPr/>
              <p:nvPr/>
            </p:nvCxnSpPr>
            <p:spPr>
              <a:xfrm>
                <a:off x="19761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5" name="SCHEM_polygon-0063"/>
              <p:cNvSpPr/>
              <p:nvPr/>
            </p:nvSpPr>
            <p:spPr>
              <a:xfrm>
                <a:off x="2318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6" name="SCHEM_line-0064"/>
              <p:cNvCxnSpPr/>
              <p:nvPr/>
            </p:nvCxnSpPr>
            <p:spPr>
              <a:xfrm>
                <a:off x="2364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7" name="SCHEM_polygon-0065"/>
              <p:cNvSpPr/>
              <p:nvPr/>
            </p:nvSpPr>
            <p:spPr>
              <a:xfrm>
                <a:off x="2714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8" name="SCHEM_line-0066"/>
              <p:cNvCxnSpPr/>
              <p:nvPr/>
            </p:nvCxnSpPr>
            <p:spPr>
              <a:xfrm>
                <a:off x="2760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9" name="SCHEM_polygon-0067"/>
              <p:cNvSpPr/>
              <p:nvPr/>
            </p:nvSpPr>
            <p:spPr>
              <a:xfrm>
                <a:off x="3074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70" name="SCHEM_line-0068"/>
              <p:cNvCxnSpPr/>
              <p:nvPr/>
            </p:nvCxnSpPr>
            <p:spPr>
              <a:xfrm>
                <a:off x="3120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sp>
          <p:nvSpPr>
            <p:cNvPr id="71" name="SCHEM_text-0069"/>
            <p:cNvSpPr txBox="1"/>
            <p:nvPr/>
          </p:nvSpPr>
          <p:spPr>
            <a:xfrm>
              <a:off x="2340000" y="1476000"/>
              <a:ext cx="187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Silicone + NdFeB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 fumed silica</a:t>
              </a:r>
              <a:endParaRPr lang="en-US" sz="1474"/>
            </a:p>
          </p:txBody>
        </p:sp>
        <p:cxnSp>
          <p:nvCxnSpPr>
            <p:cNvPr id="72" name="SCHEM_line-0070"/>
            <p:cNvCxnSpPr/>
            <p:nvPr/>
          </p:nvCxnSpPr>
          <p:spPr>
            <a:xfrm flipH="1">
              <a:off x="1699200" y="1605600"/>
              <a:ext cx="561600" cy="24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3" name="SCHEM_ellipse-0071"/>
            <p:cNvSpPr/>
            <p:nvPr/>
          </p:nvSpPr>
          <p:spPr>
            <a:xfrm>
              <a:off x="1677600" y="182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74" name="SCHEM_text-0072"/>
            <p:cNvSpPr txBox="1"/>
            <p:nvPr/>
          </p:nvSpPr>
          <p:spPr>
            <a:xfrm>
              <a:off x="108000" y="3153600"/>
              <a:ext cx="169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Printing field B</a:t>
              </a:r>
              <a:endParaRPr lang="en-US" sz="1417"/>
            </a:p>
          </p:txBody>
        </p:sp>
        <p:cxnSp>
          <p:nvCxnSpPr>
            <p:cNvPr id="75" name="SCHEM_line-0073"/>
            <p:cNvCxnSpPr/>
            <p:nvPr/>
          </p:nvCxnSpPr>
          <p:spPr>
            <a:xfrm>
              <a:off x="396000" y="35352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6" name="SCHEM_line-0074"/>
            <p:cNvCxnSpPr/>
            <p:nvPr/>
          </p:nvCxnSpPr>
          <p:spPr>
            <a:xfrm>
              <a:off x="396000" y="37800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7" name="SCHEM_line-0075"/>
            <p:cNvCxnSpPr/>
            <p:nvPr/>
          </p:nvCxnSpPr>
          <p:spPr>
            <a:xfrm>
              <a:off x="396000" y="40176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8" name="SCHEM_line-0076"/>
            <p:cNvCxnSpPr/>
            <p:nvPr/>
          </p:nvCxnSpPr>
          <p:spPr>
            <a:xfrm>
              <a:off x="396000" y="42552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sp>
          <p:nvSpPr>
            <p:cNvPr id="79" name="SCHEM_text-0077"/>
            <p:cNvSpPr txBox="1"/>
            <p:nvPr/>
          </p:nvSpPr>
          <p:spPr>
            <a:xfrm>
              <a:off x="2066400" y="36576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Particle alignment</a:t>
              </a:r>
              <a:endParaRPr lang="en-US" sz="1417"/>
            </a:p>
          </p:txBody>
        </p:sp>
        <p:cxnSp>
          <p:nvCxnSpPr>
            <p:cNvPr id="80" name="SCHEM_line-0078"/>
            <p:cNvCxnSpPr/>
            <p:nvPr/>
          </p:nvCxnSpPr>
          <p:spPr>
            <a:xfrm flipH="1">
              <a:off x="1576800" y="3744000"/>
              <a:ext cx="417600" cy="158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1" name="SCHEM_ellipse-0079"/>
            <p:cNvSpPr/>
            <p:nvPr/>
          </p:nvSpPr>
          <p:spPr>
            <a:xfrm>
              <a:off x="1555200" y="388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82" name="SCHEM_line-0080"/>
            <p:cNvCxnSpPr/>
            <p:nvPr/>
          </p:nvCxnSpPr>
          <p:spPr>
            <a:xfrm>
              <a:off x="1195200" y="5371200"/>
              <a:ext cx="1411200" cy="1"/>
            </a:xfrm>
            <a:prstGeom prst="line">
              <a:avLst/>
            </a:prstGeom>
            <a:noFill/>
            <a:ln w="216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83" name="SCHEM_text-0081"/>
            <p:cNvSpPr txBox="1"/>
            <p:nvPr/>
          </p:nvSpPr>
          <p:spPr>
            <a:xfrm>
              <a:off x="1368000" y="54720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Print direction</a:t>
              </a:r>
              <a:endParaRPr lang="en-US" sz="1417"/>
            </a:p>
          </p:txBody>
        </p:sp>
        <p:grpSp>
          <p:nvGrpSpPr>
            <p:cNvPr id="84" name="SCHEM_programmed-filaments"/>
            <p:cNvGrpSpPr/>
            <p:nvPr/>
          </p:nvGrpSpPr>
          <p:grpSpPr>
            <a:xfrm>
              <a:off x="4212000" y="1209600"/>
              <a:ext cx="3117600" cy="2455200"/>
              <a:chOff x="4212000" y="1209600"/>
              <a:chExt cx="3117600" cy="2455200"/>
            </a:xfrm>
          </p:grpSpPr>
          <p:sp>
            <p:nvSpPr>
              <p:cNvPr id="85" name="SCHEM_rect-0083"/>
              <p:cNvSpPr/>
              <p:nvPr/>
            </p:nvSpPr>
            <p:spPr>
              <a:xfrm>
                <a:off x="4212000" y="1353600"/>
                <a:ext cx="748800" cy="3888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polygon-0084"/>
              <p:cNvSpPr/>
              <p:nvPr/>
            </p:nvSpPr>
            <p:spPr>
              <a:xfrm>
                <a:off x="42120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87" name="SCHEM_line-0085"/>
              <p:cNvCxnSpPr/>
              <p:nvPr/>
            </p:nvCxnSpPr>
            <p:spPr>
              <a:xfrm>
                <a:off x="44136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8" name="SCHEM_rect-0086"/>
              <p:cNvSpPr/>
              <p:nvPr/>
            </p:nvSpPr>
            <p:spPr>
              <a:xfrm>
                <a:off x="4960800" y="1353600"/>
                <a:ext cx="748800" cy="3888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9" name="SCHEM_polygon-0087"/>
              <p:cNvSpPr/>
              <p:nvPr/>
            </p:nvSpPr>
            <p:spPr>
              <a:xfrm>
                <a:off x="49608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0" name="SCHEM_line-0088"/>
              <p:cNvCxnSpPr/>
              <p:nvPr/>
            </p:nvCxnSpPr>
            <p:spPr>
              <a:xfrm flipH="1">
                <a:off x="51624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1" name="SCHEM_rect-0089"/>
              <p:cNvSpPr/>
              <p:nvPr/>
            </p:nvSpPr>
            <p:spPr>
              <a:xfrm>
                <a:off x="5709600" y="1353600"/>
                <a:ext cx="748800" cy="3888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olygon-0090"/>
              <p:cNvSpPr/>
              <p:nvPr/>
            </p:nvSpPr>
            <p:spPr>
              <a:xfrm>
                <a:off x="57096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3" name="SCHEM_line-0091"/>
              <p:cNvCxnSpPr/>
              <p:nvPr/>
            </p:nvCxnSpPr>
            <p:spPr>
              <a:xfrm>
                <a:off x="59112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4" name="SCHEM_rect-0092"/>
              <p:cNvSpPr/>
              <p:nvPr/>
            </p:nvSpPr>
            <p:spPr>
              <a:xfrm>
                <a:off x="6458400" y="1353600"/>
                <a:ext cx="748800" cy="3888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polygon-0093"/>
              <p:cNvSpPr/>
              <p:nvPr/>
            </p:nvSpPr>
            <p:spPr>
              <a:xfrm>
                <a:off x="64584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6" name="SCHEM_line-0094"/>
              <p:cNvCxnSpPr/>
              <p:nvPr/>
            </p:nvCxnSpPr>
            <p:spPr>
              <a:xfrm flipH="1">
                <a:off x="66600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7" name="SCHEM_polygon-0095"/>
              <p:cNvSpPr/>
              <p:nvPr/>
            </p:nvSpPr>
            <p:spPr>
              <a:xfrm>
                <a:off x="7207200" y="1209600"/>
                <a:ext cx="122400" cy="5328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5328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88800"/>
                    </a:lnTo>
                    <a:lnTo>
                      <a:pt x="0" y="5328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rect-0096"/>
              <p:cNvSpPr/>
              <p:nvPr/>
            </p:nvSpPr>
            <p:spPr>
              <a:xfrm>
                <a:off x="4212000" y="3283200"/>
                <a:ext cx="748800" cy="3816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9" name="SCHEM_polygon-0097"/>
              <p:cNvSpPr/>
              <p:nvPr/>
            </p:nvSpPr>
            <p:spPr>
              <a:xfrm>
                <a:off x="42120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>
                <a:off x="44136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1" name="SCHEM_rect-0099"/>
              <p:cNvSpPr/>
              <p:nvPr/>
            </p:nvSpPr>
            <p:spPr>
              <a:xfrm>
                <a:off x="4960800" y="3283200"/>
                <a:ext cx="748800" cy="3816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2" name="SCHEM_polygon-0100"/>
              <p:cNvSpPr/>
              <p:nvPr/>
            </p:nvSpPr>
            <p:spPr>
              <a:xfrm>
                <a:off x="49608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3" name="SCHEM_line-0101"/>
              <p:cNvCxnSpPr/>
              <p:nvPr/>
            </p:nvCxnSpPr>
            <p:spPr>
              <a:xfrm flipH="1">
                <a:off x="51624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4" name="SCHEM_rect-0102"/>
              <p:cNvSpPr/>
              <p:nvPr/>
            </p:nvSpPr>
            <p:spPr>
              <a:xfrm>
                <a:off x="5709600" y="3283200"/>
                <a:ext cx="748800" cy="3816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polygon-0103"/>
              <p:cNvSpPr/>
              <p:nvPr/>
            </p:nvSpPr>
            <p:spPr>
              <a:xfrm>
                <a:off x="57096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6" name="SCHEM_line-0104"/>
              <p:cNvCxnSpPr/>
              <p:nvPr/>
            </p:nvCxnSpPr>
            <p:spPr>
              <a:xfrm>
                <a:off x="59112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7" name="SCHEM_rect-0105"/>
              <p:cNvSpPr/>
              <p:nvPr/>
            </p:nvSpPr>
            <p:spPr>
              <a:xfrm>
                <a:off x="6458400" y="3283200"/>
                <a:ext cx="748800" cy="3816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polygon-0106"/>
              <p:cNvSpPr/>
              <p:nvPr/>
            </p:nvSpPr>
            <p:spPr>
              <a:xfrm>
                <a:off x="64584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9" name="SCHEM_line-0107"/>
              <p:cNvCxnSpPr/>
              <p:nvPr/>
            </p:nvCxnSpPr>
            <p:spPr>
              <a:xfrm flipH="1">
                <a:off x="66600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10" name="SCHEM_polygon-0108"/>
              <p:cNvSpPr/>
              <p:nvPr/>
            </p:nvSpPr>
            <p:spPr>
              <a:xfrm>
                <a:off x="7207200" y="3139200"/>
                <a:ext cx="1224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5256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81600"/>
                    </a:lnTo>
                    <a:lnTo>
                      <a:pt x="0" y="5256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11" name="SCHEM_text-0109"/>
            <p:cNvSpPr txBox="1"/>
            <p:nvPr/>
          </p:nvSpPr>
          <p:spPr>
            <a:xfrm>
              <a:off x="4824000" y="2001600"/>
              <a:ext cx="23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Remanent magnetization M</a:t>
              </a:r>
              <a:endParaRPr lang="en-US" sz="1417"/>
            </a:p>
          </p:txBody>
        </p:sp>
        <p:cxnSp>
          <p:nvCxnSpPr>
            <p:cNvPr id="112" name="SCHEM_line-0110"/>
            <p:cNvCxnSpPr/>
            <p:nvPr/>
          </p:nvCxnSpPr>
          <p:spPr>
            <a:xfrm flipV="1">
              <a:off x="46512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3" name="SCHEM_ellipse-0111"/>
            <p:cNvSpPr/>
            <p:nvPr/>
          </p:nvSpPr>
          <p:spPr>
            <a:xfrm>
              <a:off x="46800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4" name="SCHEM_line-0112"/>
            <p:cNvCxnSpPr/>
            <p:nvPr/>
          </p:nvCxnSpPr>
          <p:spPr>
            <a:xfrm flipV="1">
              <a:off x="53352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5" name="SCHEM_ellipse-0113"/>
            <p:cNvSpPr/>
            <p:nvPr/>
          </p:nvSpPr>
          <p:spPr>
            <a:xfrm>
              <a:off x="53640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6" name="SCHEM_line-0114"/>
            <p:cNvCxnSpPr/>
            <p:nvPr/>
          </p:nvCxnSpPr>
          <p:spPr>
            <a:xfrm flipV="1">
              <a:off x="61128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7" name="SCHEM_ellipse-0115"/>
            <p:cNvSpPr/>
            <p:nvPr/>
          </p:nvSpPr>
          <p:spPr>
            <a:xfrm>
              <a:off x="61416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8" name="SCHEM_line-0116"/>
            <p:cNvCxnSpPr/>
            <p:nvPr/>
          </p:nvCxnSpPr>
          <p:spPr>
            <a:xfrm flipV="1">
              <a:off x="68976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9" name="SCHEM_ellipse-0117"/>
            <p:cNvSpPr/>
            <p:nvPr/>
          </p:nvSpPr>
          <p:spPr>
            <a:xfrm>
              <a:off x="69264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20" name="SCHEM_line-0118"/>
            <p:cNvCxnSpPr/>
            <p:nvPr/>
          </p:nvCxnSpPr>
          <p:spPr>
            <a:xfrm>
              <a:off x="5745600" y="2462400"/>
              <a:ext cx="1" cy="309600"/>
            </a:xfrm>
            <a:prstGeom prst="line">
              <a:avLst/>
            </a:prstGeom>
            <a:noFill/>
            <a:ln w="43200" cap="flat">
              <a:solidFill>
                <a:srgbClr val="999B96"/>
              </a:solidFill>
              <a:tailEnd type="triangle" w="med" len="med"/>
            </a:ln>
            <a:effectLst/>
          </p:spPr>
        </p:cxnSp>
        <p:sp>
          <p:nvSpPr>
            <p:cNvPr id="121" name="SCHEM_text-0119"/>
            <p:cNvSpPr txBox="1"/>
            <p:nvPr/>
          </p:nvSpPr>
          <p:spPr>
            <a:xfrm>
              <a:off x="5911200" y="25344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Cure to fix domains</a:t>
              </a:r>
              <a:endParaRPr lang="en-US" sz="1417"/>
            </a:p>
          </p:txBody>
        </p:sp>
        <p:sp>
          <p:nvSpPr>
            <p:cNvPr id="122" name="SCHEM_path-0120"/>
            <p:cNvSpPr/>
            <p:nvPr/>
          </p:nvSpPr>
          <p:spPr>
            <a:xfrm>
              <a:off x="50472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3" name="SCHEM_line-0121"/>
            <p:cNvCxnSpPr/>
            <p:nvPr/>
          </p:nvCxnSpPr>
          <p:spPr>
            <a:xfrm flipV="1">
              <a:off x="50832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4" name="SCHEM_path-0122"/>
            <p:cNvSpPr/>
            <p:nvPr/>
          </p:nvSpPr>
          <p:spPr>
            <a:xfrm>
              <a:off x="51552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5" name="SCHEM_line-0123"/>
            <p:cNvCxnSpPr/>
            <p:nvPr/>
          </p:nvCxnSpPr>
          <p:spPr>
            <a:xfrm flipV="1">
              <a:off x="51912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6" name="SCHEM_path-0124"/>
            <p:cNvSpPr/>
            <p:nvPr/>
          </p:nvSpPr>
          <p:spPr>
            <a:xfrm>
              <a:off x="52704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7" name="SCHEM_line-0125"/>
            <p:cNvCxnSpPr/>
            <p:nvPr/>
          </p:nvCxnSpPr>
          <p:spPr>
            <a:xfrm flipV="1">
              <a:off x="53064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8" name="SCHEM_path-0126"/>
            <p:cNvSpPr/>
            <p:nvPr/>
          </p:nvSpPr>
          <p:spPr>
            <a:xfrm>
              <a:off x="4672800" y="3643200"/>
              <a:ext cx="208800" cy="1159200"/>
            </a:xfrm>
            <a:custGeom>
              <a:avLst/>
              <a:gdLst/>
              <a:ahLst/>
              <a:cxnLst/>
              <a:rect l="0" t="0" r="r" b="b"/>
              <a:pathLst>
                <a:path w="208800" h="1159200">
                  <a:moveTo>
                    <a:pt x="0" y="0"/>
                  </a:moveTo>
                  <a:lnTo>
                    <a:pt x="208800" y="11592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sp>
          <p:nvSpPr>
            <p:cNvPr id="129" name="SCHEM_path-0127"/>
            <p:cNvSpPr/>
            <p:nvPr/>
          </p:nvSpPr>
          <p:spPr>
            <a:xfrm>
              <a:off x="4672800" y="3643200"/>
              <a:ext cx="1216800" cy="338400"/>
            </a:xfrm>
            <a:custGeom>
              <a:avLst/>
              <a:gdLst/>
              <a:ahLst/>
              <a:cxnLst/>
              <a:rect l="0" t="0" r="r" b="b"/>
              <a:pathLst>
                <a:path w="1216800" h="338400">
                  <a:moveTo>
                    <a:pt x="0" y="0"/>
                  </a:moveTo>
                  <a:lnTo>
                    <a:pt x="1216800" y="3384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grpSp>
          <p:nvGrpSpPr>
            <p:cNvPr id="130" name="SCHEM_particle-torque-inset"/>
            <p:cNvGrpSpPr/>
            <p:nvPr/>
          </p:nvGrpSpPr>
          <p:grpSpPr>
            <a:xfrm>
              <a:off x="4860000" y="3945600"/>
              <a:ext cx="1843200" cy="1764000"/>
              <a:chOff x="4860000" y="3945600"/>
              <a:chExt cx="1843200" cy="1764000"/>
            </a:xfrm>
          </p:grpSpPr>
          <p:sp>
            <p:nvSpPr>
              <p:cNvPr id="131" name="SCHEM_ellipse-0129"/>
              <p:cNvSpPr/>
              <p:nvPr/>
            </p:nvSpPr>
            <p:spPr>
              <a:xfrm>
                <a:off x="4860000" y="3945600"/>
                <a:ext cx="1843200" cy="1764000"/>
              </a:xfrm>
              <a:prstGeom prst="ellips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2" name="SCHEM_path-0130"/>
              <p:cNvSpPr/>
              <p:nvPr/>
            </p:nvSpPr>
            <p:spPr>
              <a:xfrm>
                <a:off x="5040000" y="4608000"/>
                <a:ext cx="1166400" cy="640800"/>
              </a:xfrm>
              <a:custGeom>
                <a:avLst/>
                <a:gdLst/>
                <a:ahLst/>
                <a:cxnLst/>
                <a:rect l="0" t="0" r="r" b="b"/>
                <a:pathLst>
                  <a:path w="1166400" h="640800">
                    <a:moveTo>
                      <a:pt x="165600" y="28800"/>
                    </a:moveTo>
                    <a:cubicBezTo>
                      <a:pt x="100800" y="0"/>
                      <a:pt x="0" y="288000"/>
                      <a:pt x="72000" y="374400"/>
                    </a:cubicBezTo>
                    <a:lnTo>
                      <a:pt x="972000" y="604800"/>
                    </a:lnTo>
                    <a:cubicBezTo>
                      <a:pt x="1051200" y="640800"/>
                      <a:pt x="1166400" y="331200"/>
                      <a:pt x="1072800" y="252000"/>
                    </a:cubicBezTo>
                    <a:close/>
                  </a:path>
                </a:pathLst>
              </a:custGeom>
              <a:solidFill>
                <a:srgbClr val="AEBFC9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6012000" y="4852800"/>
                <a:ext cx="144000" cy="360000"/>
              </a:xfrm>
              <a:prstGeom prst="ellipse">
                <a:avLst/>
              </a:prstGeom>
              <a:solidFill>
                <a:srgbClr val="8197A7"/>
              </a:solidFill>
              <a:ln w="7200" cap="flat">
                <a:solidFill>
                  <a:srgbClr val="627582"/>
                </a:solidFill>
              </a:ln>
              <a:effectLst/>
            </p:spPr>
          </p:sp>
          <p:cxnSp>
            <p:nvCxnSpPr>
              <p:cNvPr id="134" name="SCHEM_line-0132"/>
              <p:cNvCxnSpPr/>
              <p:nvPr/>
            </p:nvCxnSpPr>
            <p:spPr>
              <a:xfrm>
                <a:off x="5292000" y="4867200"/>
                <a:ext cx="619200" cy="165600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5659200" y="4161600"/>
                <a:ext cx="468000" cy="410400"/>
              </a:xfrm>
              <a:prstGeom prst="line">
                <a:avLst/>
              </a:prstGeom>
              <a:noFill/>
              <a:ln w="36000" cap="flat">
                <a:solidFill>
                  <a:srgbClr val="438DB8"/>
                </a:solidFill>
                <a:tailEnd type="triangle" w="med" len="med"/>
              </a:ln>
              <a:effectLst/>
            </p:spPr>
          </p:cxnSp>
          <p:sp>
            <p:nvSpPr>
              <p:cNvPr id="136" name="SCHEM_path-0134"/>
              <p:cNvSpPr/>
              <p:nvPr/>
            </p:nvSpPr>
            <p:spPr>
              <a:xfrm>
                <a:off x="5911200" y="4500000"/>
                <a:ext cx="367200" cy="475200"/>
              </a:xfrm>
              <a:custGeom>
                <a:avLst/>
                <a:gdLst/>
                <a:ahLst/>
                <a:cxnLst/>
                <a:rect l="0" t="0" r="r" b="b"/>
                <a:pathLst>
                  <a:path w="367200" h="475200">
                    <a:moveTo>
                      <a:pt x="367200" y="475200"/>
                    </a:moveTo>
                    <a:cubicBezTo>
                      <a:pt x="352800" y="237600"/>
                      <a:pt x="208800" y="79200"/>
                      <a:pt x="0" y="0"/>
                    </a:cubicBezTo>
                  </a:path>
                </a:pathLst>
              </a:custGeom>
              <a:noFill/>
              <a:ln w="21600" cap="flat">
                <a:solidFill>
                  <a:srgbClr val="B57D79"/>
                </a:solidFill>
              </a:ln>
              <a:effectLst/>
            </p:spPr>
          </p:sp>
          <p:cxnSp>
            <p:nvCxnSpPr>
              <p:cNvPr id="137" name="SCHEM_line-0135"/>
              <p:cNvCxnSpPr/>
              <p:nvPr/>
            </p:nvCxnSpPr>
            <p:spPr>
              <a:xfrm flipH="1" flipV="1">
                <a:off x="5911200" y="4500000"/>
                <a:ext cx="79200" cy="28800"/>
              </a:xfrm>
              <a:prstGeom prst="line">
                <a:avLst/>
              </a:prstGeom>
              <a:noFill/>
              <a:ln w="28800" cap="flat">
                <a:solidFill>
                  <a:srgbClr val="B57D79"/>
                </a:solidFill>
                <a:tailEnd type="triangle" w="med" len="med"/>
              </a:ln>
              <a:effectLst/>
            </p:spPr>
          </p:cxnSp>
        </p:grpSp>
        <p:sp>
          <p:nvSpPr>
            <p:cNvPr id="138" name="SCHEM_text-0136"/>
            <p:cNvSpPr txBox="1"/>
            <p:nvPr/>
          </p:nvSpPr>
          <p:spPr>
            <a:xfrm>
              <a:off x="6220800" y="4132800"/>
              <a:ext cx="36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endParaRPr lang="en-US" sz="1531"/>
            </a:p>
          </p:txBody>
        </p:sp>
        <p:sp>
          <p:nvSpPr>
            <p:cNvPr id="139" name="SCHEM_text-0137"/>
            <p:cNvSpPr txBox="1"/>
            <p:nvPr/>
          </p:nvSpPr>
          <p:spPr>
            <a:xfrm>
              <a:off x="5414400" y="5169600"/>
              <a:ext cx="43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endParaRPr lang="en-US" sz="1531"/>
            </a:p>
          </p:txBody>
        </p:sp>
        <p:sp>
          <p:nvSpPr>
            <p:cNvPr id="140" name="SCHEM_text-0138"/>
            <p:cNvSpPr txBox="1"/>
            <p:nvPr/>
          </p:nvSpPr>
          <p:spPr>
            <a:xfrm>
              <a:off x="6429600" y="4615200"/>
              <a:ext cx="9216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Magnetic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torque</a:t>
              </a:r>
              <a:endParaRPr lang="en-US" sz="1417"/>
            </a:p>
          </p:txBody>
        </p:sp>
        <p:sp>
          <p:nvSpPr>
            <p:cNvPr id="141" name="SCHEM_text-0139"/>
            <p:cNvSpPr txBox="1"/>
            <p:nvPr/>
          </p:nvSpPr>
          <p:spPr>
            <a:xfrm>
              <a:off x="4485600" y="5760000"/>
              <a:ext cx="3528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Pre-magnetized NdFeB microparticle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(enlarged view)</a:t>
              </a:r>
              <a:endParaRPr lang="en-US" sz="1417"/>
            </a:p>
          </p:txBody>
        </p:sp>
        <p:sp>
          <p:nvSpPr>
            <p:cNvPr id="142" name="SCHEM_text-0140"/>
            <p:cNvSpPr txBox="1"/>
            <p:nvPr/>
          </p:nvSpPr>
          <p:spPr>
            <a:xfrm>
              <a:off x="8114400" y="1044000"/>
              <a:ext cx="30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off: straight state</a:t>
              </a:r>
              <a:endParaRPr lang="en-US" sz="1417"/>
            </a:p>
          </p:txBody>
        </p:sp>
        <p:grpSp>
          <p:nvGrpSpPr>
            <p:cNvPr id="143" name="SCHEM_field-off-straight"/>
            <p:cNvGrpSpPr/>
            <p:nvPr/>
          </p:nvGrpSpPr>
          <p:grpSpPr>
            <a:xfrm>
              <a:off x="8042400" y="1332000"/>
              <a:ext cx="3348000" cy="446400"/>
              <a:chOff x="8042400" y="1332000"/>
              <a:chExt cx="3348000" cy="446400"/>
            </a:xfrm>
          </p:grpSpPr>
          <p:sp>
            <p:nvSpPr>
              <p:cNvPr id="144" name="SCHEM_rect-0142"/>
              <p:cNvSpPr/>
              <p:nvPr/>
            </p:nvSpPr>
            <p:spPr>
              <a:xfrm>
                <a:off x="8042400" y="14760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5" name="SCHEM_polygon-0143"/>
              <p:cNvSpPr/>
              <p:nvPr/>
            </p:nvSpPr>
            <p:spPr>
              <a:xfrm>
                <a:off x="80424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6" name="SCHEM_line-0144"/>
              <p:cNvCxnSpPr/>
              <p:nvPr/>
            </p:nvCxnSpPr>
            <p:spPr>
              <a:xfrm>
                <a:off x="82728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47" name="SCHEM_rect-0145"/>
              <p:cNvSpPr/>
              <p:nvPr/>
            </p:nvSpPr>
            <p:spPr>
              <a:xfrm>
                <a:off x="8848800" y="1476000"/>
                <a:ext cx="806400" cy="3024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8" name="SCHEM_polygon-0146"/>
              <p:cNvSpPr/>
              <p:nvPr/>
            </p:nvSpPr>
            <p:spPr>
              <a:xfrm>
                <a:off x="88488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9" name="SCHEM_line-0147"/>
              <p:cNvCxnSpPr/>
              <p:nvPr/>
            </p:nvCxnSpPr>
            <p:spPr>
              <a:xfrm flipH="1">
                <a:off x="90792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0" name="SCHEM_rect-0148"/>
              <p:cNvSpPr/>
              <p:nvPr/>
            </p:nvSpPr>
            <p:spPr>
              <a:xfrm>
                <a:off x="9655200" y="1476000"/>
                <a:ext cx="806400" cy="3024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1" name="SCHEM_polygon-0149"/>
              <p:cNvSpPr/>
              <p:nvPr/>
            </p:nvSpPr>
            <p:spPr>
              <a:xfrm>
                <a:off x="96552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2" name="SCHEM_line-0150"/>
              <p:cNvCxnSpPr/>
              <p:nvPr/>
            </p:nvCxnSpPr>
            <p:spPr>
              <a:xfrm>
                <a:off x="98856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3" name="SCHEM_rect-0151"/>
              <p:cNvSpPr/>
              <p:nvPr/>
            </p:nvSpPr>
            <p:spPr>
              <a:xfrm>
                <a:off x="10461600" y="14760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4" name="SCHEM_polygon-0152"/>
              <p:cNvSpPr/>
              <p:nvPr/>
            </p:nvSpPr>
            <p:spPr>
              <a:xfrm>
                <a:off x="104616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5" name="SCHEM_line-0153"/>
              <p:cNvCxnSpPr/>
              <p:nvPr/>
            </p:nvCxnSpPr>
            <p:spPr>
              <a:xfrm flipH="1">
                <a:off x="106920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6" name="SCHEM_polygon-0154"/>
              <p:cNvSpPr/>
              <p:nvPr/>
            </p:nvSpPr>
            <p:spPr>
              <a:xfrm>
                <a:off x="11268000" y="1332000"/>
                <a:ext cx="1224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4464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02400"/>
                    </a:lnTo>
                    <a:lnTo>
                      <a:pt x="0" y="4464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57" name="SCHEM_text-0155"/>
            <p:cNvSpPr txBox="1"/>
            <p:nvPr/>
          </p:nvSpPr>
          <p:spPr>
            <a:xfrm>
              <a:off x="8114400" y="2340000"/>
              <a:ext cx="30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on: deformation</a:t>
              </a:r>
              <a:endParaRPr lang="en-US" sz="1417"/>
            </a:p>
          </p:txBody>
        </p:sp>
        <p:grpSp>
          <p:nvGrpSpPr>
            <p:cNvPr id="158" name="SCHEM_field-on-bent"/>
            <p:cNvGrpSpPr/>
            <p:nvPr/>
          </p:nvGrpSpPr>
          <p:grpSpPr>
            <a:xfrm>
              <a:off x="7920000" y="2584800"/>
              <a:ext cx="3441600" cy="943200"/>
              <a:chOff x="7920000" y="2584800"/>
              <a:chExt cx="3441600" cy="943200"/>
            </a:xfrm>
          </p:grpSpPr>
          <p:sp>
            <p:nvSpPr>
              <p:cNvPr id="159" name="SCHEM_path-0157"/>
              <p:cNvSpPr/>
              <p:nvPr/>
            </p:nvSpPr>
            <p:spPr>
              <a:xfrm>
                <a:off x="7920000" y="2584800"/>
                <a:ext cx="957600" cy="691200"/>
              </a:xfrm>
              <a:custGeom>
                <a:avLst/>
                <a:gdLst/>
                <a:ahLst/>
                <a:cxnLst/>
                <a:rect l="0" t="0" r="r" b="b"/>
                <a:pathLst>
                  <a:path w="957600" h="691200">
                    <a:moveTo>
                      <a:pt x="0" y="367200"/>
                    </a:moveTo>
                    <a:cubicBezTo>
                      <a:pt x="324000" y="115200"/>
                      <a:pt x="576000" y="0"/>
                      <a:pt x="900000" y="223200"/>
                    </a:cubicBezTo>
                    <a:lnTo>
                      <a:pt x="957600" y="547200"/>
                    </a:lnTo>
                    <a:cubicBezTo>
                      <a:pt x="633600" y="324000"/>
                      <a:pt x="381600" y="439200"/>
                      <a:pt x="57600" y="691200"/>
                    </a:cubicBezTo>
                    <a:close/>
                  </a:path>
                </a:pathLst>
              </a:custGeom>
              <a:solidFill>
                <a:srgbClr val="A6C4D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0" name="SCHEM_path-0158"/>
              <p:cNvSpPr/>
              <p:nvPr/>
            </p:nvSpPr>
            <p:spPr>
              <a:xfrm>
                <a:off x="8182800" y="285048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0" y="50400"/>
                    </a:moveTo>
                    <a:cubicBezTo>
                      <a:pt x="129600" y="14400"/>
                      <a:pt x="259200" y="0"/>
                      <a:pt x="37440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1" name="SCHEM_line-0159"/>
              <p:cNvCxnSpPr/>
              <p:nvPr/>
            </p:nvCxnSpPr>
            <p:spPr>
              <a:xfrm>
                <a:off x="8514000" y="287208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2" name="SCHEM_path-0160"/>
              <p:cNvSpPr/>
              <p:nvPr/>
            </p:nvSpPr>
            <p:spPr>
              <a:xfrm>
                <a:off x="8820000" y="2808000"/>
                <a:ext cx="813600" cy="619200"/>
              </a:xfrm>
              <a:custGeom>
                <a:avLst/>
                <a:gdLst/>
                <a:ahLst/>
                <a:cxnLst/>
                <a:rect l="0" t="0" r="r" b="b"/>
                <a:pathLst>
                  <a:path w="813600" h="619200">
                    <a:moveTo>
                      <a:pt x="0" y="0"/>
                    </a:moveTo>
                    <a:cubicBezTo>
                      <a:pt x="272160" y="230400"/>
                      <a:pt x="483840" y="295200"/>
                      <a:pt x="756000" y="100800"/>
                    </a:cubicBezTo>
                    <a:lnTo>
                      <a:pt x="813600" y="424800"/>
                    </a:lnTo>
                    <a:cubicBezTo>
                      <a:pt x="541440" y="619200"/>
                      <a:pt x="329760" y="554400"/>
                      <a:pt x="57600" y="324000"/>
                    </a:cubicBezTo>
                    <a:close/>
                  </a:path>
                </a:pathLst>
              </a:custGeom>
              <a:solidFill>
                <a:srgbClr val="C1CEAD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3" name="SCHEM_path-0161"/>
              <p:cNvSpPr/>
              <p:nvPr/>
            </p:nvSpPr>
            <p:spPr>
              <a:xfrm>
                <a:off x="9010800" y="314388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374400" y="50400"/>
                    </a:moveTo>
                    <a:cubicBezTo>
                      <a:pt x="244800" y="14400"/>
                      <a:pt x="115200" y="0"/>
                      <a:pt x="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4" name="SCHEM_line-0162"/>
              <p:cNvCxnSpPr/>
              <p:nvPr/>
            </p:nvCxnSpPr>
            <p:spPr>
              <a:xfrm flipH="1">
                <a:off x="9003600" y="316548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5" name="SCHEM_path-0163"/>
              <p:cNvSpPr/>
              <p:nvPr/>
            </p:nvSpPr>
            <p:spPr>
              <a:xfrm>
                <a:off x="9576000" y="2613600"/>
                <a:ext cx="993600" cy="619200"/>
              </a:xfrm>
              <a:custGeom>
                <a:avLst/>
                <a:gdLst/>
                <a:ahLst/>
                <a:cxnLst/>
                <a:rect l="0" t="0" r="r" b="b"/>
                <a:pathLst>
                  <a:path w="993600" h="619200">
                    <a:moveTo>
                      <a:pt x="0" y="295200"/>
                    </a:moveTo>
                    <a:cubicBezTo>
                      <a:pt x="336960" y="36000"/>
                      <a:pt x="599040" y="0"/>
                      <a:pt x="936000" y="237600"/>
                    </a:cubicBezTo>
                    <a:lnTo>
                      <a:pt x="993600" y="561600"/>
                    </a:lnTo>
                    <a:cubicBezTo>
                      <a:pt x="656640" y="324000"/>
                      <a:pt x="394560" y="360000"/>
                      <a:pt x="57600" y="619200"/>
                    </a:cubicBezTo>
                    <a:close/>
                  </a:path>
                </a:pathLst>
              </a:custGeom>
              <a:solidFill>
                <a:srgbClr val="E7BDB7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6" name="SCHEM_path-0164"/>
              <p:cNvSpPr/>
              <p:nvPr/>
            </p:nvSpPr>
            <p:spPr>
              <a:xfrm>
                <a:off x="9856800" y="284292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0" y="50400"/>
                    </a:moveTo>
                    <a:cubicBezTo>
                      <a:pt x="129600" y="14400"/>
                      <a:pt x="259200" y="0"/>
                      <a:pt x="37440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7" name="SCHEM_line-0165"/>
              <p:cNvCxnSpPr/>
              <p:nvPr/>
            </p:nvCxnSpPr>
            <p:spPr>
              <a:xfrm>
                <a:off x="10188000" y="286452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8" name="SCHEM_path-0166"/>
              <p:cNvSpPr/>
              <p:nvPr/>
            </p:nvSpPr>
            <p:spPr>
              <a:xfrm>
                <a:off x="10512000" y="2851200"/>
                <a:ext cx="849600" cy="676800"/>
              </a:xfrm>
              <a:custGeom>
                <a:avLst/>
                <a:gdLst/>
                <a:ahLst/>
                <a:cxnLst/>
                <a:rect l="0" t="0" r="r" b="b"/>
                <a:pathLst>
                  <a:path w="849600" h="676800">
                    <a:moveTo>
                      <a:pt x="0" y="0"/>
                    </a:moveTo>
                    <a:cubicBezTo>
                      <a:pt x="285120" y="194400"/>
                      <a:pt x="506880" y="352800"/>
                      <a:pt x="792000" y="79200"/>
                    </a:cubicBezTo>
                    <a:lnTo>
                      <a:pt x="849600" y="403200"/>
                    </a:lnTo>
                    <a:cubicBezTo>
                      <a:pt x="564480" y="676800"/>
                      <a:pt x="342720" y="518400"/>
                      <a:pt x="57600" y="324000"/>
                    </a:cubicBezTo>
                    <a:close/>
                  </a:path>
                </a:pathLst>
              </a:custGeom>
              <a:solidFill>
                <a:srgbClr val="A6C4D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9" name="SCHEM_path-0167"/>
              <p:cNvSpPr/>
              <p:nvPr/>
            </p:nvSpPr>
            <p:spPr>
              <a:xfrm>
                <a:off x="10720800" y="319140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374400" y="50400"/>
                    </a:moveTo>
                    <a:cubicBezTo>
                      <a:pt x="244800" y="14400"/>
                      <a:pt x="115200" y="0"/>
                      <a:pt x="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70" name="SCHEM_line-0168"/>
              <p:cNvCxnSpPr/>
              <p:nvPr/>
            </p:nvCxnSpPr>
            <p:spPr>
              <a:xfrm flipH="1">
                <a:off x="10713600" y="321300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cxnSp>
          <p:nvCxnSpPr>
            <p:cNvPr id="171" name="SCHEM_line-0169"/>
            <p:cNvCxnSpPr/>
            <p:nvPr/>
          </p:nvCxnSpPr>
          <p:spPr>
            <a:xfrm flipV="1">
              <a:off x="88200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2" name="SCHEM_line-0170"/>
            <p:cNvCxnSpPr/>
            <p:nvPr/>
          </p:nvCxnSpPr>
          <p:spPr>
            <a:xfrm flipV="1">
              <a:off x="93024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3" name="SCHEM_line-0171"/>
            <p:cNvCxnSpPr/>
            <p:nvPr/>
          </p:nvCxnSpPr>
          <p:spPr>
            <a:xfrm flipV="1">
              <a:off x="98208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4" name="SCHEM_line-0172"/>
            <p:cNvCxnSpPr/>
            <p:nvPr/>
          </p:nvCxnSpPr>
          <p:spPr>
            <a:xfrm flipV="1">
              <a:off x="103320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sp>
          <p:nvSpPr>
            <p:cNvPr id="175" name="SCHEM_text-0173"/>
            <p:cNvSpPr txBox="1"/>
            <p:nvPr/>
          </p:nvSpPr>
          <p:spPr>
            <a:xfrm>
              <a:off x="8762400" y="3924000"/>
              <a:ext cx="259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Applied magnetic field B</a:t>
              </a:r>
              <a:endParaRPr lang="en-US" sz="1417"/>
            </a:p>
          </p:txBody>
        </p:sp>
        <p:sp>
          <p:nvSpPr>
            <p:cNvPr id="176" name="SCHEM_text-0174"/>
            <p:cNvSpPr txBox="1"/>
            <p:nvPr/>
          </p:nvSpPr>
          <p:spPr>
            <a:xfrm>
              <a:off x="8114400" y="4608000"/>
              <a:ext cx="334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off: recovered straight state</a:t>
              </a:r>
              <a:endParaRPr lang="en-US" sz="1361"/>
            </a:p>
          </p:txBody>
        </p:sp>
        <p:grpSp>
          <p:nvGrpSpPr>
            <p:cNvPr id="177" name="SCHEM_recovered-straight"/>
            <p:cNvGrpSpPr/>
            <p:nvPr/>
          </p:nvGrpSpPr>
          <p:grpSpPr>
            <a:xfrm>
              <a:off x="8042400" y="4881600"/>
              <a:ext cx="3348000" cy="446400"/>
              <a:chOff x="8042400" y="4881600"/>
              <a:chExt cx="3348000" cy="446400"/>
            </a:xfrm>
          </p:grpSpPr>
          <p:sp>
            <p:nvSpPr>
              <p:cNvPr id="178" name="SCHEM_rect-0176"/>
              <p:cNvSpPr/>
              <p:nvPr/>
            </p:nvSpPr>
            <p:spPr>
              <a:xfrm>
                <a:off x="8042400" y="50256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9" name="SCHEM_polygon-0177"/>
              <p:cNvSpPr/>
              <p:nvPr/>
            </p:nvSpPr>
            <p:spPr>
              <a:xfrm>
                <a:off x="80424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0" name="SCHEM_line-0178"/>
              <p:cNvCxnSpPr/>
              <p:nvPr/>
            </p:nvCxnSpPr>
            <p:spPr>
              <a:xfrm>
                <a:off x="82728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1" name="SCHEM_rect-0179"/>
              <p:cNvSpPr/>
              <p:nvPr/>
            </p:nvSpPr>
            <p:spPr>
              <a:xfrm>
                <a:off x="8848800" y="5025600"/>
                <a:ext cx="806400" cy="3024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2" name="SCHEM_polygon-0180"/>
              <p:cNvSpPr/>
              <p:nvPr/>
            </p:nvSpPr>
            <p:spPr>
              <a:xfrm>
                <a:off x="88488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3" name="SCHEM_line-0181"/>
              <p:cNvCxnSpPr/>
              <p:nvPr/>
            </p:nvCxnSpPr>
            <p:spPr>
              <a:xfrm flipH="1">
                <a:off x="90792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4" name="SCHEM_rect-0182"/>
              <p:cNvSpPr/>
              <p:nvPr/>
            </p:nvSpPr>
            <p:spPr>
              <a:xfrm>
                <a:off x="9655200" y="5025600"/>
                <a:ext cx="806400" cy="3024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5" name="SCHEM_polygon-0183"/>
              <p:cNvSpPr/>
              <p:nvPr/>
            </p:nvSpPr>
            <p:spPr>
              <a:xfrm>
                <a:off x="96552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6" name="SCHEM_line-0184"/>
              <p:cNvCxnSpPr/>
              <p:nvPr/>
            </p:nvCxnSpPr>
            <p:spPr>
              <a:xfrm>
                <a:off x="98856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7" name="SCHEM_rect-0185"/>
              <p:cNvSpPr/>
              <p:nvPr/>
            </p:nvSpPr>
            <p:spPr>
              <a:xfrm>
                <a:off x="10461600" y="50256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8" name="SCHEM_polygon-0186"/>
              <p:cNvSpPr/>
              <p:nvPr/>
            </p:nvSpPr>
            <p:spPr>
              <a:xfrm>
                <a:off x="104616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9" name="SCHEM_line-0187"/>
              <p:cNvCxnSpPr/>
              <p:nvPr/>
            </p:nvCxnSpPr>
            <p:spPr>
              <a:xfrm flipH="1">
                <a:off x="106920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90" name="SCHEM_polygon-0188"/>
              <p:cNvSpPr/>
              <p:nvPr/>
            </p:nvSpPr>
            <p:spPr>
              <a:xfrm>
                <a:off x="11268000" y="4881600"/>
                <a:ext cx="1224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4464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02400"/>
                    </a:lnTo>
                    <a:lnTo>
                      <a:pt x="0" y="4464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91" name="SCHEM_text-0189"/>
            <p:cNvSpPr txBox="1"/>
            <p:nvPr/>
          </p:nvSpPr>
          <p:spPr>
            <a:xfrm>
              <a:off x="8503200" y="5623200"/>
              <a:ext cx="30096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field drives deformation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(not self-powered; returns when field is removed)</a:t>
              </a:r>
              <a:endParaRPr lang="en-US" sz="1247"/>
            </a:p>
          </p:txBody>
        </p:sp>
        <p:sp>
          <p:nvSpPr>
            <p:cNvPr id="192" name="SCHEM_text-0190"/>
            <p:cNvSpPr txBox="1"/>
            <p:nvPr/>
          </p:nvSpPr>
          <p:spPr>
            <a:xfrm>
              <a:off x="3650400" y="6228000"/>
              <a:ext cx="777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(2018) | doi:10.1038/s41586-018-0185-0 | Conceptual geometry; not to scale</a:t>
              </a:r>
              <a:endParaRPr lang="en-US" sz="102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