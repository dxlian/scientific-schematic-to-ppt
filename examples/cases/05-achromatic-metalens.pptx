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44000" y="165600"/>
            <a:ext cx="11232000" cy="6233040"/>
            <a:chOff x="144000" y="165600"/>
            <a:chExt cx="11232000" cy="6233040"/>
          </a:xfrm>
        </p:grpSpPr>
        <p:sp>
          <p:nvSpPr>
            <p:cNvPr id="3" name="SCHEM_text-0001"/>
            <p:cNvSpPr txBox="1"/>
            <p:nvPr/>
          </p:nvSpPr>
          <p:spPr>
            <a:xfrm>
              <a:off x="280800" y="165600"/>
              <a:ext cx="10656000" cy="3859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04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Broadband achromatic metalens</a:t>
              </a:r>
              <a:endParaRPr lang="en-US" sz="2041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2476800" y="655200"/>
              <a:ext cx="3240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Nearly common focus</a:t>
              </a:r>
              <a:endParaRPr lang="en-US" sz="1587"/>
            </a:p>
          </p:txBody>
        </p:sp>
        <p:grpSp>
          <p:nvGrpSpPr>
            <p:cNvPr id="5" name="SCHEM_metalens-device"/>
            <p:cNvGrpSpPr/>
            <p:nvPr/>
          </p:nvGrpSpPr>
          <p:grpSpPr>
            <a:xfrm>
              <a:off x="1101600" y="3513600"/>
              <a:ext cx="4507200" cy="468000"/>
              <a:chOff x="1101600" y="3513600"/>
              <a:chExt cx="4507200" cy="468000"/>
            </a:xfrm>
          </p:grpSpPr>
          <p:sp>
            <p:nvSpPr>
              <p:cNvPr id="6" name="SCHEM_rect-0004"/>
              <p:cNvSpPr/>
              <p:nvPr/>
            </p:nvSpPr>
            <p:spPr>
              <a:xfrm>
                <a:off x="1101600" y="3758400"/>
                <a:ext cx="4507200" cy="223200"/>
              </a:xfrm>
              <a:prstGeom prst="rect">
                <a:avLst/>
              </a:prstGeom>
              <a:solidFill>
                <a:srgbClr val="D2D2D2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" name="SCHEM_rect-0005"/>
              <p:cNvSpPr/>
              <p:nvPr/>
            </p:nvSpPr>
            <p:spPr>
              <a:xfrm>
                <a:off x="1101600" y="3636000"/>
                <a:ext cx="4507200" cy="122400"/>
              </a:xfrm>
              <a:prstGeom prst="rect">
                <a:avLst/>
              </a:prstGeom>
              <a:solidFill>
                <a:srgbClr val="B8CA9C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" name="SCHEM_path-0006"/>
              <p:cNvSpPr/>
              <p:nvPr/>
            </p:nvSpPr>
            <p:spPr>
              <a:xfrm>
                <a:off x="1101600" y="3600000"/>
                <a:ext cx="4507200" cy="108000"/>
              </a:xfrm>
              <a:custGeom>
                <a:avLst/>
                <a:gdLst/>
                <a:ahLst/>
                <a:cxnLst/>
                <a:rect l="0" t="0" r="r" b="b"/>
                <a:pathLst>
                  <a:path w="4507200" h="108000">
                    <a:moveTo>
                      <a:pt x="0" y="0"/>
                    </a:moveTo>
                    <a:lnTo>
                      <a:pt x="4507200" y="0"/>
                    </a:lnTo>
                    <a:lnTo>
                      <a:pt x="4507200" y="79200"/>
                    </a:lnTo>
                    <a:lnTo>
                      <a:pt x="4032000" y="79200"/>
                    </a:lnTo>
                    <a:lnTo>
                      <a:pt x="4032000" y="57600"/>
                    </a:lnTo>
                    <a:lnTo>
                      <a:pt x="3571200" y="57600"/>
                    </a:lnTo>
                    <a:lnTo>
                      <a:pt x="3571200" y="100800"/>
                    </a:lnTo>
                    <a:lnTo>
                      <a:pt x="3139200" y="100800"/>
                    </a:lnTo>
                    <a:lnTo>
                      <a:pt x="3139200" y="72000"/>
                    </a:lnTo>
                    <a:lnTo>
                      <a:pt x="2678400" y="72000"/>
                    </a:lnTo>
                    <a:lnTo>
                      <a:pt x="2678400" y="108000"/>
                    </a:lnTo>
                    <a:lnTo>
                      <a:pt x="2217600" y="108000"/>
                    </a:lnTo>
                    <a:lnTo>
                      <a:pt x="2217600" y="64800"/>
                    </a:lnTo>
                    <a:lnTo>
                      <a:pt x="1742400" y="64800"/>
                    </a:lnTo>
                    <a:lnTo>
                      <a:pt x="1742400" y="93600"/>
                    </a:lnTo>
                    <a:lnTo>
                      <a:pt x="1267200" y="93600"/>
                    </a:lnTo>
                    <a:lnTo>
                      <a:pt x="1267200" y="64800"/>
                    </a:lnTo>
                    <a:lnTo>
                      <a:pt x="799200" y="64800"/>
                    </a:lnTo>
                    <a:lnTo>
                      <a:pt x="799200" y="93600"/>
                    </a:lnTo>
                    <a:lnTo>
                      <a:pt x="302400" y="93600"/>
                    </a:lnTo>
                    <a:lnTo>
                      <a:pt x="30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5B1AF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9" name="SCHEM_rect-0007"/>
              <p:cNvSpPr/>
              <p:nvPr/>
            </p:nvSpPr>
            <p:spPr>
              <a:xfrm>
                <a:off x="112320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" name="SCHEM_rect-0008"/>
              <p:cNvSpPr/>
              <p:nvPr/>
            </p:nvSpPr>
            <p:spPr>
              <a:xfrm>
                <a:off x="124416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" name="SCHEM_rect-0009"/>
              <p:cNvSpPr/>
              <p:nvPr/>
            </p:nvSpPr>
            <p:spPr>
              <a:xfrm>
                <a:off x="136512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" name="SCHEM_rect-0010"/>
              <p:cNvSpPr/>
              <p:nvPr/>
            </p:nvSpPr>
            <p:spPr>
              <a:xfrm>
                <a:off x="148608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" name="SCHEM_rect-0011"/>
              <p:cNvSpPr/>
              <p:nvPr/>
            </p:nvSpPr>
            <p:spPr>
              <a:xfrm>
                <a:off x="160704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" name="SCHEM_rect-0012"/>
              <p:cNvSpPr/>
              <p:nvPr/>
            </p:nvSpPr>
            <p:spPr>
              <a:xfrm>
                <a:off x="172800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" name="SCHEM_rect-0013"/>
              <p:cNvSpPr/>
              <p:nvPr/>
            </p:nvSpPr>
            <p:spPr>
              <a:xfrm>
                <a:off x="184896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" name="SCHEM_rect-0014"/>
              <p:cNvSpPr/>
              <p:nvPr/>
            </p:nvSpPr>
            <p:spPr>
              <a:xfrm>
                <a:off x="196992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" name="SCHEM_rect-0015"/>
              <p:cNvSpPr/>
              <p:nvPr/>
            </p:nvSpPr>
            <p:spPr>
              <a:xfrm>
                <a:off x="209088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" name="SCHEM_rect-0016"/>
              <p:cNvSpPr/>
              <p:nvPr/>
            </p:nvSpPr>
            <p:spPr>
              <a:xfrm>
                <a:off x="221184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9" name="SCHEM_rect-0017"/>
              <p:cNvSpPr/>
              <p:nvPr/>
            </p:nvSpPr>
            <p:spPr>
              <a:xfrm>
                <a:off x="233280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0" name="SCHEM_rect-0018"/>
              <p:cNvSpPr/>
              <p:nvPr/>
            </p:nvSpPr>
            <p:spPr>
              <a:xfrm>
                <a:off x="245376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1" name="SCHEM_rect-0019"/>
              <p:cNvSpPr/>
              <p:nvPr/>
            </p:nvSpPr>
            <p:spPr>
              <a:xfrm>
                <a:off x="257472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" name="SCHEM_rect-0020"/>
              <p:cNvSpPr/>
              <p:nvPr/>
            </p:nvSpPr>
            <p:spPr>
              <a:xfrm>
                <a:off x="269568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3" name="SCHEM_rect-0021"/>
              <p:cNvSpPr/>
              <p:nvPr/>
            </p:nvSpPr>
            <p:spPr>
              <a:xfrm>
                <a:off x="281664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4" name="SCHEM_rect-0022"/>
              <p:cNvSpPr/>
              <p:nvPr/>
            </p:nvSpPr>
            <p:spPr>
              <a:xfrm>
                <a:off x="293760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5" name="SCHEM_rect-0023"/>
              <p:cNvSpPr/>
              <p:nvPr/>
            </p:nvSpPr>
            <p:spPr>
              <a:xfrm>
                <a:off x="305856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" name="SCHEM_rect-0024"/>
              <p:cNvSpPr/>
              <p:nvPr/>
            </p:nvSpPr>
            <p:spPr>
              <a:xfrm>
                <a:off x="317952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7" name="SCHEM_rect-0025"/>
              <p:cNvSpPr/>
              <p:nvPr/>
            </p:nvSpPr>
            <p:spPr>
              <a:xfrm>
                <a:off x="330048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8" name="SCHEM_rect-0026"/>
              <p:cNvSpPr/>
              <p:nvPr/>
            </p:nvSpPr>
            <p:spPr>
              <a:xfrm>
                <a:off x="342144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9" name="SCHEM_rect-0027"/>
              <p:cNvSpPr/>
              <p:nvPr/>
            </p:nvSpPr>
            <p:spPr>
              <a:xfrm>
                <a:off x="354240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0" name="SCHEM_rect-0028"/>
              <p:cNvSpPr/>
              <p:nvPr/>
            </p:nvSpPr>
            <p:spPr>
              <a:xfrm>
                <a:off x="366336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1" name="SCHEM_rect-0029"/>
              <p:cNvSpPr/>
              <p:nvPr/>
            </p:nvSpPr>
            <p:spPr>
              <a:xfrm>
                <a:off x="378432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2" name="SCHEM_rect-0030"/>
              <p:cNvSpPr/>
              <p:nvPr/>
            </p:nvSpPr>
            <p:spPr>
              <a:xfrm>
                <a:off x="390528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3" name="SCHEM_rect-0031"/>
              <p:cNvSpPr/>
              <p:nvPr/>
            </p:nvSpPr>
            <p:spPr>
              <a:xfrm>
                <a:off x="402624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4" name="SCHEM_rect-0032"/>
              <p:cNvSpPr/>
              <p:nvPr/>
            </p:nvSpPr>
            <p:spPr>
              <a:xfrm>
                <a:off x="414720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5" name="SCHEM_rect-0033"/>
              <p:cNvSpPr/>
              <p:nvPr/>
            </p:nvSpPr>
            <p:spPr>
              <a:xfrm>
                <a:off x="426816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6" name="SCHEM_rect-0034"/>
              <p:cNvSpPr/>
              <p:nvPr/>
            </p:nvSpPr>
            <p:spPr>
              <a:xfrm>
                <a:off x="438912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7" name="SCHEM_rect-0035"/>
              <p:cNvSpPr/>
              <p:nvPr/>
            </p:nvSpPr>
            <p:spPr>
              <a:xfrm>
                <a:off x="451008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8" name="SCHEM_rect-0036"/>
              <p:cNvSpPr/>
              <p:nvPr/>
            </p:nvSpPr>
            <p:spPr>
              <a:xfrm>
                <a:off x="463104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9" name="SCHEM_rect-0037"/>
              <p:cNvSpPr/>
              <p:nvPr/>
            </p:nvSpPr>
            <p:spPr>
              <a:xfrm>
                <a:off x="475200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0" name="SCHEM_rect-0038"/>
              <p:cNvSpPr/>
              <p:nvPr/>
            </p:nvSpPr>
            <p:spPr>
              <a:xfrm>
                <a:off x="487296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1" name="SCHEM_rect-0039"/>
              <p:cNvSpPr/>
              <p:nvPr/>
            </p:nvSpPr>
            <p:spPr>
              <a:xfrm>
                <a:off x="499392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2" name="SCHEM_rect-0040"/>
              <p:cNvSpPr/>
              <p:nvPr/>
            </p:nvSpPr>
            <p:spPr>
              <a:xfrm>
                <a:off x="511488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3" name="SCHEM_rect-0041"/>
              <p:cNvSpPr/>
              <p:nvPr/>
            </p:nvSpPr>
            <p:spPr>
              <a:xfrm>
                <a:off x="523584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4" name="SCHEM_rect-0042"/>
              <p:cNvSpPr/>
              <p:nvPr/>
            </p:nvSpPr>
            <p:spPr>
              <a:xfrm>
                <a:off x="535680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5" name="SCHEM_rect-0043"/>
              <p:cNvSpPr/>
              <p:nvPr/>
            </p:nvSpPr>
            <p:spPr>
              <a:xfrm>
                <a:off x="547776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</p:grpSp>
        <p:grpSp>
          <p:nvGrpSpPr>
            <p:cNvPr id="46" name="SCHEM_optical-rays"/>
            <p:cNvGrpSpPr/>
            <p:nvPr/>
          </p:nvGrpSpPr>
          <p:grpSpPr>
            <a:xfrm>
              <a:off x="1368000" y="964800"/>
              <a:ext cx="3924000" cy="4492800"/>
              <a:chOff x="1368000" y="964800"/>
              <a:chExt cx="3924000" cy="4492800"/>
            </a:xfrm>
          </p:grpSpPr>
          <p:cxnSp>
            <p:nvCxnSpPr>
              <p:cNvPr id="47" name="SCHEM_line-0045"/>
              <p:cNvCxnSpPr/>
              <p:nvPr/>
            </p:nvCxnSpPr>
            <p:spPr>
              <a:xfrm>
                <a:off x="3348000" y="1044000"/>
                <a:ext cx="1" cy="29016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  <a:prstDash val="dash"/>
              </a:ln>
              <a:effectLst/>
            </p:spPr>
          </p:cxnSp>
          <p:cxnSp>
            <p:nvCxnSpPr>
              <p:cNvPr id="48" name="SCHEM_line-0046"/>
              <p:cNvCxnSpPr/>
              <p:nvPr/>
            </p:nvCxnSpPr>
            <p:spPr>
              <a:xfrm flipV="1">
                <a:off x="1382400" y="1044000"/>
                <a:ext cx="1965600" cy="2462400"/>
              </a:xfrm>
              <a:prstGeom prst="line">
                <a:avLst/>
              </a:prstGeom>
              <a:noFill/>
              <a:ln w="14400" cap="flat">
                <a:solidFill>
                  <a:srgbClr val="E97D81"/>
                </a:solidFill>
              </a:ln>
              <a:effectLst/>
            </p:spPr>
          </p:cxnSp>
          <p:cxnSp>
            <p:nvCxnSpPr>
              <p:cNvPr id="49" name="SCHEM_line-0047"/>
              <p:cNvCxnSpPr/>
              <p:nvPr/>
            </p:nvCxnSpPr>
            <p:spPr>
              <a:xfrm flipV="1">
                <a:off x="1814832" y="2885875"/>
                <a:ext cx="62899" cy="78797"/>
              </a:xfrm>
              <a:prstGeom prst="line">
                <a:avLst/>
              </a:prstGeom>
              <a:noFill/>
              <a:ln w="21600" cap="flat">
                <a:solidFill>
                  <a:srgbClr val="E97D81"/>
                </a:solidFill>
                <a:tailEnd type="triangle" w="med" len="med"/>
              </a:ln>
              <a:effectLst/>
            </p:spPr>
          </p:cxnSp>
          <p:cxnSp>
            <p:nvCxnSpPr>
              <p:cNvPr id="50" name="SCHEM_line-0048"/>
              <p:cNvCxnSpPr/>
              <p:nvPr/>
            </p:nvCxnSpPr>
            <p:spPr>
              <a:xfrm flipV="1">
                <a:off x="2758320" y="1703923"/>
                <a:ext cx="62899" cy="78797"/>
              </a:xfrm>
              <a:prstGeom prst="line">
                <a:avLst/>
              </a:prstGeom>
              <a:noFill/>
              <a:ln w="21600" cap="flat">
                <a:solidFill>
                  <a:srgbClr val="E97D81"/>
                </a:solidFill>
                <a:tailEnd type="triangle" w="med" len="med"/>
              </a:ln>
              <a:effectLst/>
            </p:spPr>
          </p:cxnSp>
          <p:cxnSp>
            <p:nvCxnSpPr>
              <p:cNvPr id="51" name="SCHEM_line-0049"/>
              <p:cNvCxnSpPr/>
              <p:nvPr/>
            </p:nvCxnSpPr>
            <p:spPr>
              <a:xfrm flipV="1">
                <a:off x="1893600" y="1044000"/>
                <a:ext cx="1454400" cy="2462400"/>
              </a:xfrm>
              <a:prstGeom prst="line">
                <a:avLst/>
              </a:prstGeom>
              <a:noFill/>
              <a:ln w="14400" cap="flat">
                <a:solidFill>
                  <a:srgbClr val="96AD78"/>
                </a:solidFill>
              </a:ln>
              <a:effectLst/>
            </p:spPr>
          </p:cxnSp>
          <p:cxnSp>
            <p:nvCxnSpPr>
              <p:cNvPr id="52" name="SCHEM_line-0050"/>
              <p:cNvCxnSpPr/>
              <p:nvPr/>
            </p:nvCxnSpPr>
            <p:spPr>
              <a:xfrm flipV="1">
                <a:off x="2213568" y="2885875"/>
                <a:ext cx="46541" cy="78797"/>
              </a:xfrm>
              <a:prstGeom prst="line">
                <a:avLst/>
              </a:prstGeom>
              <a:noFill/>
              <a:ln w="21600" cap="flat">
                <a:solidFill>
                  <a:srgbClr val="96AD78"/>
                </a:solidFill>
                <a:tailEnd type="triangle" w="med" len="med"/>
              </a:ln>
              <a:effectLst/>
            </p:spPr>
          </p:cxnSp>
          <p:cxnSp>
            <p:nvCxnSpPr>
              <p:cNvPr id="53" name="SCHEM_line-0051"/>
              <p:cNvCxnSpPr/>
              <p:nvPr/>
            </p:nvCxnSpPr>
            <p:spPr>
              <a:xfrm flipV="1">
                <a:off x="2911680" y="1703923"/>
                <a:ext cx="46541" cy="78797"/>
              </a:xfrm>
              <a:prstGeom prst="line">
                <a:avLst/>
              </a:prstGeom>
              <a:noFill/>
              <a:ln w="21600" cap="flat">
                <a:solidFill>
                  <a:srgbClr val="96AD78"/>
                </a:solidFill>
                <a:tailEnd type="triangle" w="med" len="med"/>
              </a:ln>
              <a:effectLst/>
            </p:spPr>
          </p:cxnSp>
          <p:cxnSp>
            <p:nvCxnSpPr>
              <p:cNvPr id="54" name="SCHEM_line-0052"/>
              <p:cNvCxnSpPr/>
              <p:nvPr/>
            </p:nvCxnSpPr>
            <p:spPr>
              <a:xfrm flipV="1">
                <a:off x="2412000" y="1044000"/>
                <a:ext cx="936000" cy="2462400"/>
              </a:xfrm>
              <a:prstGeom prst="line">
                <a:avLst/>
              </a:prstGeom>
              <a:noFill/>
              <a:ln w="14400" cap="flat">
                <a:solidFill>
                  <a:srgbClr val="3AA1D1"/>
                </a:solidFill>
              </a:ln>
              <a:effectLst/>
            </p:spPr>
          </p:cxnSp>
          <p:cxnSp>
            <p:nvCxnSpPr>
              <p:cNvPr id="55" name="SCHEM_line-0053"/>
              <p:cNvCxnSpPr/>
              <p:nvPr/>
            </p:nvCxnSpPr>
            <p:spPr>
              <a:xfrm flipV="1">
                <a:off x="2617920" y="2885875"/>
                <a:ext cx="29952" cy="78797"/>
              </a:xfrm>
              <a:prstGeom prst="line">
                <a:avLst/>
              </a:prstGeom>
              <a:noFill/>
              <a:ln w="21600" cap="flat">
                <a:solidFill>
                  <a:srgbClr val="3AA1D1"/>
                </a:solidFill>
                <a:tailEnd type="triangle" w="med" len="med"/>
              </a:ln>
              <a:effectLst/>
            </p:spPr>
          </p:cxnSp>
          <p:cxnSp>
            <p:nvCxnSpPr>
              <p:cNvPr id="56" name="SCHEM_line-0054"/>
              <p:cNvCxnSpPr/>
              <p:nvPr/>
            </p:nvCxnSpPr>
            <p:spPr>
              <a:xfrm flipV="1">
                <a:off x="3067200" y="1703923"/>
                <a:ext cx="29952" cy="78797"/>
              </a:xfrm>
              <a:prstGeom prst="line">
                <a:avLst/>
              </a:prstGeom>
              <a:noFill/>
              <a:ln w="21600" cap="flat">
                <a:solidFill>
                  <a:srgbClr val="3AA1D1"/>
                </a:solidFill>
                <a:tailEnd type="triangle" w="med" len="med"/>
              </a:ln>
              <a:effectLst/>
            </p:spPr>
          </p:cxnSp>
          <p:cxnSp>
            <p:nvCxnSpPr>
              <p:cNvPr id="57" name="SCHEM_line-0055"/>
              <p:cNvCxnSpPr/>
              <p:nvPr/>
            </p:nvCxnSpPr>
            <p:spPr>
              <a:xfrm flipH="1" flipV="1">
                <a:off x="3348000" y="1044000"/>
                <a:ext cx="943200" cy="2462400"/>
              </a:xfrm>
              <a:prstGeom prst="line">
                <a:avLst/>
              </a:prstGeom>
              <a:noFill/>
              <a:ln w="14400" cap="flat">
                <a:solidFill>
                  <a:srgbClr val="3AA1D1"/>
                </a:solidFill>
              </a:ln>
              <a:effectLst/>
            </p:spPr>
          </p:cxnSp>
          <p:cxnSp>
            <p:nvCxnSpPr>
              <p:cNvPr id="58" name="SCHEM_line-0056"/>
              <p:cNvCxnSpPr/>
              <p:nvPr/>
            </p:nvCxnSpPr>
            <p:spPr>
              <a:xfrm flipH="1" flipV="1">
                <a:off x="4053514" y="2885875"/>
                <a:ext cx="30182" cy="78797"/>
              </a:xfrm>
              <a:prstGeom prst="line">
                <a:avLst/>
              </a:prstGeom>
              <a:noFill/>
              <a:ln w="21600" cap="flat">
                <a:solidFill>
                  <a:srgbClr val="3AA1D1"/>
                </a:solidFill>
                <a:tailEnd type="triangle" w="med" len="med"/>
              </a:ln>
              <a:effectLst/>
            </p:spPr>
          </p:cxnSp>
          <p:cxnSp>
            <p:nvCxnSpPr>
              <p:cNvPr id="59" name="SCHEM_line-0057"/>
              <p:cNvCxnSpPr/>
              <p:nvPr/>
            </p:nvCxnSpPr>
            <p:spPr>
              <a:xfrm flipH="1" flipV="1">
                <a:off x="3600778" y="1703923"/>
                <a:ext cx="30182" cy="78797"/>
              </a:xfrm>
              <a:prstGeom prst="line">
                <a:avLst/>
              </a:prstGeom>
              <a:noFill/>
              <a:ln w="21600" cap="flat">
                <a:solidFill>
                  <a:srgbClr val="3AA1D1"/>
                </a:solidFill>
                <a:tailEnd type="triangle" w="med" len="med"/>
              </a:ln>
              <a:effectLst/>
            </p:spPr>
          </p:cxnSp>
          <p:cxnSp>
            <p:nvCxnSpPr>
              <p:cNvPr id="60" name="SCHEM_line-0058"/>
              <p:cNvCxnSpPr/>
              <p:nvPr/>
            </p:nvCxnSpPr>
            <p:spPr>
              <a:xfrm flipH="1" flipV="1">
                <a:off x="3348000" y="1044000"/>
                <a:ext cx="1418400" cy="2462400"/>
              </a:xfrm>
              <a:prstGeom prst="line">
                <a:avLst/>
              </a:prstGeom>
              <a:noFill/>
              <a:ln w="14400" cap="flat">
                <a:solidFill>
                  <a:srgbClr val="96AD78"/>
                </a:solidFill>
              </a:ln>
              <a:effectLst/>
            </p:spPr>
          </p:cxnSp>
          <p:cxnSp>
            <p:nvCxnSpPr>
              <p:cNvPr id="61" name="SCHEM_line-0059"/>
              <p:cNvCxnSpPr/>
              <p:nvPr/>
            </p:nvCxnSpPr>
            <p:spPr>
              <a:xfrm flipH="1" flipV="1">
                <a:off x="4408963" y="2885875"/>
                <a:ext cx="45389" cy="78797"/>
              </a:xfrm>
              <a:prstGeom prst="line">
                <a:avLst/>
              </a:prstGeom>
              <a:noFill/>
              <a:ln w="21600" cap="flat">
                <a:solidFill>
                  <a:srgbClr val="96AD78"/>
                </a:solidFill>
                <a:tailEnd type="triangle" w="med" len="med"/>
              </a:ln>
              <a:effectLst/>
            </p:spPr>
          </p:cxnSp>
          <p:cxnSp>
            <p:nvCxnSpPr>
              <p:cNvPr id="62" name="SCHEM_line-0060"/>
              <p:cNvCxnSpPr/>
              <p:nvPr/>
            </p:nvCxnSpPr>
            <p:spPr>
              <a:xfrm flipH="1" flipV="1">
                <a:off x="3728131" y="1703923"/>
                <a:ext cx="45389" cy="78797"/>
              </a:xfrm>
              <a:prstGeom prst="line">
                <a:avLst/>
              </a:prstGeom>
              <a:noFill/>
              <a:ln w="21600" cap="flat">
                <a:solidFill>
                  <a:srgbClr val="96AD78"/>
                </a:solidFill>
                <a:tailEnd type="triangle" w="med" len="med"/>
              </a:ln>
              <a:effectLst/>
            </p:spPr>
          </p:cxnSp>
          <p:cxnSp>
            <p:nvCxnSpPr>
              <p:cNvPr id="63" name="SCHEM_line-0061"/>
              <p:cNvCxnSpPr/>
              <p:nvPr/>
            </p:nvCxnSpPr>
            <p:spPr>
              <a:xfrm flipH="1" flipV="1">
                <a:off x="3348000" y="1044000"/>
                <a:ext cx="1944000" cy="2462400"/>
              </a:xfrm>
              <a:prstGeom prst="line">
                <a:avLst/>
              </a:prstGeom>
              <a:noFill/>
              <a:ln w="14400" cap="flat">
                <a:solidFill>
                  <a:srgbClr val="E97D81"/>
                </a:solidFill>
              </a:ln>
              <a:effectLst/>
            </p:spPr>
          </p:cxnSp>
          <p:cxnSp>
            <p:nvCxnSpPr>
              <p:cNvPr id="64" name="SCHEM_line-0062"/>
              <p:cNvCxnSpPr/>
              <p:nvPr/>
            </p:nvCxnSpPr>
            <p:spPr>
              <a:xfrm flipH="1" flipV="1">
                <a:off x="4802112" y="2885875"/>
                <a:ext cx="62208" cy="78797"/>
              </a:xfrm>
              <a:prstGeom prst="line">
                <a:avLst/>
              </a:prstGeom>
              <a:noFill/>
              <a:ln w="21600" cap="flat">
                <a:solidFill>
                  <a:srgbClr val="E97D81"/>
                </a:solidFill>
                <a:tailEnd type="triangle" w="med" len="med"/>
              </a:ln>
              <a:effectLst/>
            </p:spPr>
          </p:cxnSp>
          <p:cxnSp>
            <p:nvCxnSpPr>
              <p:cNvPr id="65" name="SCHEM_line-0063"/>
              <p:cNvCxnSpPr/>
              <p:nvPr/>
            </p:nvCxnSpPr>
            <p:spPr>
              <a:xfrm flipH="1" flipV="1">
                <a:off x="3868992" y="1703923"/>
                <a:ext cx="62208" cy="78797"/>
              </a:xfrm>
              <a:prstGeom prst="line">
                <a:avLst/>
              </a:prstGeom>
              <a:noFill/>
              <a:ln w="21600" cap="flat">
                <a:solidFill>
                  <a:srgbClr val="E97D81"/>
                </a:solidFill>
                <a:tailEnd type="triangle" w="med" len="med"/>
              </a:ln>
              <a:effectLst/>
            </p:spPr>
          </p:cxnSp>
          <p:sp>
            <p:nvSpPr>
              <p:cNvPr id="66" name="SCHEM_ellipse-0064"/>
              <p:cNvSpPr/>
              <p:nvPr/>
            </p:nvSpPr>
            <p:spPr>
              <a:xfrm>
                <a:off x="3304800" y="964800"/>
                <a:ext cx="86400" cy="86400"/>
              </a:xfrm>
              <a:prstGeom prst="ellipse">
                <a:avLst/>
              </a:prstGeom>
              <a:solidFill>
                <a:srgbClr val="292929"/>
              </a:solidFill>
              <a:ln w="9360" cap="flat">
                <a:noFill/>
              </a:ln>
              <a:effectLst/>
            </p:spPr>
          </p:sp>
          <p:cxnSp>
            <p:nvCxnSpPr>
              <p:cNvPr id="67" name="SCHEM_line-0065"/>
              <p:cNvCxnSpPr/>
              <p:nvPr/>
            </p:nvCxnSpPr>
            <p:spPr>
              <a:xfrm flipV="1">
                <a:off x="13680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369DD0"/>
                </a:solidFill>
                <a:tailEnd type="triangle" w="med" len="med"/>
              </a:ln>
              <a:effectLst/>
            </p:spPr>
          </p:cxnSp>
          <p:cxnSp>
            <p:nvCxnSpPr>
              <p:cNvPr id="68" name="SCHEM_line-0066"/>
              <p:cNvCxnSpPr/>
              <p:nvPr/>
            </p:nvCxnSpPr>
            <p:spPr>
              <a:xfrm flipV="1">
                <a:off x="18504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98AB79"/>
                </a:solidFill>
                <a:tailEnd type="triangle" w="med" len="med"/>
              </a:ln>
              <a:effectLst/>
            </p:spPr>
          </p:cxnSp>
          <p:cxnSp>
            <p:nvCxnSpPr>
              <p:cNvPr id="69" name="SCHEM_line-0067"/>
              <p:cNvCxnSpPr/>
              <p:nvPr/>
            </p:nvCxnSpPr>
            <p:spPr>
              <a:xfrm flipV="1">
                <a:off x="23328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E77B80"/>
                </a:solidFill>
                <a:tailEnd type="triangle" w="med" len="med"/>
              </a:ln>
              <a:effectLst/>
            </p:spPr>
          </p:cxnSp>
          <p:cxnSp>
            <p:nvCxnSpPr>
              <p:cNvPr id="70" name="SCHEM_line-0068"/>
              <p:cNvCxnSpPr/>
              <p:nvPr/>
            </p:nvCxnSpPr>
            <p:spPr>
              <a:xfrm flipV="1">
                <a:off x="28152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369DD0"/>
                </a:solidFill>
                <a:tailEnd type="triangle" w="med" len="med"/>
              </a:ln>
              <a:effectLst/>
            </p:spPr>
          </p:cxnSp>
          <p:cxnSp>
            <p:nvCxnSpPr>
              <p:cNvPr id="71" name="SCHEM_line-0069"/>
              <p:cNvCxnSpPr/>
              <p:nvPr/>
            </p:nvCxnSpPr>
            <p:spPr>
              <a:xfrm flipV="1">
                <a:off x="32976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98AB79"/>
                </a:solidFill>
                <a:tailEnd type="triangle" w="med" len="med"/>
              </a:ln>
              <a:effectLst/>
            </p:spPr>
          </p:cxnSp>
          <p:cxnSp>
            <p:nvCxnSpPr>
              <p:cNvPr id="72" name="SCHEM_line-0070"/>
              <p:cNvCxnSpPr/>
              <p:nvPr/>
            </p:nvCxnSpPr>
            <p:spPr>
              <a:xfrm flipV="1">
                <a:off x="37800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E77B80"/>
                </a:solidFill>
                <a:tailEnd type="triangle" w="med" len="med"/>
              </a:ln>
              <a:effectLst/>
            </p:spPr>
          </p:cxnSp>
          <p:cxnSp>
            <p:nvCxnSpPr>
              <p:cNvPr id="73" name="SCHEM_line-0071"/>
              <p:cNvCxnSpPr/>
              <p:nvPr/>
            </p:nvCxnSpPr>
            <p:spPr>
              <a:xfrm flipV="1">
                <a:off x="42624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369DD0"/>
                </a:solidFill>
                <a:tailEnd type="triangle" w="med" len="med"/>
              </a:ln>
              <a:effectLst/>
            </p:spPr>
          </p:cxnSp>
          <p:cxnSp>
            <p:nvCxnSpPr>
              <p:cNvPr id="74" name="SCHEM_line-0072"/>
              <p:cNvCxnSpPr/>
              <p:nvPr/>
            </p:nvCxnSpPr>
            <p:spPr>
              <a:xfrm flipV="1">
                <a:off x="47448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98AB79"/>
                </a:solidFill>
                <a:tailEnd type="triangle" w="med" len="med"/>
              </a:ln>
              <a:effectLst/>
            </p:spPr>
          </p:cxnSp>
          <p:cxnSp>
            <p:nvCxnSpPr>
              <p:cNvPr id="75" name="SCHEM_line-0073"/>
              <p:cNvCxnSpPr/>
              <p:nvPr/>
            </p:nvCxnSpPr>
            <p:spPr>
              <a:xfrm flipV="1">
                <a:off x="52272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E77B80"/>
                </a:solidFill>
                <a:tailEnd type="triangle" w="med" len="med"/>
              </a:ln>
              <a:effectLst/>
            </p:spPr>
          </p:cxnSp>
        </p:grpSp>
        <p:sp>
          <p:nvSpPr>
            <p:cNvPr id="76" name="SCHEM_text-0074"/>
            <p:cNvSpPr txBox="1"/>
            <p:nvPr/>
          </p:nvSpPr>
          <p:spPr>
            <a:xfrm>
              <a:off x="3412800" y="2577600"/>
              <a:ext cx="1080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Optical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axis</a:t>
              </a:r>
              <a:endParaRPr lang="en-US" sz="1417"/>
            </a:p>
          </p:txBody>
        </p:sp>
        <p:sp>
          <p:nvSpPr>
            <p:cNvPr id="77" name="SCHEM_text-0075"/>
            <p:cNvSpPr txBox="1"/>
            <p:nvPr/>
          </p:nvSpPr>
          <p:spPr>
            <a:xfrm>
              <a:off x="144000" y="3218400"/>
              <a:ext cx="190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Nanoantenna layer</a:t>
              </a:r>
              <a:endParaRPr lang="en-US" sz="1361"/>
            </a:p>
          </p:txBody>
        </p:sp>
        <p:cxnSp>
          <p:nvCxnSpPr>
            <p:cNvPr id="78" name="SCHEM_line-0076"/>
            <p:cNvCxnSpPr/>
            <p:nvPr/>
          </p:nvCxnSpPr>
          <p:spPr>
            <a:xfrm>
              <a:off x="1051200" y="3412800"/>
              <a:ext cx="136800" cy="108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79" name="SCHEM_ellipse-0077"/>
            <p:cNvSpPr/>
            <p:nvPr/>
          </p:nvSpPr>
          <p:spPr>
            <a:xfrm>
              <a:off x="1166400" y="3499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0" name="SCHEM_text-0078"/>
            <p:cNvSpPr txBox="1"/>
            <p:nvPr/>
          </p:nvSpPr>
          <p:spPr>
            <a:xfrm>
              <a:off x="144000" y="4017600"/>
              <a:ext cx="115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Fused silica</a:t>
              </a:r>
              <a:endParaRPr lang="en-US" sz="1361"/>
            </a:p>
          </p:txBody>
        </p:sp>
        <p:cxnSp>
          <p:nvCxnSpPr>
            <p:cNvPr id="81" name="SCHEM_line-0079"/>
            <p:cNvCxnSpPr/>
            <p:nvPr/>
          </p:nvCxnSpPr>
          <p:spPr>
            <a:xfrm flipV="1">
              <a:off x="964800" y="3916800"/>
              <a:ext cx="230400" cy="158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2" name="SCHEM_ellipse-0080"/>
            <p:cNvSpPr/>
            <p:nvPr/>
          </p:nvSpPr>
          <p:spPr>
            <a:xfrm>
              <a:off x="1173600" y="3895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3" name="SCHEM_text-0081"/>
            <p:cNvSpPr txBox="1"/>
            <p:nvPr/>
          </p:nvSpPr>
          <p:spPr>
            <a:xfrm>
              <a:off x="288000" y="4824000"/>
              <a:ext cx="1368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Backside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illumination</a:t>
              </a:r>
              <a:endParaRPr lang="en-US" sz="1417"/>
            </a:p>
          </p:txBody>
        </p:sp>
        <p:sp>
          <p:nvSpPr>
            <p:cNvPr id="84" name="SCHEM_text-0082"/>
            <p:cNvSpPr txBox="1"/>
            <p:nvPr/>
          </p:nvSpPr>
          <p:spPr>
            <a:xfrm>
              <a:off x="2944800" y="5565600"/>
              <a:ext cx="180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400-700 nm</a:t>
              </a:r>
              <a:endParaRPr lang="en-US" sz="1474"/>
            </a:p>
          </p:txBody>
        </p:sp>
        <p:sp>
          <p:nvSpPr>
            <p:cNvPr id="85" name="SCHEM_rect-0083"/>
            <p:cNvSpPr/>
            <p:nvPr/>
          </p:nvSpPr>
          <p:spPr>
            <a:xfrm>
              <a:off x="5004000" y="3448800"/>
              <a:ext cx="316800" cy="381600"/>
            </a:xfrm>
            <a:prstGeom prst="rect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86" name="SCHEM_line-0084"/>
            <p:cNvCxnSpPr/>
            <p:nvPr/>
          </p:nvCxnSpPr>
          <p:spPr>
            <a:xfrm flipV="1">
              <a:off x="5004000" y="597600"/>
              <a:ext cx="1461600" cy="28512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87" name="SCHEM_line-0085"/>
            <p:cNvCxnSpPr/>
            <p:nvPr/>
          </p:nvCxnSpPr>
          <p:spPr>
            <a:xfrm>
              <a:off x="5320800" y="3830400"/>
              <a:ext cx="1144800" cy="12672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cxnSp>
        <p:grpSp>
          <p:nvGrpSpPr>
            <p:cNvPr id="88" name="SCHEM_compound-meta-atom"/>
            <p:cNvGrpSpPr/>
            <p:nvPr/>
          </p:nvGrpSpPr>
          <p:grpSpPr>
            <a:xfrm>
              <a:off x="6465600" y="597600"/>
              <a:ext cx="4910400" cy="4500000"/>
              <a:chOff x="6465600" y="597600"/>
              <a:chExt cx="4910400" cy="4500000"/>
            </a:xfrm>
          </p:grpSpPr>
          <p:sp>
            <p:nvSpPr>
              <p:cNvPr id="89" name="SCHEM_rect-0087"/>
              <p:cNvSpPr/>
              <p:nvPr/>
            </p:nvSpPr>
            <p:spPr>
              <a:xfrm>
                <a:off x="6465600" y="597600"/>
                <a:ext cx="4910400" cy="4500000"/>
              </a:xfrm>
              <a:prstGeom prst="rect">
                <a:avLst/>
              </a:prstGeom>
              <a:noFill/>
              <a:ln w="10080" cap="flat">
                <a:solidFill>
                  <a:srgbClr val="292929"/>
                </a:solidFill>
                <a:prstDash val="dash"/>
              </a:ln>
              <a:effectLst/>
            </p:spPr>
          </p:sp>
          <p:sp>
            <p:nvSpPr>
              <p:cNvPr id="90" name="SCHEM_rect-0088"/>
              <p:cNvSpPr/>
              <p:nvPr/>
            </p:nvSpPr>
            <p:spPr>
              <a:xfrm>
                <a:off x="7884000" y="3621600"/>
                <a:ext cx="1900800" cy="864000"/>
              </a:xfrm>
              <a:prstGeom prst="rect">
                <a:avLst/>
              </a:prstGeom>
              <a:gradFill rotWithShape="1">
                <a:gsLst>
                  <a:gs pos="0">
                    <a:srgbClr val="E4E4E4"/>
                  </a:gs>
                  <a:gs pos="100000">
                    <a:srgbClr val="C9C9C9"/>
                  </a:gs>
                </a:gsLst>
                <a:lin ang="5400000" scaled="1"/>
              </a:gra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1" name="SCHEM_rect-0089"/>
              <p:cNvSpPr/>
              <p:nvPr/>
            </p:nvSpPr>
            <p:spPr>
              <a:xfrm>
                <a:off x="7884000" y="2462400"/>
                <a:ext cx="1900800" cy="1159200"/>
              </a:xfrm>
              <a:prstGeom prst="rect">
                <a:avLst/>
              </a:prstGeom>
              <a:solidFill>
                <a:srgbClr val="ECB3B5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2" name="SCHEM_polygon-0090"/>
              <p:cNvSpPr/>
              <p:nvPr/>
            </p:nvSpPr>
            <p:spPr>
              <a:xfrm>
                <a:off x="7884000" y="2865600"/>
                <a:ext cx="1116000" cy="756000"/>
              </a:xfrm>
              <a:custGeom>
                <a:avLst/>
                <a:gdLst/>
                <a:ahLst/>
                <a:cxnLst/>
                <a:rect l="0" t="0" r="r" b="b"/>
                <a:pathLst>
                  <a:path w="1116000" h="756000">
                    <a:moveTo>
                      <a:pt x="0" y="424800"/>
                    </a:moveTo>
                    <a:lnTo>
                      <a:pt x="252000" y="424800"/>
                    </a:lnTo>
                    <a:lnTo>
                      <a:pt x="252000" y="288000"/>
                    </a:lnTo>
                    <a:lnTo>
                      <a:pt x="532800" y="288000"/>
                    </a:lnTo>
                    <a:lnTo>
                      <a:pt x="532800" y="129600"/>
                    </a:lnTo>
                    <a:lnTo>
                      <a:pt x="835200" y="129600"/>
                    </a:lnTo>
                    <a:lnTo>
                      <a:pt x="835200" y="0"/>
                    </a:lnTo>
                    <a:lnTo>
                      <a:pt x="1116000" y="0"/>
                    </a:lnTo>
                    <a:lnTo>
                      <a:pt x="1116000" y="756000"/>
                    </a:lnTo>
                    <a:lnTo>
                      <a:pt x="0" y="756000"/>
                    </a:lnTo>
                    <a:close/>
                  </a:path>
                </a:pathLst>
              </a:custGeom>
              <a:solidFill>
                <a:srgbClr val="B3C79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3" name="SCHEM_rect-0091"/>
              <p:cNvSpPr/>
              <p:nvPr/>
            </p:nvSpPr>
            <p:spPr>
              <a:xfrm>
                <a:off x="7999200" y="1872000"/>
                <a:ext cx="180000" cy="5904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4" name="SCHEM_rect-0092"/>
              <p:cNvSpPr/>
              <p:nvPr/>
            </p:nvSpPr>
            <p:spPr>
              <a:xfrm>
                <a:off x="8330400" y="1872000"/>
                <a:ext cx="237600" cy="5904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5" name="SCHEM_rect-0093"/>
              <p:cNvSpPr/>
              <p:nvPr/>
            </p:nvSpPr>
            <p:spPr>
              <a:xfrm>
                <a:off x="8719200" y="1886400"/>
                <a:ext cx="208800" cy="5760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6" name="SCHEM_rect-0094"/>
              <p:cNvSpPr/>
              <p:nvPr/>
            </p:nvSpPr>
            <p:spPr>
              <a:xfrm>
                <a:off x="9079200" y="1900800"/>
                <a:ext cx="194400" cy="5616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7" name="SCHEM_rect-0095"/>
              <p:cNvSpPr/>
              <p:nvPr/>
            </p:nvSpPr>
            <p:spPr>
              <a:xfrm>
                <a:off x="9439200" y="1843200"/>
                <a:ext cx="259200" cy="6192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98" name="SCHEM_text-0096"/>
            <p:cNvSpPr txBox="1"/>
            <p:nvPr/>
          </p:nvSpPr>
          <p:spPr>
            <a:xfrm>
              <a:off x="6652800" y="720000"/>
              <a:ext cx="4680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Compound meta-atom (enlarged section)</a:t>
              </a:r>
              <a:endParaRPr lang="en-US" sz="1644"/>
            </a:p>
          </p:txBody>
        </p:sp>
        <p:sp>
          <p:nvSpPr>
            <p:cNvPr id="99" name="SCHEM_text-0097"/>
            <p:cNvSpPr txBox="1"/>
            <p:nvPr/>
          </p:nvSpPr>
          <p:spPr>
            <a:xfrm>
              <a:off x="9201600" y="1137600"/>
              <a:ext cx="20160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C4 symmetry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(antenna families)</a:t>
              </a:r>
              <a:endParaRPr lang="en-US" sz="1304"/>
            </a:p>
          </p:txBody>
        </p:sp>
        <p:sp>
          <p:nvSpPr>
            <p:cNvPr id="100" name="SCHEM_path-0098"/>
            <p:cNvSpPr/>
            <p:nvPr/>
          </p:nvSpPr>
          <p:spPr>
            <a:xfrm>
              <a:off x="8618400" y="1238400"/>
              <a:ext cx="496800" cy="518400"/>
            </a:xfrm>
            <a:custGeom>
              <a:avLst/>
              <a:gdLst/>
              <a:ahLst/>
              <a:cxnLst/>
              <a:rect l="0" t="0" r="r" b="b"/>
              <a:pathLst>
                <a:path w="496800" h="518400">
                  <a:moveTo>
                    <a:pt x="496800" y="0"/>
                  </a:moveTo>
                  <a:lnTo>
                    <a:pt x="338400" y="0"/>
                  </a:lnTo>
                  <a:lnTo>
                    <a:pt x="0" y="518400"/>
                  </a:lnTo>
                </a:path>
              </a:pathLst>
            </a:custGeom>
            <a:noFill/>
            <a:ln w="12240" cap="flat">
              <a:solidFill>
                <a:srgbClr val="292929"/>
              </a:solidFill>
            </a:ln>
            <a:effectLst/>
          </p:spPr>
        </p:sp>
        <p:cxnSp>
          <p:nvCxnSpPr>
            <p:cNvPr id="101" name="SCHEM_line-0099"/>
            <p:cNvCxnSpPr/>
            <p:nvPr/>
          </p:nvCxnSpPr>
          <p:spPr>
            <a:xfrm flipH="1">
              <a:off x="8618400" y="1713600"/>
              <a:ext cx="28800" cy="43200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02" name="SCHEM_text-0100"/>
            <p:cNvSpPr txBox="1"/>
            <p:nvPr/>
          </p:nvSpPr>
          <p:spPr>
            <a:xfrm>
              <a:off x="6595200" y="1900800"/>
              <a:ext cx="15840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High-index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SiN nanoantennas</a:t>
              </a:r>
              <a:endParaRPr lang="en-US" sz="1304"/>
            </a:p>
          </p:txBody>
        </p:sp>
        <p:cxnSp>
          <p:nvCxnSpPr>
            <p:cNvPr id="103" name="SCHEM_line-0101"/>
            <p:cNvCxnSpPr/>
            <p:nvPr/>
          </p:nvCxnSpPr>
          <p:spPr>
            <a:xfrm>
              <a:off x="7761600" y="2196000"/>
              <a:ext cx="2952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04" name="SCHEM_ellipse-0102"/>
            <p:cNvSpPr/>
            <p:nvPr/>
          </p:nvSpPr>
          <p:spPr>
            <a:xfrm>
              <a:off x="8035200" y="2174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05" name="SCHEM_text-0103"/>
            <p:cNvSpPr txBox="1"/>
            <p:nvPr/>
          </p:nvSpPr>
          <p:spPr>
            <a:xfrm>
              <a:off x="6595200" y="2750400"/>
              <a:ext cx="1476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SU8 spacer</a:t>
              </a:r>
              <a:endParaRPr lang="en-US" sz="1304"/>
            </a:p>
          </p:txBody>
        </p:sp>
        <p:cxnSp>
          <p:nvCxnSpPr>
            <p:cNvPr id="106" name="SCHEM_line-0104"/>
            <p:cNvCxnSpPr/>
            <p:nvPr/>
          </p:nvCxnSpPr>
          <p:spPr>
            <a:xfrm>
              <a:off x="7423200" y="2851200"/>
              <a:ext cx="5760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07" name="SCHEM_ellipse-0105"/>
            <p:cNvSpPr/>
            <p:nvPr/>
          </p:nvSpPr>
          <p:spPr>
            <a:xfrm>
              <a:off x="7977600" y="2829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08" name="SCHEM_text-0106"/>
            <p:cNvSpPr txBox="1"/>
            <p:nvPr/>
          </p:nvSpPr>
          <p:spPr>
            <a:xfrm>
              <a:off x="6595200" y="3268800"/>
              <a:ext cx="13680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Low-dispersion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SiN</a:t>
              </a:r>
              <a:endParaRPr lang="en-US" sz="1304"/>
            </a:p>
          </p:txBody>
        </p:sp>
        <p:cxnSp>
          <p:nvCxnSpPr>
            <p:cNvPr id="109" name="SCHEM_line-0107"/>
            <p:cNvCxnSpPr/>
            <p:nvPr/>
          </p:nvCxnSpPr>
          <p:spPr>
            <a:xfrm>
              <a:off x="7588800" y="3427200"/>
              <a:ext cx="3960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0" name="SCHEM_ellipse-0108"/>
            <p:cNvSpPr/>
            <p:nvPr/>
          </p:nvSpPr>
          <p:spPr>
            <a:xfrm>
              <a:off x="7963200" y="3405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11" name="SCHEM_text-0109"/>
            <p:cNvSpPr txBox="1"/>
            <p:nvPr/>
          </p:nvSpPr>
          <p:spPr>
            <a:xfrm>
              <a:off x="6595200" y="4010400"/>
              <a:ext cx="1368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Fused silica</a:t>
              </a:r>
              <a:endParaRPr lang="en-US" sz="1304"/>
            </a:p>
          </p:txBody>
        </p:sp>
        <p:cxnSp>
          <p:nvCxnSpPr>
            <p:cNvPr id="112" name="SCHEM_line-0110"/>
            <p:cNvCxnSpPr/>
            <p:nvPr/>
          </p:nvCxnSpPr>
          <p:spPr>
            <a:xfrm>
              <a:off x="7423200" y="4104000"/>
              <a:ext cx="5688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3" name="SCHEM_ellipse-0111"/>
            <p:cNvSpPr/>
            <p:nvPr/>
          </p:nvSpPr>
          <p:spPr>
            <a:xfrm>
              <a:off x="7970400" y="4082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14" name="SCHEM_path-0112"/>
            <p:cNvSpPr/>
            <p:nvPr/>
          </p:nvSpPr>
          <p:spPr>
            <a:xfrm>
              <a:off x="9900000" y="1792800"/>
              <a:ext cx="108000" cy="576000"/>
            </a:xfrm>
            <a:custGeom>
              <a:avLst/>
              <a:gdLst/>
              <a:ahLst/>
              <a:cxnLst/>
              <a:rect l="0" t="0" r="r" b="b"/>
              <a:pathLst>
                <a:path w="108000" h="576000">
                  <a:moveTo>
                    <a:pt x="0" y="0"/>
                  </a:moveTo>
                  <a:cubicBezTo>
                    <a:pt x="57600" y="0"/>
                    <a:pt x="57600" y="36000"/>
                    <a:pt x="57600" y="93600"/>
                  </a:cubicBezTo>
                  <a:lnTo>
                    <a:pt x="57600" y="216000"/>
                  </a:lnTo>
                  <a:cubicBezTo>
                    <a:pt x="57600" y="252000"/>
                    <a:pt x="72000" y="280800"/>
                    <a:pt x="108000" y="280800"/>
                  </a:cubicBezTo>
                  <a:cubicBezTo>
                    <a:pt x="72000" y="280800"/>
                    <a:pt x="57600" y="316800"/>
                    <a:pt x="57600" y="352800"/>
                  </a:cubicBezTo>
                  <a:lnTo>
                    <a:pt x="57600" y="496800"/>
                  </a:lnTo>
                  <a:cubicBezTo>
                    <a:pt x="57600" y="554400"/>
                    <a:pt x="57600" y="576000"/>
                    <a:pt x="0" y="576000"/>
                  </a:cubicBezTo>
                </a:path>
              </a:pathLst>
            </a:custGeom>
            <a:noFill/>
            <a:ln w="10800" cap="flat">
              <a:solidFill>
                <a:srgbClr val="292929"/>
              </a:solidFill>
            </a:ln>
            <a:effectLst/>
          </p:spPr>
        </p:sp>
        <p:sp>
          <p:nvSpPr>
            <p:cNvPr id="115" name="SCHEM_text-0113"/>
            <p:cNvSpPr txBox="1"/>
            <p:nvPr/>
          </p:nvSpPr>
          <p:spPr>
            <a:xfrm>
              <a:off x="10123200" y="1850400"/>
              <a:ext cx="11952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Fine group delay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and Phase control</a:t>
              </a:r>
              <a:endParaRPr lang="en-US" sz="1304"/>
            </a:p>
          </p:txBody>
        </p:sp>
        <p:sp>
          <p:nvSpPr>
            <p:cNvPr id="116" name="SCHEM_text-0114"/>
            <p:cNvSpPr txBox="1"/>
            <p:nvPr/>
          </p:nvSpPr>
          <p:spPr>
            <a:xfrm>
              <a:off x="10101600" y="2872800"/>
              <a:ext cx="1267200" cy="590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Dispersion-matched</a:t>
              </a:r>
              <a:endParaRPr lang="en-US" sz="1077"/>
            </a:p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pair</a:t>
              </a:r>
              <a:endParaRPr lang="en-US" sz="1077"/>
            </a:p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(Coarse group delay)</a:t>
              </a:r>
              <a:endParaRPr lang="en-US" sz="1077"/>
            </a:p>
          </p:txBody>
        </p:sp>
        <p:cxnSp>
          <p:nvCxnSpPr>
            <p:cNvPr id="117" name="SCHEM_line-0115"/>
            <p:cNvCxnSpPr/>
            <p:nvPr/>
          </p:nvCxnSpPr>
          <p:spPr>
            <a:xfrm flipH="1" flipV="1">
              <a:off x="9424800" y="2700000"/>
              <a:ext cx="612000" cy="237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8" name="SCHEM_ellipse-0116"/>
            <p:cNvSpPr/>
            <p:nvPr/>
          </p:nvSpPr>
          <p:spPr>
            <a:xfrm>
              <a:off x="9403200" y="2678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19" name="SCHEM_line-0117"/>
            <p:cNvCxnSpPr/>
            <p:nvPr/>
          </p:nvCxnSpPr>
          <p:spPr>
            <a:xfrm flipH="1">
              <a:off x="8424000" y="3096000"/>
              <a:ext cx="1612800" cy="244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20" name="SCHEM_ellipse-0118"/>
            <p:cNvSpPr/>
            <p:nvPr/>
          </p:nvSpPr>
          <p:spPr>
            <a:xfrm>
              <a:off x="8402400" y="3319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21" name="SCHEM_text-0119"/>
            <p:cNvSpPr txBox="1"/>
            <p:nvPr/>
          </p:nvSpPr>
          <p:spPr>
            <a:xfrm>
              <a:off x="8748000" y="4737600"/>
              <a:ext cx="2160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Designed stair levels</a:t>
              </a:r>
              <a:endParaRPr lang="en-US" sz="1304"/>
            </a:p>
          </p:txBody>
        </p:sp>
        <p:cxnSp>
          <p:nvCxnSpPr>
            <p:cNvPr id="122" name="SCHEM_line-0120"/>
            <p:cNvCxnSpPr/>
            <p:nvPr/>
          </p:nvCxnSpPr>
          <p:spPr>
            <a:xfrm flipH="1" flipV="1">
              <a:off x="8445600" y="3448800"/>
              <a:ext cx="410400" cy="12312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123" name="SCHEM_text-0121"/>
            <p:cNvSpPr txBox="1"/>
            <p:nvPr/>
          </p:nvSpPr>
          <p:spPr>
            <a:xfrm>
              <a:off x="10519200" y="4370400"/>
              <a:ext cx="82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Not to scale</a:t>
              </a:r>
              <a:endParaRPr lang="en-US" sz="1247"/>
            </a:p>
          </p:txBody>
        </p:sp>
        <p:sp>
          <p:nvSpPr>
            <p:cNvPr id="124" name="SCHEM_text-0122"/>
            <p:cNvSpPr txBox="1"/>
            <p:nvPr/>
          </p:nvSpPr>
          <p:spPr>
            <a:xfrm>
              <a:off x="2570400" y="6148800"/>
              <a:ext cx="8784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(2024) | doi:10.1038/s41467-024-53701-8 | Conceptual; not to scale</a:t>
              </a:r>
              <a:endParaRPr lang="en-US" sz="1247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