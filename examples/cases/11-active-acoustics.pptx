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93600" y="216000"/>
            <a:ext cx="11412000" cy="6244200"/>
            <a:chOff x="93600" y="216000"/>
            <a:chExt cx="11412000" cy="6244200"/>
          </a:xfrm>
        </p:grpSpPr>
        <p:sp>
          <p:nvSpPr>
            <p:cNvPr id="3" name="SCHEM_text-0001"/>
            <p:cNvSpPr txBox="1"/>
            <p:nvPr/>
          </p:nvSpPr>
          <p:spPr>
            <a:xfrm>
              <a:off x="1677600" y="216000"/>
              <a:ext cx="54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Left-to-right: frequency conversion (1.5 kHz → 3.0 kHz)</a:t>
              </a:r>
              <a:endParaRPr lang="en-US" sz="1474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2124000" y="3189600"/>
              <a:ext cx="522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Right-to-left: reverse incidence (1.5 kHz)</a:t>
              </a:r>
              <a:endParaRPr lang="en-US" sz="1531"/>
            </a:p>
          </p:txBody>
        </p:sp>
        <p:grpSp>
          <p:nvGrpSpPr>
            <p:cNvPr id="5" name="SCHEM_forward-acoustic-cavities"/>
            <p:cNvGrpSpPr/>
            <p:nvPr/>
          </p:nvGrpSpPr>
          <p:grpSpPr>
            <a:xfrm>
              <a:off x="1778400" y="1166400"/>
              <a:ext cx="3729600" cy="1159200"/>
              <a:chOff x="1778400" y="1166400"/>
              <a:chExt cx="3729600" cy="1159200"/>
            </a:xfrm>
          </p:grpSpPr>
          <p:sp>
            <p:nvSpPr>
              <p:cNvPr id="6" name="SCHEM_rect-0004"/>
              <p:cNvSpPr/>
              <p:nvPr/>
            </p:nvSpPr>
            <p:spPr>
              <a:xfrm>
                <a:off x="2289600" y="1260000"/>
                <a:ext cx="2757600" cy="972000"/>
              </a:xfrm>
              <a:prstGeom prst="rect">
                <a:avLst/>
              </a:prstGeom>
              <a:gradFill rotWithShape="1">
                <a:gsLst>
                  <a:gs pos="0">
                    <a:srgbClr val="F7F7F6"/>
                  </a:gs>
                  <a:gs pos="100000">
                    <a:srgbClr val="E8E8E6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7" name="SCHEM_polygon-0005"/>
              <p:cNvSpPr/>
              <p:nvPr/>
            </p:nvSpPr>
            <p:spPr>
              <a:xfrm>
                <a:off x="1778400" y="1166400"/>
                <a:ext cx="3729600" cy="4608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60800">
                    <a:moveTo>
                      <a:pt x="0" y="352800"/>
                    </a:moveTo>
                    <a:lnTo>
                      <a:pt x="410400" y="352800"/>
                    </a:lnTo>
                    <a:lnTo>
                      <a:pt x="410400" y="0"/>
                    </a:lnTo>
                    <a:lnTo>
                      <a:pt x="3391200" y="0"/>
                    </a:lnTo>
                    <a:lnTo>
                      <a:pt x="3391200" y="288000"/>
                    </a:lnTo>
                    <a:lnTo>
                      <a:pt x="3729600" y="288000"/>
                    </a:lnTo>
                    <a:lnTo>
                      <a:pt x="3729600" y="374400"/>
                    </a:lnTo>
                    <a:lnTo>
                      <a:pt x="3268800" y="374400"/>
                    </a:lnTo>
                    <a:lnTo>
                      <a:pt x="3268800" y="93600"/>
                    </a:lnTo>
                    <a:lnTo>
                      <a:pt x="525600" y="93600"/>
                    </a:lnTo>
                    <a:lnTo>
                      <a:pt x="525600" y="460800"/>
                    </a:lnTo>
                    <a:lnTo>
                      <a:pt x="0" y="46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8" name="SCHEM_polygon-0006"/>
              <p:cNvSpPr/>
              <p:nvPr/>
            </p:nvSpPr>
            <p:spPr>
              <a:xfrm>
                <a:off x="1778400" y="1872000"/>
                <a:ext cx="3729600" cy="4536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53600">
                    <a:moveTo>
                      <a:pt x="0" y="0"/>
                    </a:moveTo>
                    <a:lnTo>
                      <a:pt x="525600" y="0"/>
                    </a:lnTo>
                    <a:lnTo>
                      <a:pt x="525600" y="352800"/>
                    </a:lnTo>
                    <a:lnTo>
                      <a:pt x="3268800" y="352800"/>
                    </a:lnTo>
                    <a:lnTo>
                      <a:pt x="3268800" y="100800"/>
                    </a:lnTo>
                    <a:lnTo>
                      <a:pt x="3729600" y="100800"/>
                    </a:lnTo>
                    <a:lnTo>
                      <a:pt x="3729600" y="187200"/>
                    </a:lnTo>
                    <a:lnTo>
                      <a:pt x="3391200" y="187200"/>
                    </a:lnTo>
                    <a:lnTo>
                      <a:pt x="3391200" y="453600"/>
                    </a:lnTo>
                    <a:lnTo>
                      <a:pt x="410400" y="453600"/>
                    </a:lnTo>
                    <a:lnTo>
                      <a:pt x="410400" y="100800"/>
                    </a:lnTo>
                    <a:lnTo>
                      <a:pt x="0" y="10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rect-0007"/>
              <p:cNvSpPr/>
              <p:nvPr/>
            </p:nvSpPr>
            <p:spPr>
              <a:xfrm>
                <a:off x="3531600" y="1260000"/>
                <a:ext cx="36000" cy="964800"/>
              </a:xfrm>
              <a:prstGeom prst="rect">
                <a:avLst/>
              </a:prstGeom>
              <a:solidFill>
                <a:srgbClr val="E1CB6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" name="SCHEM_rect-0008"/>
              <p:cNvSpPr/>
              <p:nvPr/>
            </p:nvSpPr>
            <p:spPr>
              <a:xfrm>
                <a:off x="3567600" y="1260000"/>
                <a:ext cx="43200" cy="964800"/>
              </a:xfrm>
              <a:prstGeom prst="rect">
                <a:avLst/>
              </a:prstGeom>
              <a:solidFill>
                <a:srgbClr val="66BFE5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rect-0009"/>
              <p:cNvSpPr/>
              <p:nvPr/>
            </p:nvSpPr>
            <p:spPr>
              <a:xfrm>
                <a:off x="3610800" y="1260000"/>
                <a:ext cx="115200" cy="964800"/>
              </a:xfrm>
              <a:prstGeom prst="rect">
                <a:avLst/>
              </a:prstGeom>
              <a:solidFill>
                <a:srgbClr val="B7CAA1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" name="SCHEM_rect-0010"/>
              <p:cNvSpPr/>
              <p:nvPr/>
            </p:nvSpPr>
            <p:spPr>
              <a:xfrm>
                <a:off x="3726000" y="1260000"/>
                <a:ext cx="50400" cy="964800"/>
              </a:xfrm>
              <a:prstGeom prst="rect">
                <a:avLst/>
              </a:prstGeom>
              <a:solidFill>
                <a:srgbClr val="E58D88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" name="SCHEM_rect-0011"/>
              <p:cNvSpPr/>
              <p:nvPr/>
            </p:nvSpPr>
            <p:spPr>
              <a:xfrm>
                <a:off x="3776400" y="1260000"/>
                <a:ext cx="28800" cy="964800"/>
              </a:xfrm>
              <a:prstGeom prst="rect">
                <a:avLst/>
              </a:prstGeom>
              <a:solidFill>
                <a:srgbClr val="E9D9A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4" name="SCHEM_line-0012"/>
              <p:cNvCxnSpPr/>
              <p:nvPr/>
            </p:nvCxnSpPr>
            <p:spPr>
              <a:xfrm>
                <a:off x="1857600" y="1627200"/>
                <a:ext cx="1" cy="2448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  <p:cxnSp>
            <p:nvCxnSpPr>
              <p:cNvPr id="15" name="SCHEM_line-0013"/>
              <p:cNvCxnSpPr/>
              <p:nvPr/>
            </p:nvCxnSpPr>
            <p:spPr>
              <a:xfrm>
                <a:off x="5328000" y="1540800"/>
                <a:ext cx="1" cy="4320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</p:grpSp>
        <p:sp>
          <p:nvSpPr>
            <p:cNvPr id="16" name="SCHEM_text-0014"/>
            <p:cNvSpPr txBox="1"/>
            <p:nvPr/>
          </p:nvSpPr>
          <p:spPr>
            <a:xfrm>
              <a:off x="2484000" y="15336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Left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17" name="SCHEM_text-0015"/>
            <p:cNvSpPr txBox="1"/>
            <p:nvPr/>
          </p:nvSpPr>
          <p:spPr>
            <a:xfrm>
              <a:off x="4010400" y="15336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Right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18" name="SCHEM_text-0016"/>
            <p:cNvSpPr txBox="1"/>
            <p:nvPr/>
          </p:nvSpPr>
          <p:spPr>
            <a:xfrm>
              <a:off x="1569600" y="23832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Small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19" name="SCHEM_line-0017"/>
            <p:cNvCxnSpPr/>
            <p:nvPr/>
          </p:nvCxnSpPr>
          <p:spPr>
            <a:xfrm>
              <a:off x="2066400" y="1972800"/>
              <a:ext cx="1" cy="403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20" name="SCHEM_text-0018"/>
            <p:cNvSpPr txBox="1"/>
            <p:nvPr/>
          </p:nvSpPr>
          <p:spPr>
            <a:xfrm>
              <a:off x="3355200" y="2404800"/>
              <a:ext cx="936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Piezoelectric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membrane</a:t>
              </a:r>
              <a:endParaRPr lang="en-US" sz="1191"/>
            </a:p>
          </p:txBody>
        </p:sp>
        <p:cxnSp>
          <p:nvCxnSpPr>
            <p:cNvPr id="21" name="SCHEM_line-0019"/>
            <p:cNvCxnSpPr/>
            <p:nvPr/>
          </p:nvCxnSpPr>
          <p:spPr>
            <a:xfrm>
              <a:off x="3672000" y="2224800"/>
              <a:ext cx="1" cy="1800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22" name="SCHEM_text-0020"/>
            <p:cNvSpPr txBox="1"/>
            <p:nvPr/>
          </p:nvSpPr>
          <p:spPr>
            <a:xfrm>
              <a:off x="5011200" y="23832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Large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23" name="SCHEM_line-0021"/>
            <p:cNvCxnSpPr/>
            <p:nvPr/>
          </p:nvCxnSpPr>
          <p:spPr>
            <a:xfrm>
              <a:off x="5335200" y="2059200"/>
              <a:ext cx="1" cy="3168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grpSp>
          <p:nvGrpSpPr>
            <p:cNvPr id="24" name="SCHEM_reverse-acoustic-cavities"/>
            <p:cNvGrpSpPr/>
            <p:nvPr/>
          </p:nvGrpSpPr>
          <p:grpSpPr>
            <a:xfrm>
              <a:off x="1778400" y="3628800"/>
              <a:ext cx="3729600" cy="1159200"/>
              <a:chOff x="1778400" y="3628800"/>
              <a:chExt cx="3729600" cy="1159200"/>
            </a:xfrm>
          </p:grpSpPr>
          <p:sp>
            <p:nvSpPr>
              <p:cNvPr id="25" name="SCHEM_rect-0023"/>
              <p:cNvSpPr/>
              <p:nvPr/>
            </p:nvSpPr>
            <p:spPr>
              <a:xfrm>
                <a:off x="2289600" y="3722400"/>
                <a:ext cx="2757600" cy="972000"/>
              </a:xfrm>
              <a:prstGeom prst="rect">
                <a:avLst/>
              </a:prstGeom>
              <a:gradFill rotWithShape="1">
                <a:gsLst>
                  <a:gs pos="0">
                    <a:srgbClr val="F7F7F6"/>
                  </a:gs>
                  <a:gs pos="100000">
                    <a:srgbClr val="E8E8E6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26" name="SCHEM_polygon-0024"/>
              <p:cNvSpPr/>
              <p:nvPr/>
            </p:nvSpPr>
            <p:spPr>
              <a:xfrm>
                <a:off x="1778400" y="3628800"/>
                <a:ext cx="3729600" cy="4608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60800">
                    <a:moveTo>
                      <a:pt x="0" y="352800"/>
                    </a:moveTo>
                    <a:lnTo>
                      <a:pt x="410400" y="352800"/>
                    </a:lnTo>
                    <a:lnTo>
                      <a:pt x="410400" y="0"/>
                    </a:lnTo>
                    <a:lnTo>
                      <a:pt x="3391200" y="0"/>
                    </a:lnTo>
                    <a:lnTo>
                      <a:pt x="3391200" y="288000"/>
                    </a:lnTo>
                    <a:lnTo>
                      <a:pt x="3729600" y="288000"/>
                    </a:lnTo>
                    <a:lnTo>
                      <a:pt x="3729600" y="374400"/>
                    </a:lnTo>
                    <a:lnTo>
                      <a:pt x="3268800" y="374400"/>
                    </a:lnTo>
                    <a:lnTo>
                      <a:pt x="3268800" y="93600"/>
                    </a:lnTo>
                    <a:lnTo>
                      <a:pt x="525600" y="93600"/>
                    </a:lnTo>
                    <a:lnTo>
                      <a:pt x="525600" y="460800"/>
                    </a:lnTo>
                    <a:lnTo>
                      <a:pt x="0" y="46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7" name="SCHEM_polygon-0025"/>
              <p:cNvSpPr/>
              <p:nvPr/>
            </p:nvSpPr>
            <p:spPr>
              <a:xfrm>
                <a:off x="1778400" y="4334400"/>
                <a:ext cx="3729600" cy="4536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53600">
                    <a:moveTo>
                      <a:pt x="0" y="0"/>
                    </a:moveTo>
                    <a:lnTo>
                      <a:pt x="525600" y="0"/>
                    </a:lnTo>
                    <a:lnTo>
                      <a:pt x="525600" y="352800"/>
                    </a:lnTo>
                    <a:lnTo>
                      <a:pt x="3268800" y="352800"/>
                    </a:lnTo>
                    <a:lnTo>
                      <a:pt x="3268800" y="100800"/>
                    </a:lnTo>
                    <a:lnTo>
                      <a:pt x="3729600" y="100800"/>
                    </a:lnTo>
                    <a:lnTo>
                      <a:pt x="3729600" y="187200"/>
                    </a:lnTo>
                    <a:lnTo>
                      <a:pt x="3391200" y="187200"/>
                    </a:lnTo>
                    <a:lnTo>
                      <a:pt x="3391200" y="453600"/>
                    </a:lnTo>
                    <a:lnTo>
                      <a:pt x="410400" y="453600"/>
                    </a:lnTo>
                    <a:lnTo>
                      <a:pt x="410400" y="100800"/>
                    </a:lnTo>
                    <a:lnTo>
                      <a:pt x="0" y="10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8" name="SCHEM_rect-0026"/>
              <p:cNvSpPr/>
              <p:nvPr/>
            </p:nvSpPr>
            <p:spPr>
              <a:xfrm>
                <a:off x="3531600" y="3722400"/>
                <a:ext cx="36000" cy="964800"/>
              </a:xfrm>
              <a:prstGeom prst="rect">
                <a:avLst/>
              </a:prstGeom>
              <a:solidFill>
                <a:srgbClr val="E1CB6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" name="SCHEM_rect-0027"/>
              <p:cNvSpPr/>
              <p:nvPr/>
            </p:nvSpPr>
            <p:spPr>
              <a:xfrm>
                <a:off x="3567600" y="3722400"/>
                <a:ext cx="43200" cy="964800"/>
              </a:xfrm>
              <a:prstGeom prst="rect">
                <a:avLst/>
              </a:prstGeom>
              <a:solidFill>
                <a:srgbClr val="66BFE5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0" name="SCHEM_rect-0028"/>
              <p:cNvSpPr/>
              <p:nvPr/>
            </p:nvSpPr>
            <p:spPr>
              <a:xfrm>
                <a:off x="3610800" y="3722400"/>
                <a:ext cx="115200" cy="964800"/>
              </a:xfrm>
              <a:prstGeom prst="rect">
                <a:avLst/>
              </a:prstGeom>
              <a:solidFill>
                <a:srgbClr val="B7CAA1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1" name="SCHEM_rect-0029"/>
              <p:cNvSpPr/>
              <p:nvPr/>
            </p:nvSpPr>
            <p:spPr>
              <a:xfrm>
                <a:off x="3726000" y="3722400"/>
                <a:ext cx="50400" cy="964800"/>
              </a:xfrm>
              <a:prstGeom prst="rect">
                <a:avLst/>
              </a:prstGeom>
              <a:solidFill>
                <a:srgbClr val="E58D88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2" name="SCHEM_rect-0030"/>
              <p:cNvSpPr/>
              <p:nvPr/>
            </p:nvSpPr>
            <p:spPr>
              <a:xfrm>
                <a:off x="3776400" y="3722400"/>
                <a:ext cx="28800" cy="964800"/>
              </a:xfrm>
              <a:prstGeom prst="rect">
                <a:avLst/>
              </a:prstGeom>
              <a:solidFill>
                <a:srgbClr val="E9D9A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3" name="SCHEM_line-0031"/>
              <p:cNvCxnSpPr/>
              <p:nvPr/>
            </p:nvCxnSpPr>
            <p:spPr>
              <a:xfrm>
                <a:off x="1857600" y="4089600"/>
                <a:ext cx="1" cy="2448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  <p:cxnSp>
            <p:nvCxnSpPr>
              <p:cNvPr id="34" name="SCHEM_line-0032"/>
              <p:cNvCxnSpPr/>
              <p:nvPr/>
            </p:nvCxnSpPr>
            <p:spPr>
              <a:xfrm>
                <a:off x="5328000" y="4003200"/>
                <a:ext cx="1" cy="4320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</p:grpSp>
        <p:sp>
          <p:nvSpPr>
            <p:cNvPr id="35" name="SCHEM_text-0033"/>
            <p:cNvSpPr txBox="1"/>
            <p:nvPr/>
          </p:nvSpPr>
          <p:spPr>
            <a:xfrm>
              <a:off x="2484000" y="39960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Left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36" name="SCHEM_text-0034"/>
            <p:cNvSpPr txBox="1"/>
            <p:nvPr/>
          </p:nvSpPr>
          <p:spPr>
            <a:xfrm>
              <a:off x="4010400" y="39960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Right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37" name="SCHEM_text-0035"/>
            <p:cNvSpPr txBox="1"/>
            <p:nvPr/>
          </p:nvSpPr>
          <p:spPr>
            <a:xfrm>
              <a:off x="1569600" y="48456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Small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38" name="SCHEM_line-0036"/>
            <p:cNvCxnSpPr/>
            <p:nvPr/>
          </p:nvCxnSpPr>
          <p:spPr>
            <a:xfrm>
              <a:off x="2066400" y="4435200"/>
              <a:ext cx="1" cy="403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39" name="SCHEM_text-0037"/>
            <p:cNvSpPr txBox="1"/>
            <p:nvPr/>
          </p:nvSpPr>
          <p:spPr>
            <a:xfrm>
              <a:off x="3355200" y="4867200"/>
              <a:ext cx="936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Piezoelectric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membrane</a:t>
              </a:r>
              <a:endParaRPr lang="en-US" sz="1191"/>
            </a:p>
          </p:txBody>
        </p:sp>
        <p:cxnSp>
          <p:nvCxnSpPr>
            <p:cNvPr id="40" name="SCHEM_line-0038"/>
            <p:cNvCxnSpPr/>
            <p:nvPr/>
          </p:nvCxnSpPr>
          <p:spPr>
            <a:xfrm>
              <a:off x="3672000" y="4687200"/>
              <a:ext cx="1" cy="1800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41" name="SCHEM_text-0039"/>
            <p:cNvSpPr txBox="1"/>
            <p:nvPr/>
          </p:nvSpPr>
          <p:spPr>
            <a:xfrm>
              <a:off x="5011200" y="48456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Large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42" name="SCHEM_line-0040"/>
            <p:cNvCxnSpPr/>
            <p:nvPr/>
          </p:nvCxnSpPr>
          <p:spPr>
            <a:xfrm>
              <a:off x="5335200" y="4521600"/>
              <a:ext cx="1" cy="3168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43" name="SCHEM_text-0041"/>
            <p:cNvSpPr txBox="1"/>
            <p:nvPr/>
          </p:nvSpPr>
          <p:spPr>
            <a:xfrm>
              <a:off x="93600" y="1425600"/>
              <a:ext cx="9792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sound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1.5 kHz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(from left)</a:t>
              </a:r>
              <a:endParaRPr lang="en-US" sz="1191"/>
            </a:p>
          </p:txBody>
        </p:sp>
        <p:sp>
          <p:nvSpPr>
            <p:cNvPr id="44" name="SCHEM_path-0042"/>
            <p:cNvSpPr/>
            <p:nvPr/>
          </p:nvSpPr>
          <p:spPr>
            <a:xfrm>
              <a:off x="1130400" y="1454400"/>
              <a:ext cx="136800" cy="561600"/>
            </a:xfrm>
            <a:custGeom>
              <a:avLst/>
              <a:gdLst/>
              <a:ahLst/>
              <a:cxnLst/>
              <a:rect l="0" t="0" r="r" b="b"/>
              <a:pathLst>
                <a:path w="136800" h="561600">
                  <a:moveTo>
                    <a:pt x="0" y="0"/>
                  </a:moveTo>
                  <a:cubicBezTo>
                    <a:pt x="136800" y="162864"/>
                    <a:pt x="136800" y="398736"/>
                    <a:pt x="0" y="561600"/>
                  </a:cubicBezTo>
                </a:path>
              </a:pathLst>
            </a:custGeom>
            <a:noFill/>
            <a:ln w="16560" cap="flat">
              <a:solidFill>
                <a:srgbClr val="229FD4"/>
              </a:solidFill>
            </a:ln>
            <a:effectLst/>
          </p:spPr>
        </p:sp>
        <p:sp>
          <p:nvSpPr>
            <p:cNvPr id="45" name="SCHEM_path-0043"/>
            <p:cNvSpPr/>
            <p:nvPr/>
          </p:nvSpPr>
          <p:spPr>
            <a:xfrm>
              <a:off x="1260000" y="1368000"/>
              <a:ext cx="136800" cy="734400"/>
            </a:xfrm>
            <a:custGeom>
              <a:avLst/>
              <a:gdLst/>
              <a:ahLst/>
              <a:cxnLst/>
              <a:rect l="0" t="0" r="r" b="b"/>
              <a:pathLst>
                <a:path w="136800" h="734400">
                  <a:moveTo>
                    <a:pt x="0" y="0"/>
                  </a:moveTo>
                  <a:cubicBezTo>
                    <a:pt x="136800" y="212976"/>
                    <a:pt x="136800" y="521424"/>
                    <a:pt x="0" y="734400"/>
                  </a:cubicBezTo>
                </a:path>
              </a:pathLst>
            </a:custGeom>
            <a:noFill/>
            <a:ln w="18360" cap="flat">
              <a:solidFill>
                <a:srgbClr val="229FD4"/>
              </a:solidFill>
            </a:ln>
            <a:effectLst/>
          </p:spPr>
        </p:sp>
        <p:sp>
          <p:nvSpPr>
            <p:cNvPr id="46" name="SCHEM_path-0044"/>
            <p:cNvSpPr/>
            <p:nvPr/>
          </p:nvSpPr>
          <p:spPr>
            <a:xfrm>
              <a:off x="1389600" y="1281600"/>
              <a:ext cx="136800" cy="907200"/>
            </a:xfrm>
            <a:custGeom>
              <a:avLst/>
              <a:gdLst/>
              <a:ahLst/>
              <a:cxnLst/>
              <a:rect l="0" t="0" r="r" b="b"/>
              <a:pathLst>
                <a:path w="136800" h="907200">
                  <a:moveTo>
                    <a:pt x="0" y="0"/>
                  </a:moveTo>
                  <a:cubicBezTo>
                    <a:pt x="136800" y="263088"/>
                    <a:pt x="136800" y="644112"/>
                    <a:pt x="0" y="907200"/>
                  </a:cubicBezTo>
                </a:path>
              </a:pathLst>
            </a:custGeom>
            <a:noFill/>
            <a:ln w="20160" cap="flat">
              <a:solidFill>
                <a:srgbClr val="229FD4"/>
              </a:solidFill>
            </a:ln>
            <a:effectLst/>
          </p:spPr>
        </p:sp>
        <p:cxnSp>
          <p:nvCxnSpPr>
            <p:cNvPr id="47" name="SCHEM_line-0045"/>
            <p:cNvCxnSpPr/>
            <p:nvPr/>
          </p:nvCxnSpPr>
          <p:spPr>
            <a:xfrm>
              <a:off x="1454400" y="1749600"/>
              <a:ext cx="432000" cy="1"/>
            </a:xfrm>
            <a:prstGeom prst="line">
              <a:avLst/>
            </a:prstGeom>
            <a:noFill/>
            <a:ln w="86400" cap="flat">
              <a:solidFill>
                <a:srgbClr val="009BDB"/>
              </a:solidFill>
              <a:tailEnd type="triangle" w="med" len="med"/>
            </a:ln>
            <a:effectLst/>
          </p:spPr>
        </p:cxnSp>
        <p:sp>
          <p:nvSpPr>
            <p:cNvPr id="48" name="SCHEM_path-0046"/>
            <p:cNvSpPr/>
            <p:nvPr/>
          </p:nvSpPr>
          <p:spPr>
            <a:xfrm>
              <a:off x="5572800" y="1511280"/>
              <a:ext cx="123120" cy="505440"/>
            </a:xfrm>
            <a:custGeom>
              <a:avLst/>
              <a:gdLst/>
              <a:ahLst/>
              <a:cxnLst/>
              <a:rect l="0" t="0" r="r" b="b"/>
              <a:pathLst>
                <a:path w="123120" h="505440">
                  <a:moveTo>
                    <a:pt x="0" y="0"/>
                  </a:moveTo>
                  <a:cubicBezTo>
                    <a:pt x="123120" y="146578"/>
                    <a:pt x="123120" y="358862"/>
                    <a:pt x="0" y="505440"/>
                  </a:cubicBezTo>
                </a:path>
              </a:pathLst>
            </a:custGeom>
            <a:noFill/>
            <a:ln w="14904" cap="flat">
              <a:solidFill>
                <a:srgbClr val="5B9A42"/>
              </a:solidFill>
            </a:ln>
            <a:effectLst/>
          </p:spPr>
        </p:sp>
        <p:sp>
          <p:nvSpPr>
            <p:cNvPr id="49" name="SCHEM_path-0047"/>
            <p:cNvSpPr/>
            <p:nvPr/>
          </p:nvSpPr>
          <p:spPr>
            <a:xfrm>
              <a:off x="5689440" y="1433520"/>
              <a:ext cx="123120" cy="660960"/>
            </a:xfrm>
            <a:custGeom>
              <a:avLst/>
              <a:gdLst/>
              <a:ahLst/>
              <a:cxnLst/>
              <a:rect l="0" t="0" r="r" b="b"/>
              <a:pathLst>
                <a:path w="123120" h="660960">
                  <a:moveTo>
                    <a:pt x="0" y="0"/>
                  </a:moveTo>
                  <a:cubicBezTo>
                    <a:pt x="123120" y="191678"/>
                    <a:pt x="123120" y="469282"/>
                    <a:pt x="0" y="660960"/>
                  </a:cubicBezTo>
                </a:path>
              </a:pathLst>
            </a:custGeom>
            <a:noFill/>
            <a:ln w="16524" cap="flat">
              <a:solidFill>
                <a:srgbClr val="5B9A42"/>
              </a:solidFill>
            </a:ln>
            <a:effectLst/>
          </p:spPr>
        </p:sp>
        <p:sp>
          <p:nvSpPr>
            <p:cNvPr id="50" name="SCHEM_path-0048"/>
            <p:cNvSpPr/>
            <p:nvPr/>
          </p:nvSpPr>
          <p:spPr>
            <a:xfrm>
              <a:off x="5806080" y="1355760"/>
              <a:ext cx="123120" cy="816480"/>
            </a:xfrm>
            <a:custGeom>
              <a:avLst/>
              <a:gdLst/>
              <a:ahLst/>
              <a:cxnLst/>
              <a:rect l="0" t="0" r="r" b="b"/>
              <a:pathLst>
                <a:path w="123120" h="816480">
                  <a:moveTo>
                    <a:pt x="0" y="0"/>
                  </a:moveTo>
                  <a:cubicBezTo>
                    <a:pt x="123120" y="236779"/>
                    <a:pt x="123120" y="579701"/>
                    <a:pt x="0" y="816480"/>
                  </a:cubicBezTo>
                </a:path>
              </a:pathLst>
            </a:custGeom>
            <a:noFill/>
            <a:ln w="18144" cap="flat">
              <a:solidFill>
                <a:srgbClr val="5B9A42"/>
              </a:solidFill>
            </a:ln>
            <a:effectLst/>
          </p:spPr>
        </p:sp>
        <p:sp>
          <p:nvSpPr>
            <p:cNvPr id="51" name="SCHEM_path-0049"/>
            <p:cNvSpPr/>
            <p:nvPr/>
          </p:nvSpPr>
          <p:spPr>
            <a:xfrm>
              <a:off x="5922720" y="1278000"/>
              <a:ext cx="123120" cy="972000"/>
            </a:xfrm>
            <a:custGeom>
              <a:avLst/>
              <a:gdLst/>
              <a:ahLst/>
              <a:cxnLst/>
              <a:rect l="0" t="0" r="r" b="b"/>
              <a:pathLst>
                <a:path w="123120" h="972000">
                  <a:moveTo>
                    <a:pt x="0" y="0"/>
                  </a:moveTo>
                  <a:cubicBezTo>
                    <a:pt x="123120" y="281880"/>
                    <a:pt x="123120" y="690120"/>
                    <a:pt x="0" y="972000"/>
                  </a:cubicBezTo>
                </a:path>
              </a:pathLst>
            </a:custGeom>
            <a:noFill/>
            <a:ln w="19764" cap="flat">
              <a:solidFill>
                <a:srgbClr val="5B9A42"/>
              </a:solidFill>
            </a:ln>
            <a:effectLst/>
          </p:spPr>
        </p:sp>
        <p:sp>
          <p:nvSpPr>
            <p:cNvPr id="52" name="SCHEM_path-0050"/>
            <p:cNvSpPr/>
            <p:nvPr/>
          </p:nvSpPr>
          <p:spPr>
            <a:xfrm>
              <a:off x="6039360" y="1200240"/>
              <a:ext cx="123120" cy="1127520"/>
            </a:xfrm>
            <a:custGeom>
              <a:avLst/>
              <a:gdLst/>
              <a:ahLst/>
              <a:cxnLst/>
              <a:rect l="0" t="0" r="r" b="b"/>
              <a:pathLst>
                <a:path w="123120" h="1127520">
                  <a:moveTo>
                    <a:pt x="0" y="0"/>
                  </a:moveTo>
                  <a:cubicBezTo>
                    <a:pt x="123120" y="326981"/>
                    <a:pt x="123120" y="800539"/>
                    <a:pt x="0" y="1127520"/>
                  </a:cubicBezTo>
                </a:path>
              </a:pathLst>
            </a:custGeom>
            <a:noFill/>
            <a:ln w="21384" cap="flat">
              <a:solidFill>
                <a:srgbClr val="5B9A42"/>
              </a:solidFill>
            </a:ln>
            <a:effectLst/>
          </p:spPr>
        </p:sp>
        <p:cxnSp>
          <p:nvCxnSpPr>
            <p:cNvPr id="53" name="SCHEM_line-0051"/>
            <p:cNvCxnSpPr/>
            <p:nvPr/>
          </p:nvCxnSpPr>
          <p:spPr>
            <a:xfrm>
              <a:off x="6091200" y="1828800"/>
              <a:ext cx="396000" cy="1"/>
            </a:xfrm>
            <a:prstGeom prst="line">
              <a:avLst/>
            </a:prstGeom>
            <a:noFill/>
            <a:ln w="86400" cap="flat">
              <a:solidFill>
                <a:srgbClr val="4B8D35"/>
              </a:solidFill>
              <a:tailEnd type="triangle" w="med" len="med"/>
            </a:ln>
            <a:effectLst/>
          </p:spPr>
        </p:cxnSp>
        <p:sp>
          <p:nvSpPr>
            <p:cNvPr id="54" name="SCHEM_text-0052"/>
            <p:cNvSpPr txBox="1"/>
            <p:nvPr/>
          </p:nvSpPr>
          <p:spPr>
            <a:xfrm>
              <a:off x="6120000" y="1267200"/>
              <a:ext cx="10368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Converted sound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3.0 kHz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(to right)</a:t>
              </a:r>
              <a:endParaRPr lang="en-US" sz="1191"/>
            </a:p>
          </p:txBody>
        </p:sp>
        <p:sp>
          <p:nvSpPr>
            <p:cNvPr id="55" name="SCHEM_text-0053"/>
            <p:cNvSpPr txBox="1"/>
            <p:nvPr/>
          </p:nvSpPr>
          <p:spPr>
            <a:xfrm>
              <a:off x="100800" y="3931200"/>
              <a:ext cx="9792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Residual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transmission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(to left)</a:t>
              </a:r>
              <a:endParaRPr lang="en-US" sz="1191"/>
            </a:p>
          </p:txBody>
        </p:sp>
        <p:sp>
          <p:nvSpPr>
            <p:cNvPr id="56" name="SCHEM_path-0054"/>
            <p:cNvSpPr/>
            <p:nvPr/>
          </p:nvSpPr>
          <p:spPr>
            <a:xfrm>
              <a:off x="1586160" y="4120560"/>
              <a:ext cx="41040" cy="168480"/>
            </a:xfrm>
            <a:custGeom>
              <a:avLst/>
              <a:gdLst/>
              <a:ahLst/>
              <a:cxnLst/>
              <a:rect l="0" t="0" r="r" b="b"/>
              <a:pathLst>
                <a:path w="41040" h="168480">
                  <a:moveTo>
                    <a:pt x="41040" y="0"/>
                  </a:moveTo>
                  <a:cubicBezTo>
                    <a:pt x="0" y="48859"/>
                    <a:pt x="0" y="119621"/>
                    <a:pt x="41040" y="168480"/>
                  </a:cubicBezTo>
                </a:path>
              </a:pathLst>
            </a:custGeom>
            <a:noFill/>
            <a:ln w="4968" cap="flat">
              <a:solidFill>
                <a:srgbClr val="229FD4"/>
              </a:solidFill>
            </a:ln>
            <a:effectLst/>
          </p:spPr>
        </p:sp>
        <p:sp>
          <p:nvSpPr>
            <p:cNvPr id="57" name="SCHEM_path-0055"/>
            <p:cNvSpPr/>
            <p:nvPr/>
          </p:nvSpPr>
          <p:spPr>
            <a:xfrm>
              <a:off x="1547280" y="4094640"/>
              <a:ext cx="41040" cy="220320"/>
            </a:xfrm>
            <a:custGeom>
              <a:avLst/>
              <a:gdLst/>
              <a:ahLst/>
              <a:cxnLst/>
              <a:rect l="0" t="0" r="r" b="b"/>
              <a:pathLst>
                <a:path w="41040" h="220320">
                  <a:moveTo>
                    <a:pt x="41040" y="0"/>
                  </a:moveTo>
                  <a:cubicBezTo>
                    <a:pt x="0" y="63893"/>
                    <a:pt x="0" y="156427"/>
                    <a:pt x="41040" y="220320"/>
                  </a:cubicBezTo>
                </a:path>
              </a:pathLst>
            </a:custGeom>
            <a:noFill/>
            <a:ln w="5508" cap="flat">
              <a:solidFill>
                <a:srgbClr val="229FD4"/>
              </a:solidFill>
            </a:ln>
            <a:effectLst/>
          </p:spPr>
        </p:sp>
        <p:sp>
          <p:nvSpPr>
            <p:cNvPr id="58" name="SCHEM_path-0056"/>
            <p:cNvSpPr/>
            <p:nvPr/>
          </p:nvSpPr>
          <p:spPr>
            <a:xfrm>
              <a:off x="1508400" y="4068720"/>
              <a:ext cx="41040" cy="272160"/>
            </a:xfrm>
            <a:custGeom>
              <a:avLst/>
              <a:gdLst/>
              <a:ahLst/>
              <a:cxnLst/>
              <a:rect l="0" t="0" r="r" b="b"/>
              <a:pathLst>
                <a:path w="41040" h="272160">
                  <a:moveTo>
                    <a:pt x="41040" y="0"/>
                  </a:moveTo>
                  <a:cubicBezTo>
                    <a:pt x="0" y="78926"/>
                    <a:pt x="0" y="193234"/>
                    <a:pt x="41040" y="272160"/>
                  </a:cubicBezTo>
                </a:path>
              </a:pathLst>
            </a:custGeom>
            <a:noFill/>
            <a:ln w="6048" cap="flat">
              <a:solidFill>
                <a:srgbClr val="229FD4"/>
              </a:solidFill>
            </a:ln>
            <a:effectLst/>
          </p:spPr>
        </p:sp>
        <p:cxnSp>
          <p:nvCxnSpPr>
            <p:cNvPr id="59" name="SCHEM_line-0057"/>
            <p:cNvCxnSpPr/>
            <p:nvPr/>
          </p:nvCxnSpPr>
          <p:spPr>
            <a:xfrm flipH="1">
              <a:off x="1173600" y="4197600"/>
              <a:ext cx="259200" cy="1"/>
            </a:xfrm>
            <a:prstGeom prst="line">
              <a:avLst/>
            </a:prstGeom>
            <a:noFill/>
            <a:ln w="50400" cap="flat">
              <a:solidFill>
                <a:srgbClr val="159CCD"/>
              </a:solidFill>
              <a:tailEnd type="triangle" w="med" len="med"/>
            </a:ln>
            <a:effectLst/>
          </p:spPr>
        </p:cxnSp>
        <p:sp>
          <p:nvSpPr>
            <p:cNvPr id="60" name="SCHEM_path-0058"/>
            <p:cNvSpPr/>
            <p:nvPr/>
          </p:nvSpPr>
          <p:spPr>
            <a:xfrm>
              <a:off x="6083280" y="3944880"/>
              <a:ext cx="123120" cy="505440"/>
            </a:xfrm>
            <a:custGeom>
              <a:avLst/>
              <a:gdLst/>
              <a:ahLst/>
              <a:cxnLst/>
              <a:rect l="0" t="0" r="r" b="b"/>
              <a:pathLst>
                <a:path w="123120" h="505440">
                  <a:moveTo>
                    <a:pt x="123120" y="0"/>
                  </a:moveTo>
                  <a:cubicBezTo>
                    <a:pt x="0" y="146578"/>
                    <a:pt x="0" y="358862"/>
                    <a:pt x="123120" y="505440"/>
                  </a:cubicBezTo>
                </a:path>
              </a:pathLst>
            </a:custGeom>
            <a:noFill/>
            <a:ln w="14904" cap="flat">
              <a:solidFill>
                <a:srgbClr val="229FD4"/>
              </a:solidFill>
            </a:ln>
            <a:effectLst/>
          </p:spPr>
        </p:sp>
        <p:sp>
          <p:nvSpPr>
            <p:cNvPr id="61" name="SCHEM_path-0059"/>
            <p:cNvSpPr/>
            <p:nvPr/>
          </p:nvSpPr>
          <p:spPr>
            <a:xfrm>
              <a:off x="5966640" y="3867120"/>
              <a:ext cx="123120" cy="660960"/>
            </a:xfrm>
            <a:custGeom>
              <a:avLst/>
              <a:gdLst/>
              <a:ahLst/>
              <a:cxnLst/>
              <a:rect l="0" t="0" r="r" b="b"/>
              <a:pathLst>
                <a:path w="123120" h="660960">
                  <a:moveTo>
                    <a:pt x="123120" y="0"/>
                  </a:moveTo>
                  <a:cubicBezTo>
                    <a:pt x="0" y="191678"/>
                    <a:pt x="0" y="469282"/>
                    <a:pt x="123120" y="660960"/>
                  </a:cubicBezTo>
                </a:path>
              </a:pathLst>
            </a:custGeom>
            <a:noFill/>
            <a:ln w="16524" cap="flat">
              <a:solidFill>
                <a:srgbClr val="229FD4"/>
              </a:solidFill>
            </a:ln>
            <a:effectLst/>
          </p:spPr>
        </p:sp>
        <p:sp>
          <p:nvSpPr>
            <p:cNvPr id="62" name="SCHEM_path-0060"/>
            <p:cNvSpPr/>
            <p:nvPr/>
          </p:nvSpPr>
          <p:spPr>
            <a:xfrm>
              <a:off x="5850000" y="3789360"/>
              <a:ext cx="123120" cy="816480"/>
            </a:xfrm>
            <a:custGeom>
              <a:avLst/>
              <a:gdLst/>
              <a:ahLst/>
              <a:cxnLst/>
              <a:rect l="0" t="0" r="r" b="b"/>
              <a:pathLst>
                <a:path w="123120" h="816480">
                  <a:moveTo>
                    <a:pt x="123120" y="0"/>
                  </a:moveTo>
                  <a:cubicBezTo>
                    <a:pt x="0" y="236779"/>
                    <a:pt x="0" y="579701"/>
                    <a:pt x="123120" y="816480"/>
                  </a:cubicBezTo>
                </a:path>
              </a:pathLst>
            </a:custGeom>
            <a:noFill/>
            <a:ln w="18144" cap="flat">
              <a:solidFill>
                <a:srgbClr val="229FD4"/>
              </a:solidFill>
            </a:ln>
            <a:effectLst/>
          </p:spPr>
        </p:sp>
        <p:sp>
          <p:nvSpPr>
            <p:cNvPr id="63" name="SCHEM_path-0061"/>
            <p:cNvSpPr/>
            <p:nvPr/>
          </p:nvSpPr>
          <p:spPr>
            <a:xfrm>
              <a:off x="5733360" y="3711600"/>
              <a:ext cx="123120" cy="972000"/>
            </a:xfrm>
            <a:custGeom>
              <a:avLst/>
              <a:gdLst/>
              <a:ahLst/>
              <a:cxnLst/>
              <a:rect l="0" t="0" r="r" b="b"/>
              <a:pathLst>
                <a:path w="123120" h="972000">
                  <a:moveTo>
                    <a:pt x="123120" y="0"/>
                  </a:moveTo>
                  <a:cubicBezTo>
                    <a:pt x="0" y="281880"/>
                    <a:pt x="0" y="690120"/>
                    <a:pt x="123120" y="972000"/>
                  </a:cubicBezTo>
                </a:path>
              </a:pathLst>
            </a:custGeom>
            <a:noFill/>
            <a:ln w="19764" cap="flat">
              <a:solidFill>
                <a:srgbClr val="229FD4"/>
              </a:solidFill>
            </a:ln>
            <a:effectLst/>
          </p:spPr>
        </p:sp>
        <p:cxnSp>
          <p:nvCxnSpPr>
            <p:cNvPr id="64" name="SCHEM_line-0062"/>
            <p:cNvCxnSpPr/>
            <p:nvPr/>
          </p:nvCxnSpPr>
          <p:spPr>
            <a:xfrm flipH="1">
              <a:off x="5572800" y="4197600"/>
              <a:ext cx="475200" cy="1"/>
            </a:xfrm>
            <a:prstGeom prst="line">
              <a:avLst/>
            </a:prstGeom>
            <a:noFill/>
            <a:ln w="86400" cap="flat">
              <a:solidFill>
                <a:srgbClr val="009BDB"/>
              </a:solidFill>
              <a:tailEnd type="triangle" w="med" len="med"/>
            </a:ln>
            <a:effectLst/>
          </p:spPr>
        </p:cxnSp>
        <p:sp>
          <p:nvSpPr>
            <p:cNvPr id="65" name="SCHEM_text-0063"/>
            <p:cNvSpPr txBox="1"/>
            <p:nvPr/>
          </p:nvSpPr>
          <p:spPr>
            <a:xfrm>
              <a:off x="6364800" y="3909600"/>
              <a:ext cx="108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sound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1.5 kHz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(from right)</a:t>
              </a:r>
              <a:endParaRPr lang="en-US" sz="1191"/>
            </a:p>
          </p:txBody>
        </p:sp>
        <p:sp>
          <p:nvSpPr>
            <p:cNvPr id="66" name="SCHEM_ellipse-0064"/>
            <p:cNvSpPr/>
            <p:nvPr/>
          </p:nvSpPr>
          <p:spPr>
            <a:xfrm>
              <a:off x="3477600" y="8640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006CDE"/>
              </a:solidFill>
            </a:ln>
            <a:effectLst/>
          </p:spPr>
        </p:sp>
        <p:sp>
          <p:nvSpPr>
            <p:cNvPr id="67" name="SCHEM_text-0065"/>
            <p:cNvSpPr txBox="1"/>
            <p:nvPr/>
          </p:nvSpPr>
          <p:spPr>
            <a:xfrm>
              <a:off x="3506400" y="8568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endParaRPr lang="en-US" sz="1417"/>
            </a:p>
          </p:txBody>
        </p:sp>
        <p:sp>
          <p:nvSpPr>
            <p:cNvPr id="68" name="SCHEM_ellipse-0066"/>
            <p:cNvSpPr/>
            <p:nvPr/>
          </p:nvSpPr>
          <p:spPr>
            <a:xfrm>
              <a:off x="4017600" y="8640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E81E22"/>
              </a:solidFill>
            </a:ln>
            <a:effectLst/>
          </p:spPr>
        </p:sp>
        <p:sp>
          <p:nvSpPr>
            <p:cNvPr id="69" name="SCHEM_text-0067"/>
            <p:cNvSpPr txBox="1"/>
            <p:nvPr/>
          </p:nvSpPr>
          <p:spPr>
            <a:xfrm>
              <a:off x="4046400" y="8568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  <a:endParaRPr lang="en-US" sz="1417"/>
            </a:p>
          </p:txBody>
        </p:sp>
        <p:cxnSp>
          <p:nvCxnSpPr>
            <p:cNvPr id="70" name="SCHEM_line-0068"/>
            <p:cNvCxnSpPr/>
            <p:nvPr/>
          </p:nvCxnSpPr>
          <p:spPr>
            <a:xfrm>
              <a:off x="3592800" y="1108800"/>
              <a:ext cx="1" cy="136800"/>
            </a:xfrm>
            <a:prstGeom prst="line">
              <a:avLst/>
            </a:prstGeom>
            <a:noFill/>
            <a:ln w="14400" cap="flat">
              <a:solidFill>
                <a:srgbClr val="006CDE"/>
              </a:solidFill>
              <a:tailEnd type="triangle" w="med" len="med"/>
            </a:ln>
            <a:effectLst/>
          </p:spPr>
        </p:cxnSp>
        <p:cxnSp>
          <p:nvCxnSpPr>
            <p:cNvPr id="71" name="SCHEM_line-0069"/>
            <p:cNvCxnSpPr/>
            <p:nvPr/>
          </p:nvCxnSpPr>
          <p:spPr>
            <a:xfrm flipH="1">
              <a:off x="3751200" y="1087200"/>
              <a:ext cx="338400" cy="302400"/>
            </a:xfrm>
            <a:prstGeom prst="line">
              <a:avLst/>
            </a:prstGeom>
            <a:noFill/>
            <a:ln w="14400" cap="flat">
              <a:solidFill>
                <a:srgbClr val="E81E22"/>
              </a:solidFill>
              <a:tailEnd type="triangle" w="med" len="med"/>
            </a:ln>
            <a:effectLst/>
          </p:spPr>
        </p:cxnSp>
        <p:sp>
          <p:nvSpPr>
            <p:cNvPr id="72" name="SCHEM_text-0070"/>
            <p:cNvSpPr txBox="1"/>
            <p:nvPr/>
          </p:nvSpPr>
          <p:spPr>
            <a:xfrm>
              <a:off x="2642400" y="525600"/>
              <a:ext cx="115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Sensing electrode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(measures 1.5 kHz)</a:t>
              </a:r>
              <a:endParaRPr lang="en-US" sz="1191"/>
            </a:p>
          </p:txBody>
        </p:sp>
        <p:cxnSp>
          <p:nvCxnSpPr>
            <p:cNvPr id="73" name="SCHEM_line-0071"/>
            <p:cNvCxnSpPr/>
            <p:nvPr/>
          </p:nvCxnSpPr>
          <p:spPr>
            <a:xfrm>
              <a:off x="3427200" y="849600"/>
              <a:ext cx="122400" cy="453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4" name="SCHEM_text-0072"/>
            <p:cNvSpPr txBox="1"/>
            <p:nvPr/>
          </p:nvSpPr>
          <p:spPr>
            <a:xfrm>
              <a:off x="3974400" y="525600"/>
              <a:ext cx="151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Drive electrode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(generates 3.0 kHz)</a:t>
              </a:r>
              <a:endParaRPr lang="en-US" sz="1191"/>
            </a:p>
          </p:txBody>
        </p:sp>
        <p:grpSp>
          <p:nvGrpSpPr>
            <p:cNvPr id="75" name="SCHEM_powered-frequency-conversion"/>
            <p:cNvGrpSpPr/>
            <p:nvPr/>
          </p:nvGrpSpPr>
          <p:grpSpPr>
            <a:xfrm>
              <a:off x="7113600" y="698400"/>
              <a:ext cx="4068000" cy="1557360"/>
              <a:chOff x="7113600" y="698400"/>
              <a:chExt cx="4068000" cy="1557360"/>
            </a:xfrm>
          </p:grpSpPr>
          <p:sp>
            <p:nvSpPr>
              <p:cNvPr id="76" name="SCHEM_rect-0074"/>
              <p:cNvSpPr/>
              <p:nvPr/>
            </p:nvSpPr>
            <p:spPr>
              <a:xfrm>
                <a:off x="7214400" y="1764000"/>
                <a:ext cx="828000" cy="475200"/>
              </a:xfrm>
              <a:prstGeom prst="rect">
                <a:avLst/>
              </a:prstGeom>
              <a:solidFill>
                <a:srgbClr val="F6F6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7" name="SCHEM_text-0075"/>
              <p:cNvSpPr txBox="1"/>
              <p:nvPr/>
            </p:nvSpPr>
            <p:spPr>
              <a:xfrm>
                <a:off x="7236000" y="1908000"/>
                <a:ext cx="784800" cy="22068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Preamplifier</a:t>
                </a:r>
                <a:endParaRPr lang="en-US" sz="1077"/>
              </a:p>
            </p:txBody>
          </p:sp>
          <p:cxnSp>
            <p:nvCxnSpPr>
              <p:cNvPr id="78" name="SCHEM_line-0076"/>
              <p:cNvCxnSpPr/>
              <p:nvPr/>
            </p:nvCxnSpPr>
            <p:spPr>
              <a:xfrm>
                <a:off x="8042400" y="2001600"/>
                <a:ext cx="230400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79" name="SCHEM_rect-0077"/>
              <p:cNvSpPr/>
              <p:nvPr/>
            </p:nvSpPr>
            <p:spPr>
              <a:xfrm>
                <a:off x="8272800" y="1764000"/>
                <a:ext cx="777600" cy="475200"/>
              </a:xfrm>
              <a:prstGeom prst="rect">
                <a:avLst/>
              </a:prstGeom>
              <a:solidFill>
                <a:srgbClr val="E8F1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0" name="SCHEM_text-0078"/>
              <p:cNvSpPr txBox="1"/>
              <p:nvPr/>
            </p:nvSpPr>
            <p:spPr>
              <a:xfrm>
                <a:off x="8294400" y="1850400"/>
                <a:ext cx="734400" cy="4053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1.5 kHz</a:t>
                </a:r>
                <a:endParaRPr lang="en-US" sz="1077"/>
              </a:p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bandpass</a:t>
                </a:r>
                <a:endParaRPr lang="en-US" sz="1077"/>
              </a:p>
            </p:txBody>
          </p:sp>
          <p:cxnSp>
            <p:nvCxnSpPr>
              <p:cNvPr id="81" name="SCHEM_line-0079"/>
              <p:cNvCxnSpPr/>
              <p:nvPr/>
            </p:nvCxnSpPr>
            <p:spPr>
              <a:xfrm>
                <a:off x="9050400" y="2001600"/>
                <a:ext cx="230400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82" name="SCHEM_rect-0080"/>
              <p:cNvSpPr/>
              <p:nvPr/>
            </p:nvSpPr>
            <p:spPr>
              <a:xfrm>
                <a:off x="9280800" y="1764000"/>
                <a:ext cx="842400" cy="475200"/>
              </a:xfrm>
              <a:prstGeom prst="rect">
                <a:avLst/>
              </a:prstGeom>
              <a:solidFill>
                <a:srgbClr val="F6F6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3" name="SCHEM_text-0081"/>
              <p:cNvSpPr txBox="1"/>
              <p:nvPr/>
            </p:nvSpPr>
            <p:spPr>
              <a:xfrm>
                <a:off x="9302400" y="1850400"/>
                <a:ext cx="799200" cy="4053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Full-wave</a:t>
                </a:r>
                <a:endParaRPr lang="en-US" sz="1077"/>
              </a:p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rectifier</a:t>
                </a:r>
                <a:endParaRPr lang="en-US" sz="1077"/>
              </a:p>
            </p:txBody>
          </p:sp>
          <p:cxnSp>
            <p:nvCxnSpPr>
              <p:cNvPr id="84" name="SCHEM_line-0082"/>
              <p:cNvCxnSpPr/>
              <p:nvPr/>
            </p:nvCxnSpPr>
            <p:spPr>
              <a:xfrm>
                <a:off x="10123200" y="2001600"/>
                <a:ext cx="223200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85" name="SCHEM_rect-0083"/>
              <p:cNvSpPr/>
              <p:nvPr/>
            </p:nvSpPr>
            <p:spPr>
              <a:xfrm>
                <a:off x="10346400" y="1764000"/>
                <a:ext cx="741600" cy="475200"/>
              </a:xfrm>
              <a:prstGeom prst="rect">
                <a:avLst/>
              </a:prstGeom>
              <a:solidFill>
                <a:srgbClr val="E8F1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6" name="SCHEM_text-0084"/>
              <p:cNvSpPr txBox="1"/>
              <p:nvPr/>
            </p:nvSpPr>
            <p:spPr>
              <a:xfrm>
                <a:off x="10368000" y="1850400"/>
                <a:ext cx="698400" cy="4053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3.0 kHz</a:t>
                </a:r>
                <a:endParaRPr lang="en-US" sz="1077"/>
              </a:p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bandpass</a:t>
                </a:r>
                <a:endParaRPr lang="en-US" sz="1077"/>
              </a:p>
            </p:txBody>
          </p:sp>
          <p:cxnSp>
            <p:nvCxnSpPr>
              <p:cNvPr id="87" name="SCHEM_line-0085"/>
              <p:cNvCxnSpPr/>
              <p:nvPr/>
            </p:nvCxnSpPr>
            <p:spPr>
              <a:xfrm>
                <a:off x="7516800" y="1447200"/>
                <a:ext cx="3290400" cy="1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75168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>
                <a:off x="86040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0" name="SCHEM_line-0088"/>
              <p:cNvCxnSpPr/>
              <p:nvPr/>
            </p:nvCxnSpPr>
            <p:spPr>
              <a:xfrm>
                <a:off x="96984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1" name="SCHEM_line-0089"/>
              <p:cNvCxnSpPr/>
              <p:nvPr/>
            </p:nvCxnSpPr>
            <p:spPr>
              <a:xfrm>
                <a:off x="108000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2" name="SCHEM_line-0090"/>
              <p:cNvCxnSpPr/>
              <p:nvPr/>
            </p:nvCxnSpPr>
            <p:spPr>
              <a:xfrm>
                <a:off x="9403200" y="698400"/>
                <a:ext cx="1" cy="7416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3" name="SCHEM_line-0091"/>
              <p:cNvCxnSpPr/>
              <p:nvPr/>
            </p:nvCxnSpPr>
            <p:spPr>
              <a:xfrm>
                <a:off x="7113600" y="2001600"/>
                <a:ext cx="100800" cy="1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4" name="SCHEM_line-0092"/>
              <p:cNvCxnSpPr/>
              <p:nvPr/>
            </p:nvCxnSpPr>
            <p:spPr>
              <a:xfrm>
                <a:off x="11088000" y="2001600"/>
                <a:ext cx="93600" cy="1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</a:ln>
              <a:effectLst/>
            </p:spPr>
          </p:cxnSp>
        </p:grpSp>
        <p:sp>
          <p:nvSpPr>
            <p:cNvPr id="95" name="SCHEM_ellipse-0093"/>
            <p:cNvSpPr/>
            <p:nvPr/>
          </p:nvSpPr>
          <p:spPr>
            <a:xfrm>
              <a:off x="6876000" y="18864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006CDE"/>
              </a:solidFill>
            </a:ln>
            <a:effectLst/>
          </p:spPr>
        </p:sp>
        <p:sp>
          <p:nvSpPr>
            <p:cNvPr id="96" name="SCHEM_text-0094"/>
            <p:cNvSpPr txBox="1"/>
            <p:nvPr/>
          </p:nvSpPr>
          <p:spPr>
            <a:xfrm>
              <a:off x="6904800" y="18792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endParaRPr lang="en-US" sz="1417"/>
            </a:p>
          </p:txBody>
        </p:sp>
        <p:sp>
          <p:nvSpPr>
            <p:cNvPr id="97" name="SCHEM_ellipse-0095"/>
            <p:cNvSpPr/>
            <p:nvPr/>
          </p:nvSpPr>
          <p:spPr>
            <a:xfrm>
              <a:off x="11181600" y="18864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E81E22"/>
              </a:solidFill>
            </a:ln>
            <a:effectLst/>
          </p:spPr>
        </p:sp>
        <p:sp>
          <p:nvSpPr>
            <p:cNvPr id="98" name="SCHEM_text-0096"/>
            <p:cNvSpPr txBox="1"/>
            <p:nvPr/>
          </p:nvSpPr>
          <p:spPr>
            <a:xfrm>
              <a:off x="11210400" y="18792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  <a:endParaRPr lang="en-US" sz="1417"/>
            </a:p>
          </p:txBody>
        </p:sp>
        <p:sp>
          <p:nvSpPr>
            <p:cNvPr id="99" name="SCHEM_text-0097"/>
            <p:cNvSpPr txBox="1"/>
            <p:nvPr/>
          </p:nvSpPr>
          <p:spPr>
            <a:xfrm>
              <a:off x="8467200" y="468000"/>
              <a:ext cx="2412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External electrical power</a:t>
              </a:r>
              <a:endParaRPr lang="en-US" sz="1304"/>
            </a:p>
          </p:txBody>
        </p:sp>
        <p:sp>
          <p:nvSpPr>
            <p:cNvPr id="100" name="SCHEM_text-0098"/>
            <p:cNvSpPr txBox="1"/>
            <p:nvPr/>
          </p:nvSpPr>
          <p:spPr>
            <a:xfrm>
              <a:off x="8020800" y="2462400"/>
              <a:ext cx="345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S: sensing signal; D: drive signal</a:t>
              </a:r>
              <a:endParaRPr lang="en-US" sz="1191"/>
            </a:p>
          </p:txBody>
        </p:sp>
        <p:sp>
          <p:nvSpPr>
            <p:cNvPr id="101" name="SCHEM_path-0099"/>
            <p:cNvSpPr/>
            <p:nvPr/>
          </p:nvSpPr>
          <p:spPr>
            <a:xfrm>
              <a:off x="2419200" y="5519520"/>
              <a:ext cx="82080" cy="336960"/>
            </a:xfrm>
            <a:custGeom>
              <a:avLst/>
              <a:gdLst/>
              <a:ahLst/>
              <a:cxnLst/>
              <a:rect l="0" t="0" r="r" b="b"/>
              <a:pathLst>
                <a:path w="82080" h="336960">
                  <a:moveTo>
                    <a:pt x="0" y="0"/>
                  </a:moveTo>
                  <a:cubicBezTo>
                    <a:pt x="82080" y="97718"/>
                    <a:pt x="82080" y="239242"/>
                    <a:pt x="0" y="336960"/>
                  </a:cubicBezTo>
                </a:path>
              </a:pathLst>
            </a:custGeom>
            <a:noFill/>
            <a:ln w="9936" cap="flat">
              <a:solidFill>
                <a:srgbClr val="229FD4"/>
              </a:solidFill>
            </a:ln>
            <a:effectLst/>
          </p:spPr>
        </p:sp>
        <p:sp>
          <p:nvSpPr>
            <p:cNvPr id="102" name="SCHEM_path-0100"/>
            <p:cNvSpPr/>
            <p:nvPr/>
          </p:nvSpPr>
          <p:spPr>
            <a:xfrm>
              <a:off x="2496960" y="5467680"/>
              <a:ext cx="82080" cy="440640"/>
            </a:xfrm>
            <a:custGeom>
              <a:avLst/>
              <a:gdLst/>
              <a:ahLst/>
              <a:cxnLst/>
              <a:rect l="0" t="0" r="r" b="b"/>
              <a:pathLst>
                <a:path w="82080" h="440640">
                  <a:moveTo>
                    <a:pt x="0" y="0"/>
                  </a:moveTo>
                  <a:cubicBezTo>
                    <a:pt x="82080" y="127786"/>
                    <a:pt x="82080" y="312854"/>
                    <a:pt x="0" y="440640"/>
                  </a:cubicBezTo>
                </a:path>
              </a:pathLst>
            </a:custGeom>
            <a:noFill/>
            <a:ln w="11016" cap="flat">
              <a:solidFill>
                <a:srgbClr val="229FD4"/>
              </a:solidFill>
            </a:ln>
            <a:effectLst/>
          </p:spPr>
        </p:sp>
        <p:sp>
          <p:nvSpPr>
            <p:cNvPr id="103" name="SCHEM_path-0101"/>
            <p:cNvSpPr/>
            <p:nvPr/>
          </p:nvSpPr>
          <p:spPr>
            <a:xfrm>
              <a:off x="2574720" y="5415840"/>
              <a:ext cx="82080" cy="544320"/>
            </a:xfrm>
            <a:custGeom>
              <a:avLst/>
              <a:gdLst/>
              <a:ahLst/>
              <a:cxnLst/>
              <a:rect l="0" t="0" r="r" b="b"/>
              <a:pathLst>
                <a:path w="82080" h="544320">
                  <a:moveTo>
                    <a:pt x="0" y="0"/>
                  </a:moveTo>
                  <a:cubicBezTo>
                    <a:pt x="82080" y="157853"/>
                    <a:pt x="82080" y="386467"/>
                    <a:pt x="0" y="544320"/>
                  </a:cubicBezTo>
                </a:path>
              </a:pathLst>
            </a:custGeom>
            <a:noFill/>
            <a:ln w="12096" cap="flat">
              <a:solidFill>
                <a:srgbClr val="229FD4"/>
              </a:solidFill>
            </a:ln>
            <a:effectLst/>
          </p:spPr>
        </p:sp>
        <p:sp>
          <p:nvSpPr>
            <p:cNvPr id="104" name="SCHEM_path-0102"/>
            <p:cNvSpPr/>
            <p:nvPr/>
          </p:nvSpPr>
          <p:spPr>
            <a:xfrm>
              <a:off x="2652480" y="5364000"/>
              <a:ext cx="82080" cy="648000"/>
            </a:xfrm>
            <a:custGeom>
              <a:avLst/>
              <a:gdLst/>
              <a:ahLst/>
              <a:cxnLst/>
              <a:rect l="0" t="0" r="r" b="b"/>
              <a:pathLst>
                <a:path w="82080" h="648000">
                  <a:moveTo>
                    <a:pt x="0" y="0"/>
                  </a:moveTo>
                  <a:cubicBezTo>
                    <a:pt x="82080" y="187920"/>
                    <a:pt x="82080" y="460080"/>
                    <a:pt x="0" y="648000"/>
                  </a:cubicBezTo>
                </a:path>
              </a:pathLst>
            </a:custGeom>
            <a:noFill/>
            <a:ln w="13176" cap="flat">
              <a:solidFill>
                <a:srgbClr val="229FD4"/>
              </a:solidFill>
            </a:ln>
            <a:effectLst/>
          </p:spPr>
        </p:sp>
        <p:cxnSp>
          <p:nvCxnSpPr>
            <p:cNvPr id="105" name="SCHEM_line-0103"/>
            <p:cNvCxnSpPr/>
            <p:nvPr/>
          </p:nvCxnSpPr>
          <p:spPr>
            <a:xfrm>
              <a:off x="2793600" y="5666400"/>
              <a:ext cx="324000" cy="1"/>
            </a:xfrm>
            <a:prstGeom prst="line">
              <a:avLst/>
            </a:prstGeom>
            <a:noFill/>
            <a:ln w="50400" cap="flat">
              <a:solidFill>
                <a:srgbClr val="159CCD"/>
              </a:solidFill>
              <a:tailEnd type="triangle" w="med" len="med"/>
            </a:ln>
            <a:effectLst/>
          </p:spPr>
        </p:cxnSp>
        <p:sp>
          <p:nvSpPr>
            <p:cNvPr id="106" name="SCHEM_text-0104"/>
            <p:cNvSpPr txBox="1"/>
            <p:nvPr/>
          </p:nvSpPr>
          <p:spPr>
            <a:xfrm>
              <a:off x="3297600" y="5565600"/>
              <a:ext cx="26928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1.5 kHz sound (schematic)</a:t>
              </a:r>
              <a:endParaRPr lang="en-US" sz="1191"/>
            </a:p>
          </p:txBody>
        </p:sp>
        <p:sp>
          <p:nvSpPr>
            <p:cNvPr id="107" name="SCHEM_path-0105"/>
            <p:cNvSpPr/>
            <p:nvPr/>
          </p:nvSpPr>
          <p:spPr>
            <a:xfrm>
              <a:off x="5824800" y="5519520"/>
              <a:ext cx="82080" cy="336960"/>
            </a:xfrm>
            <a:custGeom>
              <a:avLst/>
              <a:gdLst/>
              <a:ahLst/>
              <a:cxnLst/>
              <a:rect l="0" t="0" r="r" b="b"/>
              <a:pathLst>
                <a:path w="82080" h="336960">
                  <a:moveTo>
                    <a:pt x="0" y="0"/>
                  </a:moveTo>
                  <a:cubicBezTo>
                    <a:pt x="82080" y="97718"/>
                    <a:pt x="82080" y="239242"/>
                    <a:pt x="0" y="336960"/>
                  </a:cubicBezTo>
                </a:path>
              </a:pathLst>
            </a:custGeom>
            <a:noFill/>
            <a:ln w="9936" cap="flat">
              <a:solidFill>
                <a:srgbClr val="5B9A42"/>
              </a:solidFill>
            </a:ln>
            <a:effectLst/>
          </p:spPr>
        </p:sp>
        <p:sp>
          <p:nvSpPr>
            <p:cNvPr id="108" name="SCHEM_path-0106"/>
            <p:cNvSpPr/>
            <p:nvPr/>
          </p:nvSpPr>
          <p:spPr>
            <a:xfrm>
              <a:off x="5902560" y="5467680"/>
              <a:ext cx="82080" cy="440640"/>
            </a:xfrm>
            <a:custGeom>
              <a:avLst/>
              <a:gdLst/>
              <a:ahLst/>
              <a:cxnLst/>
              <a:rect l="0" t="0" r="r" b="b"/>
              <a:pathLst>
                <a:path w="82080" h="440640">
                  <a:moveTo>
                    <a:pt x="0" y="0"/>
                  </a:moveTo>
                  <a:cubicBezTo>
                    <a:pt x="82080" y="127786"/>
                    <a:pt x="82080" y="312854"/>
                    <a:pt x="0" y="440640"/>
                  </a:cubicBezTo>
                </a:path>
              </a:pathLst>
            </a:custGeom>
            <a:noFill/>
            <a:ln w="11016" cap="flat">
              <a:solidFill>
                <a:srgbClr val="5B9A42"/>
              </a:solidFill>
            </a:ln>
            <a:effectLst/>
          </p:spPr>
        </p:sp>
        <p:sp>
          <p:nvSpPr>
            <p:cNvPr id="109" name="SCHEM_path-0107"/>
            <p:cNvSpPr/>
            <p:nvPr/>
          </p:nvSpPr>
          <p:spPr>
            <a:xfrm>
              <a:off x="5980320" y="5415840"/>
              <a:ext cx="82080" cy="544320"/>
            </a:xfrm>
            <a:custGeom>
              <a:avLst/>
              <a:gdLst/>
              <a:ahLst/>
              <a:cxnLst/>
              <a:rect l="0" t="0" r="r" b="b"/>
              <a:pathLst>
                <a:path w="82080" h="544320">
                  <a:moveTo>
                    <a:pt x="0" y="0"/>
                  </a:moveTo>
                  <a:cubicBezTo>
                    <a:pt x="82080" y="157853"/>
                    <a:pt x="82080" y="386467"/>
                    <a:pt x="0" y="544320"/>
                  </a:cubicBezTo>
                </a:path>
              </a:pathLst>
            </a:custGeom>
            <a:noFill/>
            <a:ln w="12096" cap="flat">
              <a:solidFill>
                <a:srgbClr val="5B9A42"/>
              </a:solidFill>
            </a:ln>
            <a:effectLst/>
          </p:spPr>
        </p:sp>
        <p:sp>
          <p:nvSpPr>
            <p:cNvPr id="110" name="SCHEM_path-0108"/>
            <p:cNvSpPr/>
            <p:nvPr/>
          </p:nvSpPr>
          <p:spPr>
            <a:xfrm>
              <a:off x="6058080" y="5364000"/>
              <a:ext cx="82080" cy="648000"/>
            </a:xfrm>
            <a:custGeom>
              <a:avLst/>
              <a:gdLst/>
              <a:ahLst/>
              <a:cxnLst/>
              <a:rect l="0" t="0" r="r" b="b"/>
              <a:pathLst>
                <a:path w="82080" h="648000">
                  <a:moveTo>
                    <a:pt x="0" y="0"/>
                  </a:moveTo>
                  <a:cubicBezTo>
                    <a:pt x="82080" y="187920"/>
                    <a:pt x="82080" y="460080"/>
                    <a:pt x="0" y="648000"/>
                  </a:cubicBezTo>
                </a:path>
              </a:pathLst>
            </a:custGeom>
            <a:noFill/>
            <a:ln w="13176" cap="flat">
              <a:solidFill>
                <a:srgbClr val="5B9A42"/>
              </a:solidFill>
            </a:ln>
            <a:effectLst/>
          </p:spPr>
        </p:sp>
        <p:sp>
          <p:nvSpPr>
            <p:cNvPr id="111" name="SCHEM_path-0109"/>
            <p:cNvSpPr/>
            <p:nvPr/>
          </p:nvSpPr>
          <p:spPr>
            <a:xfrm>
              <a:off x="6135840" y="5312160"/>
              <a:ext cx="82080" cy="751680"/>
            </a:xfrm>
            <a:custGeom>
              <a:avLst/>
              <a:gdLst/>
              <a:ahLst/>
              <a:cxnLst/>
              <a:rect l="0" t="0" r="r" b="b"/>
              <a:pathLst>
                <a:path w="82080" h="751680">
                  <a:moveTo>
                    <a:pt x="0" y="0"/>
                  </a:moveTo>
                  <a:cubicBezTo>
                    <a:pt x="82080" y="217987"/>
                    <a:pt x="82080" y="533693"/>
                    <a:pt x="0" y="751680"/>
                  </a:cubicBezTo>
                </a:path>
              </a:pathLst>
            </a:custGeom>
            <a:noFill/>
            <a:ln w="14256" cap="flat">
              <a:solidFill>
                <a:srgbClr val="5B9A42"/>
              </a:solidFill>
            </a:ln>
            <a:effectLst/>
          </p:spPr>
        </p:sp>
        <p:cxnSp>
          <p:nvCxnSpPr>
            <p:cNvPr id="112" name="SCHEM_line-0110"/>
            <p:cNvCxnSpPr/>
            <p:nvPr/>
          </p:nvCxnSpPr>
          <p:spPr>
            <a:xfrm>
              <a:off x="6199200" y="5666400"/>
              <a:ext cx="295200" cy="1"/>
            </a:xfrm>
            <a:prstGeom prst="line">
              <a:avLst/>
            </a:prstGeom>
            <a:noFill/>
            <a:ln w="50400" cap="flat">
              <a:solidFill>
                <a:srgbClr val="4B8D35"/>
              </a:solidFill>
              <a:tailEnd type="triangle" w="med" len="med"/>
            </a:ln>
            <a:effectLst/>
          </p:spPr>
        </p:cxnSp>
        <p:sp>
          <p:nvSpPr>
            <p:cNvPr id="113" name="SCHEM_text-0111"/>
            <p:cNvSpPr txBox="1"/>
            <p:nvPr/>
          </p:nvSpPr>
          <p:spPr>
            <a:xfrm>
              <a:off x="6559200" y="5565600"/>
              <a:ext cx="4032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Converted 3.0 kHz sound (schematic)</a:t>
              </a:r>
              <a:endParaRPr lang="en-US" sz="1191"/>
            </a:p>
          </p:txBody>
        </p:sp>
        <p:sp>
          <p:nvSpPr>
            <p:cNvPr id="114" name="SCHEM_text-0112"/>
            <p:cNvSpPr txBox="1"/>
            <p:nvPr/>
          </p:nvSpPr>
          <p:spPr>
            <a:xfrm>
              <a:off x="3067200" y="5997600"/>
              <a:ext cx="6480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64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Asymmetric coupling + powered frequency conversion</a:t>
              </a:r>
              <a:endParaRPr lang="en-US" sz="1644"/>
            </a:p>
          </p:txBody>
        </p:sp>
        <p:sp>
          <p:nvSpPr>
            <p:cNvPr id="115" name="SCHEM_text-0113"/>
            <p:cNvSpPr txBox="1"/>
            <p:nvPr/>
          </p:nvSpPr>
          <p:spPr>
            <a:xfrm>
              <a:off x="6832800" y="6278400"/>
              <a:ext cx="4672800" cy="181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85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(2014) | doi:10.1038/ncomms4398 | Conceptual; not to scale</a:t>
              </a:r>
              <a:endParaRPr lang="en-US" sz="85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